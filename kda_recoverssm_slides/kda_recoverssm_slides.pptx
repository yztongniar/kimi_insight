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</p:sldIdLst>
  <p:sldSz cx="12192000" cy="6858000" type="custom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44500" y="177800"/>
            <a:ext cx="8890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1F2937"/>
                </a:solidFill>
                <a:latin typeface="MiSans"/>
                <a:ea typeface="MiSans"/>
              </a:rPr>
              <a:t>Kimi K3 KDA RecoverSSM 投机推理流程</a:t>
            </a:r>
            <a:endParaRPr lang="en-US" sz="2000" noProof="1"/>
          </a:p>
        </p:txBody>
      </p:sp>
      <p:sp>
        <p:nvSpPr>
          <p:cNvPr id="3" name="subtitle"/>
          <p:cNvSpPr txBox="1"/>
          <p:nvPr/>
        </p:nvSpPr>
        <p:spPr>
          <a:xfrm>
            <a:off x="444500" y="558800"/>
            <a:ext cx="11303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64748B"/>
                </a:solidFill>
                <a:latin typeface="MiSans"/>
                <a:ea typeface="MiSans"/>
              </a:rPr>
              <a:t>vllm-ascend PR #19087 · 符号对照 kimi_k3_spec_decode_analysis_math.md · 全部图形原生可编辑</a:t>
            </a:r>
            <a:endParaRPr lang="en-US" sz="1000" noProof="1"/>
          </a:p>
        </p:txBody>
      </p:sp>
      <p:sp>
        <p:nvSpPr>
          <p:cNvPr id="4" name="phase1"/>
          <p:cNvSpPr txBox="1"/>
          <p:nvPr/>
        </p:nvSpPr>
        <p:spPr>
          <a:xfrm>
            <a:off x="444500" y="787400"/>
            <a:ext cx="42545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 b="1">
                <a:solidFill>
                  <a:srgbClr val="2563EB"/>
                </a:solidFill>
                <a:latin typeface="MiSans"/>
                <a:ea typeface="MiSans"/>
              </a:rPr>
              <a:t>① 目标模型前向：verify + 记录 R_t</a:t>
            </a:r>
            <a:endParaRPr lang="en-US" sz="1000" noProof="1"/>
          </a:p>
        </p:txBody>
      </p:sp>
      <p:sp>
        <p:nvSpPr>
          <p:cNvPr id="5" name="phase2"/>
          <p:cNvSpPr txBox="1"/>
          <p:nvPr/>
        </p:nvSpPr>
        <p:spPr>
          <a:xfrm>
            <a:off x="5143500" y="787400"/>
            <a:ext cx="1905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 b="1">
                <a:solidFill>
                  <a:srgbClr val="EA580C"/>
                </a:solidFill>
                <a:latin typeface="MiSans"/>
                <a:ea typeface="MiSans"/>
              </a:rPr>
              <a:t>② 拒绝采样</a:t>
            </a:r>
            <a:endParaRPr lang="en-US" sz="1000" noProof="1"/>
          </a:p>
        </p:txBody>
      </p:sp>
      <p:sp>
        <p:nvSpPr>
          <p:cNvPr id="6" name="phase3"/>
          <p:cNvSpPr txBox="1"/>
          <p:nvPr/>
        </p:nvSpPr>
        <p:spPr>
          <a:xfrm>
            <a:off x="7493000" y="787400"/>
            <a:ext cx="42545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 b="1">
                <a:solidFill>
                  <a:srgbClr val="7C3AED"/>
                </a:solidFill>
                <a:latin typeface="MiSans"/>
                <a:ea typeface="MiSans"/>
              </a:rPr>
              <a:t>③ commit：重建写回 → 草稿</a:t>
            </a:r>
            <a:endParaRPr lang="en-US" sz="1000" noProof="1"/>
          </a:p>
        </p:txBody>
      </p:sp>
      <p:sp>
        <p:nvSpPr>
          <p:cNvPr id="7" name="lane1"/>
          <p:cNvSpPr/>
          <p:nvPr/>
        </p:nvSpPr>
        <p:spPr>
          <a:xfrm>
            <a:off x="317500" y="1295400"/>
            <a:ext cx="11557000" cy="1320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8" name="lane2"/>
          <p:cNvSpPr/>
          <p:nvPr/>
        </p:nvSpPr>
        <p:spPr>
          <a:xfrm>
            <a:off x="317500" y="2946400"/>
            <a:ext cx="11557000" cy="1320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9" name="lane3"/>
          <p:cNvSpPr/>
          <p:nvPr/>
        </p:nvSpPr>
        <p:spPr>
          <a:xfrm>
            <a:off x="317500" y="4572000"/>
            <a:ext cx="11557000" cy="1168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0" name="lane1-label"/>
          <p:cNvSpPr txBox="1"/>
          <p:nvPr/>
        </p:nvSpPr>
        <p:spPr>
          <a:xfrm>
            <a:off x="444500" y="1092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>
                <a:solidFill>
                  <a:srgbClr val="64748B"/>
                </a:solidFill>
                <a:latin typeface="MiSans"/>
                <a:ea typeface="MiSans"/>
              </a:rPr>
              <a:t>目标模型前向 + RecoverSSM Adapter</a:t>
            </a:r>
            <a:endParaRPr lang="en-US" sz="1000" noProof="1"/>
          </a:p>
        </p:txBody>
      </p:sp>
      <p:sp>
        <p:nvSpPr>
          <p:cNvPr id="11" name="lane2-label"/>
          <p:cNvSpPr txBox="1"/>
          <p:nvPr/>
        </p:nvSpPr>
        <p:spPr>
          <a:xfrm>
            <a:off x="444500" y="27432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>
                <a:solidFill>
                  <a:srgbClr val="64748B"/>
                </a:solidFill>
                <a:latin typeface="MiSans"/>
                <a:ea typeface="MiSans"/>
              </a:rPr>
              <a:t>状态与记录存储</a:t>
            </a:r>
            <a:endParaRPr lang="en-US" sz="1000" noProof="1"/>
          </a:p>
        </p:txBody>
      </p:sp>
      <p:sp>
        <p:nvSpPr>
          <p:cNvPr id="12" name="lane3-label"/>
          <p:cNvSpPr txBox="1"/>
          <p:nvPr/>
        </p:nvSpPr>
        <p:spPr>
          <a:xfrm>
            <a:off x="444500" y="4368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>
                <a:solidFill>
                  <a:srgbClr val="64748B"/>
                </a:solidFill>
                <a:latin typeface="MiSans"/>
                <a:ea typeface="MiSans"/>
              </a:rPr>
              <a:t>草稿模型</a:t>
            </a:r>
            <a:endParaRPr lang="en-US" sz="1000" noProof="1"/>
          </a:p>
        </p:txBody>
      </p:sp>
      <p:sp>
        <p:nvSpPr>
          <p:cNvPr id="13" name="e-read"/>
          <p:cNvSpPr/>
          <p:nvPr>
            <p:extLst>
              <p:ext uri="{F5677B7D-0D2A-4D9B-9A5C-6D8D7D0E5A5D}">
                <pptd:line encoding="base64url">eyJ2aWV3Qm94IjpbNCw1OF0sInBvaW50cyI6IjIsNTggMiwwIiwiY3VydmUiOiJzaGFycCJ9</pptd:line>
              </p:ext>
            </p:extLst>
          </p:nvPr>
        </p:nvSpPr>
        <p:spPr>
          <a:xfrm>
            <a:off x="1371600" y="2413000"/>
            <a:ext cx="50800" cy="736600"/>
          </a:xfrm>
          <a:custGeom>
            <a:avLst/>
            <a:gdLst/>
            <a:ahLst/>
            <a:cxnLst/>
            <a:rect l="l" t="t" r="r" b="b"/>
            <a:pathLst>
              <a:path w="4" h="58">
                <a:moveTo>
                  <a:pt x="2" y="58"/>
                </a:moveTo>
                <a:lnTo>
                  <a:pt x="2" y="0"/>
                </a:lnTo>
              </a:path>
            </a:pathLst>
          </a:custGeom>
          <a:noFill/>
          <a:ln w="19050">
            <a:solidFill>
              <a:srgbClr val="64748B"/>
            </a:solidFill>
            <a:tailEnd type="arrow"/>
          </a:ln>
        </p:spPr>
      </p:sp>
      <p:sp>
        <p:nvSpPr>
          <p:cNvPr id="14" name="e-ckpt"/>
          <p:cNvSpPr/>
          <p:nvPr>
            <p:extLst>
              <p:ext uri="{F5677B7D-0D2A-4D9B-9A5C-6D8D7D0E5A5D}">
                <pptd:line encoding="base64url">eyJ2aWV3Qm94IjpbMzUsNF0sInBvaW50cyI6IjAsMiAzNSwyIiwiY3VydmUiOiJzaGFycCJ9</pptd:line>
              </p:ext>
            </p:extLst>
          </p:nvPr>
        </p:nvSpPr>
        <p:spPr>
          <a:xfrm>
            <a:off x="2349500" y="1930400"/>
            <a:ext cx="444500" cy="50800"/>
          </a:xfrm>
          <a:custGeom>
            <a:avLst/>
            <a:gdLst/>
            <a:ahLst/>
            <a:cxnLst/>
            <a:rect l="l" t="t" r="r" b="b"/>
            <a:pathLst>
              <a:path w="35" h="4">
                <a:moveTo>
                  <a:pt x="0" y="2"/>
                </a:moveTo>
                <a:lnTo>
                  <a:pt x="35" y="2"/>
                </a:lnTo>
              </a:path>
            </a:pathLst>
          </a:custGeom>
          <a:noFill/>
          <a:ln w="19050">
            <a:solidFill>
              <a:srgbClr val="64748B"/>
            </a:solidFill>
            <a:tailEnd type="arrow"/>
          </a:ln>
        </p:spPr>
      </p:sp>
      <p:sp>
        <p:nvSpPr>
          <p:cNvPr id="15" name="e-out"/>
          <p:cNvSpPr/>
          <p:nvPr>
            <p:extLst>
              <p:ext uri="{F5677B7D-0D2A-4D9B-9A5C-6D8D7D0E5A5D}">
                <pptd:line encoding="base64url">eyJ2aWV3Qm94IjpbMzUsNF0sInBvaW50cyI6IjAsMiAzNSwyIiwiY3VydmUiOiJzaGFycCJ9</pptd:line>
              </p:ext>
            </p:extLst>
          </p:nvPr>
        </p:nvSpPr>
        <p:spPr>
          <a:xfrm>
            <a:off x="4699000" y="1930400"/>
            <a:ext cx="444500" cy="50800"/>
          </a:xfrm>
          <a:custGeom>
            <a:avLst/>
            <a:gdLst/>
            <a:ahLst/>
            <a:cxnLst/>
            <a:rect l="l" t="t" r="r" b="b"/>
            <a:pathLst>
              <a:path w="35" h="4">
                <a:moveTo>
                  <a:pt x="0" y="2"/>
                </a:moveTo>
                <a:lnTo>
                  <a:pt x="35" y="2"/>
                </a:lnTo>
              </a:path>
            </a:pathLst>
          </a:custGeom>
          <a:noFill/>
          <a:ln w="19050">
            <a:solidFill>
              <a:srgbClr val="64748B"/>
            </a:solidFill>
            <a:tailEnd type="arrow"/>
          </a:ln>
        </p:spPr>
      </p:sp>
      <p:sp>
        <p:nvSpPr>
          <p:cNvPr id="16" name="e-sample"/>
          <p:cNvSpPr/>
          <p:nvPr>
            <p:extLst>
              <p:ext uri="{F5677B7D-0D2A-4D9B-9A5C-6D8D7D0E5A5D}">
                <pptd:line encoding="base64url">eyJ2aWV3Qm94IjpbMzUsNF0sInBvaW50cyI6IjAsMiAzNSwyIiwiY3VydmUiOiJzaGFycCJ9</pptd:line>
              </p:ext>
            </p:extLst>
          </p:nvPr>
        </p:nvSpPr>
        <p:spPr>
          <a:xfrm>
            <a:off x="7048500" y="1930400"/>
            <a:ext cx="444500" cy="50800"/>
          </a:xfrm>
          <a:custGeom>
            <a:avLst/>
            <a:gdLst/>
            <a:ahLst/>
            <a:cxnLst/>
            <a:rect l="l" t="t" r="r" b="b"/>
            <a:pathLst>
              <a:path w="35" h="4">
                <a:moveTo>
                  <a:pt x="0" y="2"/>
                </a:moveTo>
                <a:lnTo>
                  <a:pt x="35" y="2"/>
                </a:lnTo>
              </a:path>
            </a:pathLst>
          </a:custGeom>
          <a:noFill/>
          <a:ln w="19050">
            <a:solidFill>
              <a:srgbClr val="64748B"/>
            </a:solidFill>
            <a:tailEnd type="arrow"/>
          </a:ln>
        </p:spPr>
      </p:sp>
      <p:sp>
        <p:nvSpPr>
          <p:cNvPr id="17" name="e-store"/>
          <p:cNvSpPr/>
          <p:nvPr>
            <p:extLst>
              <p:ext uri="{F5677B7D-0D2A-4D9B-9A5C-6D8D7D0E5A5D}">
                <pptd:line encoding="base64url">eyJ2aWV3Qm94IjpbNCw1OF0sInBvaW50cyI6IjIsMCAyLDU4IiwiY3VydmUiOiJzaGFycCJ9</pptd:line>
              </p:ext>
            </p:extLst>
          </p:nvPr>
        </p:nvSpPr>
        <p:spPr>
          <a:xfrm>
            <a:off x="3721100" y="2413000"/>
            <a:ext cx="50800" cy="736600"/>
          </a:xfrm>
          <a:custGeom>
            <a:avLst/>
            <a:gdLst/>
            <a:ahLst/>
            <a:cxnLst/>
            <a:rect l="l" t="t" r="r" b="b"/>
            <a:pathLst>
              <a:path w="4" h="58">
                <a:moveTo>
                  <a:pt x="2" y="0"/>
                </a:moveTo>
                <a:lnTo>
                  <a:pt x="2" y="58"/>
                </a:lnTo>
              </a:path>
            </a:pathLst>
          </a:custGeom>
          <a:noFill/>
          <a:ln w="19050">
            <a:solidFill>
              <a:srgbClr val="7C3AED"/>
            </a:solidFill>
            <a:tailEnd type="arrow"/>
          </a:ln>
        </p:spPr>
      </p:sp>
      <p:sp>
        <p:nvSpPr>
          <p:cNvPr id="18" name="e-replay"/>
          <p:cNvSpPr/>
          <p:nvPr>
            <p:extLst>
              <p:ext uri="{F5677B7D-0D2A-4D9B-9A5C-6D8D7D0E5A5D}">
                <pptd:line encoding="base64url">eyJ2aWV3Qm94IjpbMjk1LDE4Ml0sInBvaW50cyI6IjAsMTgyIDAsMTcwIDI3NywxNzAgMjc3LDAgMjk1LDAiLCJjdXJ2ZSI6InNoYXJwIn0</pptd:line>
              </p:ext>
            </p:extLst>
          </p:nvPr>
        </p:nvSpPr>
        <p:spPr>
          <a:xfrm>
            <a:off x="3746500" y="2133600"/>
            <a:ext cx="3746500" cy="2311400"/>
          </a:xfrm>
          <a:custGeom>
            <a:avLst/>
            <a:gdLst/>
            <a:ahLst/>
            <a:cxnLst/>
            <a:rect l="l" t="t" r="r" b="b"/>
            <a:pathLst>
              <a:path w="295" h="182">
                <a:moveTo>
                  <a:pt x="0" y="182"/>
                </a:moveTo>
                <a:lnTo>
                  <a:pt x="0" y="170"/>
                </a:lnTo>
                <a:lnTo>
                  <a:pt x="277" y="170"/>
                </a:lnTo>
                <a:lnTo>
                  <a:pt x="277" y="0"/>
                </a:lnTo>
                <a:lnTo>
                  <a:pt x="295" y="0"/>
                </a:lnTo>
              </a:path>
            </a:pathLst>
          </a:custGeom>
          <a:noFill/>
          <a:ln w="19050">
            <a:solidFill>
              <a:srgbClr val="7C3AED"/>
            </a:solidFill>
            <a:prstDash val="dash"/>
            <a:tailEnd type="arrow"/>
          </a:ln>
        </p:spPr>
      </p:sp>
      <p:sp>
        <p:nvSpPr>
          <p:cNvPr id="19" name="e-rebuild"/>
          <p:cNvSpPr/>
          <p:nvPr>
            <p:extLst>
              <p:ext uri="{F5677B7D-0D2A-4D9B-9A5C-6D8D7D0E5A5D}">
                <pptd:line encoding="base64url">eyJ2aWV3Qm94IjpbNCw1OF0sInBvaW50cyI6IjIsMCAyLDU4IiwiY3VydmUiOiJzaGFycCJ9</pptd:line>
              </p:ext>
            </p:extLst>
          </p:nvPr>
        </p:nvSpPr>
        <p:spPr>
          <a:xfrm>
            <a:off x="8420100" y="2413000"/>
            <a:ext cx="50800" cy="736600"/>
          </a:xfrm>
          <a:custGeom>
            <a:avLst/>
            <a:gdLst/>
            <a:ahLst/>
            <a:cxnLst/>
            <a:rect l="l" t="t" r="r" b="b"/>
            <a:pathLst>
              <a:path w="4" h="58">
                <a:moveTo>
                  <a:pt x="2" y="0"/>
                </a:moveTo>
                <a:lnTo>
                  <a:pt x="2" y="58"/>
                </a:lnTo>
              </a:path>
            </a:pathLst>
          </a:custGeom>
          <a:noFill/>
          <a:ln w="25400">
            <a:solidFill>
              <a:srgbClr val="2563EB"/>
            </a:solidFill>
            <a:tailEnd type="arrow"/>
          </a:ln>
        </p:spPr>
      </p:sp>
      <p:sp>
        <p:nvSpPr>
          <p:cNvPr id="20" name="e-next"/>
          <p:cNvSpPr/>
          <p:nvPr>
            <p:extLst>
              <p:ext uri="{F5677B7D-0D2A-4D9B-9A5C-6D8D7D0E5A5D}">
                <pptd:line encoding="base64url">eyJ2aWV3Qm94IjpbMzUsNF0sInBvaW50cyI6IjAsMiAzNSwyIiwiY3VydmUiOiJzaGFycCJ9</pptd:line>
              </p:ext>
            </p:extLst>
          </p:nvPr>
        </p:nvSpPr>
        <p:spPr>
          <a:xfrm>
            <a:off x="9398000" y="3581400"/>
            <a:ext cx="444500" cy="50800"/>
          </a:xfrm>
          <a:custGeom>
            <a:avLst/>
            <a:gdLst/>
            <a:ahLst/>
            <a:cxnLst/>
            <a:rect l="l" t="t" r="r" b="b"/>
            <a:pathLst>
              <a:path w="35" h="4">
                <a:moveTo>
                  <a:pt x="0" y="2"/>
                </a:moveTo>
                <a:lnTo>
                  <a:pt x="35" y="2"/>
                </a:lnTo>
              </a:path>
            </a:pathLst>
          </a:custGeom>
          <a:noFill/>
          <a:ln w="19050">
            <a:solidFill>
              <a:srgbClr val="64748B"/>
            </a:solidFill>
            <a:prstDash val="dash"/>
            <a:tailEnd type="arrow"/>
          </a:ln>
        </p:spPr>
      </p:sp>
      <p:sp>
        <p:nvSpPr>
          <p:cNvPr id="21" name="e-before-draft"/>
          <p:cNvSpPr/>
          <p:nvPr>
            <p:extLst>
              <p:ext uri="{F5677B7D-0D2A-4D9B-9A5C-6D8D7D0E5A5D}">
                <pptd:line encoding="base64url">eyJ2aWV3Qm94IjpbMTEwLDg3XSwicG9pbnRzIjoiMCwwIDAsODcgMTEwLDg3IiwiY3VydmUiOiJzaGFycCJ9</pptd:line>
              </p:ext>
            </p:extLst>
          </p:nvPr>
        </p:nvSpPr>
        <p:spPr>
          <a:xfrm>
            <a:off x="8445500" y="4064000"/>
            <a:ext cx="1397000" cy="1104900"/>
          </a:xfrm>
          <a:custGeom>
            <a:avLst/>
            <a:gdLst/>
            <a:ahLst/>
            <a:cxnLst/>
            <a:rect l="l" t="t" r="r" b="b"/>
            <a:pathLst>
              <a:path w="110" h="87">
                <a:moveTo>
                  <a:pt x="0" y="0"/>
                </a:moveTo>
                <a:lnTo>
                  <a:pt x="0" y="87"/>
                </a:lnTo>
                <a:lnTo>
                  <a:pt x="110" y="87"/>
                </a:lnTo>
              </a:path>
            </a:pathLst>
          </a:custGeom>
          <a:noFill/>
          <a:ln w="19050">
            <a:solidFill>
              <a:srgbClr val="64748B"/>
            </a:solidFill>
            <a:tailEnd type="arrow"/>
          </a:ln>
        </p:spPr>
      </p:sp>
      <p:sp>
        <p:nvSpPr>
          <p:cNvPr id="22" name="e-draft-next"/>
          <p:cNvSpPr/>
          <p:nvPr>
            <p:extLst>
              <p:ext uri="{F5677B7D-0D2A-4D9B-9A5C-6D8D7D0E5A5D}">
                <pptd:line encoding="base64url">eyJ2aWV3Qm94IjpbNCw1Nl0sInBvaW50cyI6IjIsNTYgMiwwIiwiY3VydmUiOiJzaGFycCJ9</pptd:line>
              </p:ext>
            </p:extLst>
          </p:nvPr>
        </p:nvSpPr>
        <p:spPr>
          <a:xfrm>
            <a:off x="10769600" y="4064000"/>
            <a:ext cx="50800" cy="711200"/>
          </a:xfrm>
          <a:custGeom>
            <a:avLst/>
            <a:gdLst/>
            <a:ahLst/>
            <a:cxnLst/>
            <a:rect l="l" t="t" r="r" b="b"/>
            <a:pathLst>
              <a:path w="4" h="56">
                <a:moveTo>
                  <a:pt x="2" y="56"/>
                </a:moveTo>
                <a:lnTo>
                  <a:pt x="2" y="0"/>
                </a:lnTo>
              </a:path>
            </a:pathLst>
          </a:custGeom>
          <a:noFill/>
          <a:ln w="19050">
            <a:solidFill>
              <a:srgbClr val="059669"/>
            </a:solidFill>
            <a:tailEnd type="arrow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e-out-label"/>
              <p:cNvSpPr txBox="1"/>
              <p:nvPr/>
            </p:nvSpPr>
            <p:spPr>
              <a:xfrm>
                <a:off x="4470400" y="2438400"/>
                <a:ext cx="901700" cy="12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none" rtlCol="0" anchor="ctr"/>
              <a:lstStyle/>
              <a:p>
                <a:pPr algn="ctr">
                  <a:lnSpc>
                    <a:spcPct val="120000"/>
                  </a:lnSpc>
                </a:pPr>
                <a14:m>
                  <m:oMath>
                    <m:sSub>
                      <m:sSubPr>
                        <m:ctrlPr>
                          <a:rPr lang="en-US" sz="800" noProof="1">
                            <a:solidFill>
                              <a:srgbClr val="64748B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800" noProof="1" i="1">
                            <a:solidFill>
                              <a:srgbClr val="64748B"/>
                            </a:solidFill>
                            <a:latin typeface="MiSans"/>
                          </a:rPr>
                          <m:t>y</m:t>
                        </m:r>
                      </m:e>
                      <m:sub>
                        <m:r>
                          <a:rPr lang="en-US" sz="800" noProof="1" i="1">
                            <a:solidFill>
                              <a:srgbClr val="64748B"/>
                            </a:solidFill>
                            <a:latin typeface="MiSans"/>
                          </a:rPr>
                          <m:t>t</m:t>
                        </m:r>
                      </m:sub>
                    </m:sSub>
                  </m:oMath>
                </a14:m>
                <a:r>
                  <a:rPr lang="en-US" sz="800" noProof="1">
                    <a:solidFill>
                      <a:srgbClr val="64748B"/>
                    </a:solidFill>
                    <a:latin typeface="MiSans"/>
                    <a:ea typeface="MiSans"/>
                  </a:rPr>
                  <a:t>→logits</a:t>
                </a:r>
                <a:endParaRPr lang="en-US" sz="800" noProof="1"/>
              </a:p>
            </p:txBody>
          </p:sp>
        </mc:Choice>
        <mc:Fallback xmlns="">
          <p:sp>
            <p:nvSpPr>
              <p:cNvPr id="23" name="e-out-label"/>
              <p:cNvSpPr txBox="1"/>
              <p:nvPr/>
            </p:nvSpPr>
            <p:spPr>
              <a:xfrm>
                <a:off x="4470400" y="2438400"/>
                <a:ext cx="901700" cy="12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none"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sz="800" noProof="1">
                    <a:solidFill>
                      <a:srgbClr val="64748B"/>
                    </a:solidFill>
                    <a:latin typeface="MiSans"/>
                    <a:ea typeface="MiSans"/>
                  </a:rPr>
                  <a:t>\(y_t\)→logits</a:t>
                </a:r>
                <a:endParaRPr lang="en-US" sz="800" noProof="1"/>
              </a:p>
            </p:txBody>
          </p:sp>
        </mc:Fallback>
      </mc:AlternateContent>
      <p:sp>
        <p:nvSpPr>
          <p:cNvPr id="24" name="e-replay-label"/>
          <p:cNvSpPr txBox="1"/>
          <p:nvPr/>
        </p:nvSpPr>
        <p:spPr>
          <a:xfrm>
            <a:off x="7340600" y="2819400"/>
            <a:ext cx="1651000" cy="12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7C3AED"/>
                </a:solidFill>
                <a:latin typeface="MiSans"/>
                <a:ea typeface="MiSans"/>
              </a:rPr>
              <a:t>按接受前缀 n 重放 R_t</a:t>
            </a:r>
            <a:endParaRPr lang="en-US" sz="8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e-rebuild-label"/>
              <p:cNvSpPr txBox="1"/>
              <p:nvPr/>
            </p:nvSpPr>
            <p:spPr>
              <a:xfrm>
                <a:off x="8521700" y="2717800"/>
                <a:ext cx="1524000" cy="12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none" rtlCol="0" anchor="ctr"/>
              <a:lstStyle/>
              <a:p>
                <a:pPr algn="l">
                  <a:lnSpc>
                    <a:spcPct val="120000"/>
                  </a:lnSpc>
                </a:pPr>
                <a14:m>
                  <m:oMath>
                    <m:sSub>
                      <m:sSubPr>
                        <m:ctrlPr>
                          <a:rPr lang="en-US" sz="800" noProof="1">
                            <a:solidFill>
                              <a:srgbClr val="2563EB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800" noProof="1" i="1">
                            <a:solidFill>
                              <a:srgbClr val="2563EB"/>
                            </a:solidFill>
                            <a:latin typeface="MiSans"/>
                          </a:rPr>
                          <m:t>S</m:t>
                        </m:r>
                      </m:e>
                      <m:sub>
                        <m:r>
                          <a:rPr lang="en-US" sz="800" noProof="1" i="0">
                            <a:solidFill>
                              <a:srgbClr val="2563EB"/>
                            </a:solidFill>
                            <a:latin typeface="MiSans"/>
                          </a:rPr>
                          <m:t>r</m:t>
                        </m:r>
                        <m:r>
                          <a:rPr lang="en-US" sz="800" noProof="1" i="0">
                            <a:solidFill>
                              <a:srgbClr val="2563EB"/>
                            </a:solidFill>
                            <a:latin typeface="MiSans"/>
                          </a:rPr>
                          <m:t>e</m:t>
                        </m:r>
                        <m:r>
                          <a:rPr lang="en-US" sz="800" noProof="1" i="0">
                            <a:solidFill>
                              <a:srgbClr val="2563EB"/>
                            </a:solidFill>
                            <a:latin typeface="MiSans"/>
                          </a:rPr>
                          <m:t>b</m:t>
                        </m:r>
                        <m:r>
                          <a:rPr lang="en-US" sz="800" noProof="1" i="0">
                            <a:solidFill>
                              <a:srgbClr val="2563EB"/>
                            </a:solidFill>
                            <a:latin typeface="MiSans"/>
                          </a:rPr>
                          <m:t>u</m:t>
                        </m:r>
                        <m:r>
                          <a:rPr lang="en-US" sz="800" noProof="1" i="0">
                            <a:solidFill>
                              <a:srgbClr val="2563EB"/>
                            </a:solidFill>
                            <a:latin typeface="MiSans"/>
                          </a:rPr>
                          <m:t>i</m:t>
                        </m:r>
                        <m:r>
                          <a:rPr lang="en-US" sz="800" noProof="1" i="0">
                            <a:solidFill>
                              <a:srgbClr val="2563EB"/>
                            </a:solidFill>
                            <a:latin typeface="MiSans"/>
                          </a:rPr>
                          <m:t>l</m:t>
                        </m:r>
                        <m:r>
                          <a:rPr lang="en-US" sz="800" noProof="1" i="0">
                            <a:solidFill>
                              <a:srgbClr val="2563EB"/>
                            </a:solidFill>
                            <a:latin typeface="MiSans"/>
                          </a:rPr>
                          <m:t>t</m:t>
                        </m:r>
                      </m:sub>
                    </m:sSub>
                    <m:r>
                      <a:rPr lang="en-US" sz="800" noProof="1" i="0">
                        <a:solidFill>
                          <a:srgbClr val="2563EB"/>
                        </a:solidFill>
                        <a:latin typeface="MiSans"/>
                      </a:rPr>
                      <m:t>=</m:t>
                    </m:r>
                    <m:sSub>
                      <m:sSubPr>
                        <m:ctrlPr>
                          <a:rPr lang="en-US" sz="800" noProof="1">
                            <a:solidFill>
                              <a:srgbClr val="2563EB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800" noProof="1" i="1">
                            <a:solidFill>
                              <a:srgbClr val="2563EB"/>
                            </a:solidFill>
                            <a:latin typeface="MiSans"/>
                          </a:rPr>
                          <m:t>S</m:t>
                        </m:r>
                      </m:e>
                      <m:sub>
                        <m:r>
                          <a:rPr lang="en-US" sz="800" noProof="1" i="0">
                            <a:solidFill>
                              <a:srgbClr val="2563EB"/>
                            </a:solidFill>
                            <a:latin typeface="MiSans"/>
                          </a:rPr>
                          <m:t>0</m:t>
                        </m:r>
                      </m:sub>
                    </m:sSub>
                    <m:r>
                      <a:rPr lang="en-US" sz="800" noProof="1" i="1">
                        <a:solidFill>
                          <a:srgbClr val="2563EB"/>
                        </a:solidFill>
                        <a:latin typeface="MiSans"/>
                      </a:rPr>
                      <m:t>P</m:t>
                    </m:r>
                    <m:r>
                      <a:rPr lang="en-US" sz="800" noProof="1" i="0">
                        <a:solidFill>
                          <a:srgbClr val="2563EB"/>
                        </a:solidFill>
                        <a:latin typeface="MiSans"/>
                      </a:rPr>
                      <m:t>+</m:t>
                    </m:r>
                    <m:r>
                      <a:rPr lang="en-US" sz="800" noProof="1" i="1">
                        <a:solidFill>
                          <a:srgbClr val="2563EB"/>
                        </a:solidFill>
                        <a:latin typeface="MiSans"/>
                      </a:rPr>
                      <m:t>U</m:t>
                    </m:r>
                  </m:oMath>
                </a14:m>
                <a:r>
                  <a:rPr lang="en-US" sz="800" noProof="1"/>
                  <a:t xml:space="preserve"> </a:t>
                </a:r>
                <a:endParaRPr lang="en-US" sz="800" noProof="1"/>
              </a:p>
            </p:txBody>
          </p:sp>
        </mc:Choice>
        <mc:Fallback xmlns="">
          <p:sp>
            <p:nvSpPr>
              <p:cNvPr id="25" name="e-rebuild-label"/>
              <p:cNvSpPr txBox="1"/>
              <p:nvPr/>
            </p:nvSpPr>
            <p:spPr>
              <a:xfrm>
                <a:off x="8521700" y="2717800"/>
                <a:ext cx="1524000" cy="12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none" rtlCol="0" anchor="ctr"/>
              <a:lstStyle/>
              <a:p>
                <a:pPr algn="l">
                  <a:lnSpc>
                    <a:spcPct val="120000"/>
                  </a:lnSpc>
                </a:pPr>
                <a:r>
                  <a:rPr lang="en-US" sz="800" noProof="1">
                    <a:solidFill>
                      <a:srgbClr val="2563EB"/>
                    </a:solidFill>
                    <a:latin typeface="MiSans"/>
                    <a:ea typeface="MiSans"/>
                  </a:rPr>
                  <a:t>\(S_{\mathrm{rebuilt}}=S_0P+U\)</a:t>
                </a:r>
                <a:endParaRPr lang="en-US" sz="800" noProof="1"/>
              </a:p>
            </p:txBody>
          </p:sp>
        </mc:Fallback>
      </mc:AlternateContent>
      <p:sp>
        <p:nvSpPr>
          <p:cNvPr id="26" name="e-before-draft-label"/>
          <p:cNvSpPr txBox="1"/>
          <p:nvPr/>
        </p:nvSpPr>
        <p:spPr>
          <a:xfrm>
            <a:off x="8521700" y="4343400"/>
            <a:ext cx="1143000" cy="12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64748B"/>
                </a:solidFill>
                <a:latin typeface="MiSans"/>
                <a:ea typeface="MiSans"/>
              </a:rPr>
              <a:t>先于草稿前向</a:t>
            </a:r>
            <a:endParaRPr lang="en-US" sz="800" noProof="1"/>
          </a:p>
        </p:txBody>
      </p:sp>
      <p:sp>
        <p:nvSpPr>
          <p:cNvPr id="27" name="n-select"/>
          <p:cNvSpPr/>
          <p:nvPr/>
        </p:nvSpPr>
        <p:spPr>
          <a:xfrm>
            <a:off x="444500" y="1498600"/>
            <a:ext cx="1905000" cy="91440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</p:spPr>
      </p:sp>
      <p:sp>
        <p:nvSpPr>
          <p:cNvPr id="28" name="n-verify"/>
          <p:cNvSpPr/>
          <p:nvPr/>
        </p:nvSpPr>
        <p:spPr>
          <a:xfrm>
            <a:off x="2794000" y="1498600"/>
            <a:ext cx="1905000" cy="91440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</p:spPr>
      </p:sp>
      <p:sp>
        <p:nvSpPr>
          <p:cNvPr id="29" name="n-sample"/>
          <p:cNvSpPr/>
          <p:nvPr/>
        </p:nvSpPr>
        <p:spPr>
          <a:xfrm>
            <a:off x="5143500" y="1498600"/>
            <a:ext cx="1905000" cy="91440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19050">
            <a:solidFill>
              <a:srgbClr val="EA580C"/>
            </a:solidFill>
          </a:ln>
        </p:spPr>
      </p:sp>
      <p:sp>
        <p:nvSpPr>
          <p:cNvPr id="30" name="n-commit"/>
          <p:cNvSpPr/>
          <p:nvPr/>
        </p:nvSpPr>
        <p:spPr>
          <a:xfrm>
            <a:off x="7493000" y="1498600"/>
            <a:ext cx="1905000" cy="9144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9050">
            <a:solidFill>
              <a:srgbClr val="2563EB"/>
            </a:solidFill>
          </a:ln>
        </p:spPr>
      </p:sp>
      <p:sp>
        <p:nvSpPr>
          <p:cNvPr id="31" name="n-prev"/>
          <p:cNvSpPr/>
          <p:nvPr/>
        </p:nvSpPr>
        <p:spPr>
          <a:xfrm>
            <a:off x="444500" y="3149600"/>
            <a:ext cx="1905000" cy="91440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 w="19050">
            <a:solidFill>
              <a:srgbClr val="7C3AED"/>
            </a:solidFill>
          </a:ln>
        </p:spPr>
      </p:sp>
      <p:sp>
        <p:nvSpPr>
          <p:cNvPr id="32" name="n-records"/>
          <p:cNvSpPr/>
          <p:nvPr/>
        </p:nvSpPr>
        <p:spPr>
          <a:xfrm>
            <a:off x="2794000" y="3149600"/>
            <a:ext cx="1905000" cy="91440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 w="19050">
            <a:solidFill>
              <a:srgbClr val="7C3AED"/>
            </a:solidFill>
          </a:ln>
        </p:spPr>
      </p:sp>
      <p:sp>
        <p:nvSpPr>
          <p:cNvPr id="33" name="n-mirror"/>
          <p:cNvSpPr/>
          <p:nvPr/>
        </p:nvSpPr>
        <p:spPr>
          <a:xfrm>
            <a:off x="7493000" y="3149600"/>
            <a:ext cx="1905000" cy="91440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 w="19050">
            <a:solidFill>
              <a:srgbClr val="7C3AED"/>
            </a:solidFill>
          </a:ln>
        </p:spPr>
      </p:sp>
      <p:sp>
        <p:nvSpPr>
          <p:cNvPr id="34" name="n-next"/>
          <p:cNvSpPr/>
          <p:nvPr/>
        </p:nvSpPr>
        <p:spPr>
          <a:xfrm>
            <a:off x="9842500" y="3149600"/>
            <a:ext cx="1905000" cy="91440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 w="19050">
            <a:solidFill>
              <a:srgbClr val="7C3AED"/>
            </a:solidFill>
          </a:ln>
        </p:spPr>
      </p:sp>
      <p:sp>
        <p:nvSpPr>
          <p:cNvPr id="35" name="n-draft"/>
          <p:cNvSpPr/>
          <p:nvPr/>
        </p:nvSpPr>
        <p:spPr>
          <a:xfrm>
            <a:off x="9842500" y="4775200"/>
            <a:ext cx="1905000" cy="78740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9050">
            <a:solidFill>
              <a:srgbClr val="059669"/>
            </a:solidFill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-select"/>
              <p:cNvSpPr txBox="1"/>
              <p:nvPr/>
            </p:nvSpPr>
            <p:spPr>
              <a:xfrm>
                <a:off x="520700" y="1574800"/>
                <a:ext cx="1752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 anchor="ctr"/>
              <a:lstStyle/>
              <a:p>
                <a:pPr algn="ctr">
                  <a:lnSpc>
                    <a:spcPct val="125000"/>
                  </a:lnSpc>
                </a:pPr>
                <a:r>
                  <a:rPr lang="en-US" sz="1000" noProof="1" b="1">
                    <a:solidFill>
                      <a:srgbClr val="1D4ED8"/>
                    </a:solidFill>
                    <a:latin typeface="MiSans"/>
                    <a:ea typeface="MiSans"/>
                  </a:rPr>
                  <a:t>verify：选择 checkpoint</a:t>
                </a:r>
                <a:endParaRPr lang="en-US" sz="1600" noProof="1"/>
              </a:p>
              <a:p>
                <a:pPr algn="ctr">
                  <a:lnSpc>
                    <a:spcPct val="125000"/>
                  </a:lnSpc>
                  <a:spcBef>
                    <a:spcPts val="300"/>
                  </a:spcBef>
                </a:pPr>
                <a:r>
                  <a:rPr lang="en-US" sz="800" noProof="1">
                    <a:solidFill>
                      <a:srgbClr val="1F2937"/>
                    </a:solidFill>
                    <a:latin typeface="MiSans"/>
                    <a:ea typeface="MiSans"/>
                  </a:rPr>
                  <a:t>按 prev accepted−1 取 </a:t>
                </a:r>
                <a14:m>
                  <m:oMath>
                    <m:sSub>
                      <m:sSubPr>
                        <m:ctrlPr>
                          <a:rPr lang="en-US" sz="800" noProof="1">
                            <a:solidFill>
                              <a:srgbClr val="1F2937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800" noProof="1" i="1">
                            <a:solidFill>
                              <a:srgbClr val="1F2937"/>
                            </a:solidFill>
                            <a:latin typeface="MiSans"/>
                          </a:rPr>
                          <m:t>S</m:t>
                        </m:r>
                      </m:e>
                      <m:sub>
                        <m:r>
                          <a:rPr lang="en-US" sz="800" noProof="1" i="0">
                            <a:solidFill>
                              <a:srgbClr val="1F2937"/>
                            </a:solidFill>
                            <a:latin typeface="MiSans"/>
                          </a:rPr>
                          <m:t>0</m:t>
                        </m:r>
                      </m:sub>
                    </m:sSub>
                  </m:oMath>
                </a14:m>
                <a:endParaRPr lang="en-US" sz="1600" noProof="1"/>
              </a:p>
              <a:p>
                <a:pPr algn="ctr">
                  <a:lnSpc>
                    <a:spcPct val="125000"/>
                  </a:lnSpc>
                  <a:spcBef>
                    <a:spcPts val="200"/>
                  </a:spcBef>
                </a:pPr>
                <a:r>
                  <a:rPr lang="en-US" sz="800" noProof="1">
                    <a:solidFill>
                      <a:srgbClr val="64748B"/>
                    </a:solidFill>
                    <a:latin typeface="MiSans"/>
                    <a:ea typeface="MiSans"/>
                  </a:rPr>
                  <a:t>从原生 slot index_select</a:t>
                </a:r>
                <a:endParaRPr lang="en-US" sz="1600" noProof="1"/>
              </a:p>
            </p:txBody>
          </p:sp>
        </mc:Choice>
        <mc:Fallback xmlns="">
          <p:sp>
            <p:nvSpPr>
              <p:cNvPr id="36" name="t-select"/>
              <p:cNvSpPr txBox="1"/>
              <p:nvPr/>
            </p:nvSpPr>
            <p:spPr>
              <a:xfrm>
                <a:off x="520700" y="1574800"/>
                <a:ext cx="1752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 anchor="ctr"/>
              <a:lstStyle/>
              <a:p>
                <a:pPr algn="ctr">
                  <a:lnSpc>
                    <a:spcPct val="125000"/>
                  </a:lnSpc>
                </a:pPr>
                <a:r>
                  <a:rPr lang="en-US" sz="1000" noProof="1" b="1">
                    <a:solidFill>
                      <a:srgbClr val="1D4ED8"/>
                    </a:solidFill>
                    <a:latin typeface="MiSans"/>
                    <a:ea typeface="MiSans"/>
                  </a:rPr>
                  <a:t>verify：选择 checkpoint</a:t>
                </a:r>
                <a:endParaRPr lang="en-US" sz="1600" noProof="1"/>
              </a:p>
              <a:p>
                <a:pPr algn="ctr">
                  <a:lnSpc>
                    <a:spcPct val="125000"/>
                  </a:lnSpc>
                  <a:spcBef>
                    <a:spcPts val="300"/>
                  </a:spcBef>
                </a:pPr>
                <a:r>
                  <a:rPr lang="en-US" sz="800" noProof="1">
                    <a:solidFill>
                      <a:srgbClr val="1F2937"/>
                    </a:solidFill>
                    <a:latin typeface="MiSans"/>
                    <a:ea typeface="MiSans"/>
                  </a:rPr>
                  <a:t>按 prev accepted−1 取 \(S_0\)</a:t>
                </a:r>
                <a:endParaRPr lang="en-US" sz="1600" noProof="1"/>
              </a:p>
              <a:p>
                <a:pPr algn="ctr">
                  <a:lnSpc>
                    <a:spcPct val="125000"/>
                  </a:lnSpc>
                  <a:spcBef>
                    <a:spcPts val="200"/>
                  </a:spcBef>
                </a:pPr>
                <a:r>
                  <a:rPr lang="en-US" sz="800" noProof="1">
                    <a:solidFill>
                      <a:srgbClr val="64748B"/>
                    </a:solidFill>
                    <a:latin typeface="MiSans"/>
                    <a:ea typeface="MiSans"/>
                  </a:rPr>
                  <a:t>从原生 slot index_select</a:t>
                </a:r>
                <a:endParaRPr lang="en-US" sz="1600" noProof="1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-verify"/>
              <p:cNvSpPr txBox="1"/>
              <p:nvPr/>
            </p:nvSpPr>
            <p:spPr>
              <a:xfrm>
                <a:off x="2870200" y="1574800"/>
                <a:ext cx="1752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 anchor="ctr"/>
              <a:lstStyle/>
              <a:p>
                <a:pPr algn="ctr">
                  <a:lnSpc>
                    <a:spcPct val="125000"/>
                  </a:lnSpc>
                </a:pPr>
                <a:r>
                  <a:rPr lang="en-US" sz="1000" noProof="1" b="1">
                    <a:solidFill>
                      <a:srgbClr val="1D4ED8"/>
                    </a:solidFill>
                    <a:latin typeface="MiSans"/>
                    <a:ea typeface="MiSans"/>
                  </a:rPr>
                  <a:t>verify：逐 token 递推</a:t>
                </a:r>
                <a:endParaRPr lang="en-US" sz="1600" noProof="1"/>
              </a:p>
              <a:p>
                <a:pPr algn="ctr">
                  <a:lnSpc>
                    <a:spcPct val="125000"/>
                  </a:lnSpc>
                  <a:spcBef>
                    <a:spcPts val="300"/>
                  </a:spcBef>
                </a:pPr>
                <a14:m>
                  <m:oMath>
                    <m:sSub>
                      <m:sSubPr>
                        <m:ctrlPr>
                          <a:rPr lang="en-US" sz="800" noProof="1">
                            <a:solidFill>
                              <a:srgbClr val="1F2937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800" noProof="1" i="1">
                            <a:solidFill>
                              <a:srgbClr val="1F2937"/>
                            </a:solidFill>
                            <a:latin typeface="MiSans"/>
                          </a:rPr>
                          <m:t>S</m:t>
                        </m:r>
                      </m:e>
                      <m:sub>
                        <m:r>
                          <a:rPr lang="en-US" sz="800" noProof="1" i="1">
                            <a:solidFill>
                              <a:srgbClr val="1F2937"/>
                            </a:solidFill>
                            <a:latin typeface="MiSans"/>
                          </a:rPr>
                          <m:t>t</m:t>
                        </m:r>
                      </m:sub>
                    </m:sSub>
                    <m:r>
                      <a:rPr lang="en-US" sz="800" noProof="1" i="0">
                        <a:solidFill>
                          <a:srgbClr val="1F2937"/>
                        </a:solidFill>
                        <a:latin typeface="MiSans"/>
                      </a:rPr>
                      <m:t>=</m:t>
                    </m:r>
                    <m:sSub>
                      <m:sSubPr>
                        <m:ctrlPr>
                          <a:rPr lang="en-US" sz="800" noProof="1">
                            <a:solidFill>
                              <a:srgbClr val="1F2937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800" noProof="1" i="1">
                            <a:solidFill>
                              <a:srgbClr val="1F2937"/>
                            </a:solidFill>
                            <a:latin typeface="MiSans"/>
                          </a:rPr>
                          <m:t>S</m:t>
                        </m:r>
                      </m:e>
                      <m:sub>
                        <m:r>
                          <a:rPr lang="en-US" sz="800" noProof="1" i="1">
                            <a:solidFill>
                              <a:srgbClr val="1F2937"/>
                            </a:solidFill>
                            <a:latin typeface="MiSans"/>
                          </a:rPr>
                          <m:t>t</m:t>
                        </m:r>
                        <m:r>
                          <a:rPr lang="en-US" sz="800" noProof="1" i="0">
                            <a:solidFill>
                              <a:srgbClr val="1F2937"/>
                            </a:solidFill>
                            <a:latin typeface="MiSans"/>
                          </a:rPr>
                          <m:t>-</m:t>
                        </m:r>
                        <m:r>
                          <a:rPr lang="en-US" sz="800" noProof="1" i="0">
                            <a:solidFill>
                              <a:srgbClr val="1F2937"/>
                            </a:solidFill>
                            <a:latin typeface="MiSans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800" noProof="1">
                            <a:solidFill>
                              <a:srgbClr val="1F2937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800" noProof="1" i="1">
                            <a:solidFill>
                              <a:srgbClr val="1F2937"/>
                            </a:solidFill>
                            <a:latin typeface="MiSans"/>
                          </a:rPr>
                          <m:t>D</m:t>
                        </m:r>
                      </m:e>
                      <m:sub>
                        <m:r>
                          <a:rPr lang="en-US" sz="800" noProof="1" i="1">
                            <a:solidFill>
                              <a:srgbClr val="1F2937"/>
                            </a:solidFill>
                            <a:latin typeface="MiSans"/>
                          </a:rPr>
                          <m:t>t</m:t>
                        </m:r>
                      </m:sub>
                    </m:sSub>
                    <m:r>
                      <a:rPr lang="en-US" sz="800" noProof="1" i="0">
                        <a:solidFill>
                          <a:srgbClr val="1F2937"/>
                        </a:solidFill>
                        <a:latin typeface="MiSans"/>
                      </a:rPr>
                      <m:t>+</m:t>
                    </m:r>
                    <m:sSub>
                      <m:sSubPr>
                        <m:ctrlPr>
                          <a:rPr lang="en-US" sz="800" noProof="1">
                            <a:solidFill>
                              <a:srgbClr val="1F2937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800" noProof="1" i="1">
                            <a:solidFill>
                              <a:srgbClr val="1F2937"/>
                            </a:solidFill>
                            <a:latin typeface="MiSans"/>
                          </a:rPr>
                          <m:t>u</m:t>
                        </m:r>
                      </m:e>
                      <m:sub>
                        <m:r>
                          <a:rPr lang="en-US" sz="800" noProof="1" i="1">
                            <a:solidFill>
                              <a:srgbClr val="1F2937"/>
                            </a:solidFill>
                            <a:latin typeface="MiSans"/>
                          </a:rPr>
                          <m:t>t</m:t>
                        </m:r>
                      </m:sub>
                    </m:sSub>
                    <m:sSup>
                      <m:sSupPr>
                        <m:ctrlPr>
                          <a:rPr lang="en-US" sz="800" noProof="1">
                            <a:solidFill>
                              <a:srgbClr val="1F2937"/>
                            </a:solidFill>
                            <a:latin typeface="MiSans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800" noProof="1">
                                <a:solidFill>
                                  <a:srgbClr val="1F2937"/>
                                </a:solidFill>
                                <a:latin typeface="MiSans"/>
                              </a:rPr>
                            </m:ctrlPr>
                          </m:accPr>
                          <m:e>
                            <m:r>
                              <a:rPr lang="en-US" sz="800" noProof="1" i="1">
                                <a:solidFill>
                                  <a:srgbClr val="1F2937"/>
                                </a:solidFill>
                                <a:latin typeface="MiSans"/>
                              </a:rPr>
                              <m:t>k</m:t>
                            </m:r>
                          </m:e>
                        </m:acc>
                      </m:e>
                      <m:sup>
                        <m:r>
                          <m:rPr>
                            <m:scr m:val="sans-serif"/>
                          </m:rPr>
                          <a:rPr lang="en-US" sz="800" noProof="1" i="0">
                            <a:solidFill>
                              <a:srgbClr val="1F2937"/>
                            </a:solidFill>
                            <a:latin typeface="MiSans"/>
                          </a:rPr>
                          <m:t>T</m:t>
                        </m:r>
                      </m:sup>
                    </m:sSup>
                  </m:oMath>
                </a14:m>
                <a:r>
                  <a:rPr lang="en-US" sz="1600" noProof="1"/>
                  <a:t xml:space="preserve"> </a:t>
                </a:r>
                <a:endParaRPr lang="en-US" sz="1600" noProof="1"/>
              </a:p>
              <a:p>
                <a:pPr algn="ctr">
                  <a:lnSpc>
                    <a:spcPct val="125000"/>
                  </a:lnSpc>
                  <a:spcBef>
                    <a:spcPts val="200"/>
                  </a:spcBef>
                </a:pPr>
                <a14:m>
                  <m:oMath>
                    <m:sSub>
                      <m:sSubPr>
                        <m:ctrlPr>
                          <a:rPr lang="en-US" sz="800" noProof="1">
                            <a:solidFill>
                              <a:srgbClr val="64748B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800" noProof="1" i="1">
                            <a:solidFill>
                              <a:srgbClr val="64748B"/>
                            </a:solidFill>
                            <a:latin typeface="MiSans"/>
                          </a:rPr>
                          <m:t>y</m:t>
                        </m:r>
                      </m:e>
                      <m:sub>
                        <m:r>
                          <a:rPr lang="en-US" sz="800" noProof="1" i="1">
                            <a:solidFill>
                              <a:srgbClr val="64748B"/>
                            </a:solidFill>
                            <a:latin typeface="MiSans"/>
                          </a:rPr>
                          <m:t>t</m:t>
                        </m:r>
                      </m:sub>
                    </m:sSub>
                    <m:r>
                      <a:rPr lang="en-US" sz="800" noProof="1" i="0">
                        <a:solidFill>
                          <a:srgbClr val="64748B"/>
                        </a:solidFill>
                        <a:latin typeface="MiSans"/>
                      </a:rPr>
                      <m:t>=</m:t>
                    </m:r>
                    <m:sSub>
                      <m:sSubPr>
                        <m:ctrlPr>
                          <a:rPr lang="en-US" sz="800" noProof="1">
                            <a:solidFill>
                              <a:srgbClr val="64748B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800" noProof="1" i="1">
                            <a:solidFill>
                              <a:srgbClr val="64748B"/>
                            </a:solidFill>
                            <a:latin typeface="MiSans"/>
                          </a:rPr>
                          <m:t>S</m:t>
                        </m:r>
                      </m:e>
                      <m:sub>
                        <m:r>
                          <a:rPr lang="en-US" sz="800" noProof="1" i="1">
                            <a:solidFill>
                              <a:srgbClr val="64748B"/>
                            </a:solidFill>
                            <a:latin typeface="MiSans"/>
                          </a:rPr>
                          <m:t>t</m:t>
                        </m:r>
                      </m:sub>
                    </m:sSub>
                    <m:acc>
                      <m:accPr>
                        <m:chr m:val="̂"/>
                        <m:ctrlPr>
                          <a:rPr lang="en-US" sz="800" noProof="1">
                            <a:solidFill>
                              <a:srgbClr val="64748B"/>
                            </a:solidFill>
                            <a:latin typeface="MiSans"/>
                          </a:rPr>
                        </m:ctrlPr>
                      </m:accPr>
                      <m:e>
                        <m:r>
                          <a:rPr lang="en-US" sz="800" noProof="1" i="1">
                            <a:solidFill>
                              <a:srgbClr val="64748B"/>
                            </a:solidFill>
                            <a:latin typeface="MiSans"/>
                          </a:rPr>
                          <m:t>q</m:t>
                        </m:r>
                      </m:e>
                    </m:acc>
                  </m:oMath>
                </a14:m>
                <a:r>
                  <a:rPr lang="en-US" sz="800" noProof="1">
                    <a:solidFill>
                      <a:srgbClr val="64748B"/>
                    </a:solidFill>
                    <a:latin typeface="MiSans"/>
                    <a:ea typeface="MiSans"/>
                  </a:rPr>
                  <a:t>；S₀ 只读不改</a:t>
                </a:r>
                <a:endParaRPr lang="en-US" sz="1600" noProof="1"/>
              </a:p>
            </p:txBody>
          </p:sp>
        </mc:Choice>
        <mc:Fallback xmlns="">
          <p:sp>
            <p:nvSpPr>
              <p:cNvPr id="37" name="t-verify"/>
              <p:cNvSpPr txBox="1"/>
              <p:nvPr/>
            </p:nvSpPr>
            <p:spPr>
              <a:xfrm>
                <a:off x="2870200" y="1574800"/>
                <a:ext cx="1752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 anchor="ctr"/>
              <a:lstStyle/>
              <a:p>
                <a:pPr algn="ctr">
                  <a:lnSpc>
                    <a:spcPct val="125000"/>
                  </a:lnSpc>
                </a:pPr>
                <a:r>
                  <a:rPr lang="en-US" sz="1000" noProof="1" b="1">
                    <a:solidFill>
                      <a:srgbClr val="1D4ED8"/>
                    </a:solidFill>
                    <a:latin typeface="MiSans"/>
                    <a:ea typeface="MiSans"/>
                  </a:rPr>
                  <a:t>verify：逐 token 递推</a:t>
                </a:r>
                <a:endParaRPr lang="en-US" sz="1600" noProof="1"/>
              </a:p>
              <a:p>
                <a:pPr algn="ctr">
                  <a:lnSpc>
                    <a:spcPct val="125000"/>
                  </a:lnSpc>
                  <a:spcBef>
                    <a:spcPts val="300"/>
                  </a:spcBef>
                </a:pPr>
                <a:r>
                  <a:rPr lang="en-US" sz="800" noProof="1">
                    <a:solidFill>
                      <a:srgbClr val="1F2937"/>
                    </a:solidFill>
                    <a:latin typeface="MiSans"/>
                    <a:ea typeface="MiSans"/>
                  </a:rPr>
                  <a:t>\(S_t=S_{t-1}D_t+u_t\hat{k}^{\mathsf{T}}\)</a:t>
                </a:r>
                <a:endParaRPr lang="en-US" sz="1600" noProof="1"/>
              </a:p>
              <a:p>
                <a:pPr algn="ctr">
                  <a:lnSpc>
                    <a:spcPct val="125000"/>
                  </a:lnSpc>
                  <a:spcBef>
                    <a:spcPts val="200"/>
                  </a:spcBef>
                </a:pPr>
                <a:r>
                  <a:rPr lang="en-US" sz="800" noProof="1">
                    <a:solidFill>
                      <a:srgbClr val="64748B"/>
                    </a:solidFill>
                    <a:latin typeface="MiSans"/>
                    <a:ea typeface="MiSans"/>
                  </a:rPr>
                  <a:t>\(y_t=S_t\hat{q}\)；S₀ 只读不改</a:t>
                </a:r>
                <a:endParaRPr lang="en-US" sz="1600" noProof="1"/>
              </a:p>
            </p:txBody>
          </p:sp>
        </mc:Fallback>
      </mc:AlternateContent>
      <p:sp>
        <p:nvSpPr>
          <p:cNvPr id="38" name="t-sample"/>
          <p:cNvSpPr txBox="1"/>
          <p:nvPr/>
        </p:nvSpPr>
        <p:spPr>
          <a:xfrm>
            <a:off x="5219700" y="1574800"/>
            <a:ext cx="17526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5000"/>
              </a:lnSpc>
            </a:pPr>
            <a:r>
              <a:rPr lang="en-US" sz="1000" noProof="1" b="1">
                <a:solidFill>
                  <a:srgbClr val="C2410C"/>
                </a:solidFill>
                <a:latin typeface="MiSans"/>
                <a:ea typeface="MiSans"/>
              </a:rPr>
              <a:t>RejectionSampler</a:t>
            </a:r>
            <a:endParaRPr lang="en-US" sz="1600" noProof="1"/>
          </a:p>
          <a:p>
            <a:pPr algn="ctr">
              <a:lnSpc>
                <a:spcPct val="125000"/>
              </a:lnSpc>
              <a:spcBef>
                <a:spcPts val="300"/>
              </a:spcBef>
            </a:pPr>
            <a:r>
              <a:rPr lang="en-US" sz="800" noProof="1">
                <a:solidFill>
                  <a:srgbClr val="1F2937"/>
                </a:solidFill>
                <a:latin typeface="MiSans"/>
                <a:ea typeface="MiSans"/>
              </a:rPr>
              <a:t>拒绝采样，确定接受长度 n</a:t>
            </a:r>
            <a:endParaRPr lang="en-US" sz="1600" noProof="1"/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lang="en-US" sz="800" noProof="1">
                <a:solidFill>
                  <a:srgbClr val="64748B"/>
                </a:solidFill>
                <a:latin typeface="MiSans"/>
                <a:ea typeface="MiSans"/>
              </a:rPr>
              <a:t>n=(ids≥0).sum 含 bonus</a:t>
            </a:r>
            <a:endParaRPr lang="en-US" sz="16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-commit"/>
              <p:cNvSpPr txBox="1"/>
              <p:nvPr/>
            </p:nvSpPr>
            <p:spPr>
              <a:xfrm>
                <a:off x="7569200" y="1574800"/>
                <a:ext cx="1752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 anchor="ctr"/>
              <a:lstStyle/>
              <a:p>
                <a:pPr algn="ctr">
                  <a:lnSpc>
                    <a:spcPct val="125000"/>
                  </a:lnSpc>
                </a:pPr>
                <a:r>
                  <a:rPr lang="en-US" sz="1000" noProof="1" b="1">
                    <a:solidFill>
                      <a:srgbClr val="1D4ED8"/>
                    </a:solidFill>
                    <a:latin typeface="MiSans"/>
                    <a:ea typeface="MiSans"/>
                  </a:rPr>
                  <a:t>commit：重建 </a:t>
                </a:r>
                <a14:m>
                  <m:oMath>
                    <m:sSub>
                      <m:sSubPr>
                        <m:ctrlPr>
                          <a:rPr lang="en-US" sz="1000" noProof="1" b="1">
                            <a:solidFill>
                              <a:srgbClr val="1D4ED8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1000" noProof="1" b="1" i="1">
                            <a:solidFill>
                              <a:srgbClr val="1D4ED8"/>
                            </a:solidFill>
                            <a:latin typeface="MiSans"/>
                          </a:rPr>
                          <m:t>S</m:t>
                        </m:r>
                      </m:e>
                      <m:sub>
                        <m:r>
                          <a:rPr lang="en-US" sz="1000" noProof="1" b="1" i="0">
                            <a:solidFill>
                              <a:srgbClr val="1D4ED8"/>
                            </a:solidFill>
                            <a:latin typeface="MiSans"/>
                          </a:rPr>
                          <m:t>r</m:t>
                        </m:r>
                        <m:r>
                          <a:rPr lang="en-US" sz="1000" noProof="1" b="1" i="0">
                            <a:solidFill>
                              <a:srgbClr val="1D4ED8"/>
                            </a:solidFill>
                            <a:latin typeface="MiSans"/>
                          </a:rPr>
                          <m:t>e</m:t>
                        </m:r>
                        <m:r>
                          <a:rPr lang="en-US" sz="1000" noProof="1" b="1" i="0">
                            <a:solidFill>
                              <a:srgbClr val="1D4ED8"/>
                            </a:solidFill>
                            <a:latin typeface="MiSans"/>
                          </a:rPr>
                          <m:t>b</m:t>
                        </m:r>
                        <m:r>
                          <a:rPr lang="en-US" sz="1000" noProof="1" b="1" i="0">
                            <a:solidFill>
                              <a:srgbClr val="1D4ED8"/>
                            </a:solidFill>
                            <a:latin typeface="MiSans"/>
                          </a:rPr>
                          <m:t>u</m:t>
                        </m:r>
                        <m:r>
                          <a:rPr lang="en-US" sz="1000" noProof="1" b="1" i="0">
                            <a:solidFill>
                              <a:srgbClr val="1D4ED8"/>
                            </a:solidFill>
                            <a:latin typeface="MiSans"/>
                          </a:rPr>
                          <m:t>i</m:t>
                        </m:r>
                        <m:r>
                          <a:rPr lang="en-US" sz="1000" noProof="1" b="1" i="0">
                            <a:solidFill>
                              <a:srgbClr val="1D4ED8"/>
                            </a:solidFill>
                            <a:latin typeface="MiSans"/>
                          </a:rPr>
                          <m:t>l</m:t>
                        </m:r>
                        <m:r>
                          <a:rPr lang="en-US" sz="1000" noProof="1" b="1" i="0">
                            <a:solidFill>
                              <a:srgbClr val="1D4ED8"/>
                            </a:solidFill>
                            <a:latin typeface="MiSans"/>
                          </a:rPr>
                          <m:t>t</m:t>
                        </m:r>
                      </m:sub>
                    </m:sSub>
                  </m:oMath>
                </a14:m>
                <a:endParaRPr lang="en-US" sz="1600" noProof="1"/>
              </a:p>
              <a:p>
                <a:pPr algn="ctr">
                  <a:lnSpc>
                    <a:spcPct val="125000"/>
                  </a:lnSpc>
                  <a:spcBef>
                    <a:spcPts val="300"/>
                  </a:spcBef>
                </a:pPr>
                <a14:m>
                  <m:oMath>
                    <m:r>
                      <a:rPr lang="en-US" sz="800" noProof="1" i="1">
                        <a:solidFill>
                          <a:srgbClr val="1F2937"/>
                        </a:solidFill>
                        <a:latin typeface="MiSans"/>
                      </a:rPr>
                      <m:t>U</m:t>
                    </m:r>
                    <m:r>
                      <a:rPr lang="en-US" sz="800" noProof="1" i="0">
                        <a:solidFill>
                          <a:srgbClr val="1F2937"/>
                        </a:solidFill>
                        <a:latin typeface="MiSans"/>
                      </a:rPr>
                      <m:t>←</m:t>
                    </m:r>
                    <m:r>
                      <a:rPr lang="en-US" sz="800" noProof="1" i="1">
                        <a:solidFill>
                          <a:srgbClr val="1F2937"/>
                        </a:solidFill>
                        <a:latin typeface="MiSans"/>
                      </a:rPr>
                      <m:t>U</m:t>
                    </m:r>
                    <m:r>
                      <a:rPr lang="en-US" sz="800" noProof="1" i="0">
                        <a:solidFill>
                          <a:srgbClr val="1F2937"/>
                        </a:solidFill>
                        <a:latin typeface="MiSans"/>
                      </a:rPr>
                      <m:t>+</m:t>
                    </m:r>
                    <m:sSub>
                      <m:sSubPr>
                        <m:ctrlPr>
                          <a:rPr lang="en-US" sz="800" noProof="1">
                            <a:solidFill>
                              <a:srgbClr val="1F2937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800" noProof="1" i="1">
                            <a:solidFill>
                              <a:srgbClr val="1F2937"/>
                            </a:solidFill>
                            <a:latin typeface="MiSans"/>
                          </a:rPr>
                          <m:t>u</m:t>
                        </m:r>
                      </m:e>
                      <m:sub>
                        <m:r>
                          <a:rPr lang="en-US" sz="800" noProof="1" i="1">
                            <a:solidFill>
                              <a:srgbClr val="1F2937"/>
                            </a:solidFill>
                            <a:latin typeface="MiSans"/>
                          </a:rPr>
                          <m:t>t</m:t>
                        </m:r>
                      </m:sub>
                    </m:sSub>
                    <m:sSup>
                      <m:sSupPr>
                        <m:ctrlPr>
                          <a:rPr lang="en-US" sz="800" noProof="1">
                            <a:solidFill>
                              <a:srgbClr val="1F2937"/>
                            </a:solidFill>
                            <a:latin typeface="MiSans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800" noProof="1">
                                <a:solidFill>
                                  <a:srgbClr val="1F2937"/>
                                </a:solidFill>
                                <a:latin typeface="MiSans"/>
                              </a:rPr>
                            </m:ctrlPr>
                          </m:accPr>
                          <m:e>
                            <m:r>
                              <a:rPr lang="en-US" sz="800" noProof="1" i="1">
                                <a:solidFill>
                                  <a:srgbClr val="1F2937"/>
                                </a:solidFill>
                                <a:latin typeface="MiSans"/>
                              </a:rPr>
                              <m:t>k</m:t>
                            </m:r>
                          </m:e>
                        </m:acc>
                      </m:e>
                      <m:sup>
                        <m:r>
                          <m:rPr>
                            <m:scr m:val="sans-serif"/>
                          </m:rPr>
                          <a:rPr lang="en-US" sz="800" noProof="1" i="0">
                            <a:solidFill>
                              <a:srgbClr val="1F2937"/>
                            </a:solidFill>
                            <a:latin typeface="MiSans"/>
                          </a:rPr>
                          <m:t>T</m:t>
                        </m:r>
                      </m:sup>
                    </m:sSup>
                    <m:r>
                      <a:rPr lang="en-US" sz="800" noProof="1" i="1">
                        <a:solidFill>
                          <a:srgbClr val="1F2937"/>
                        </a:solidFill>
                        <a:latin typeface="MiSans"/>
                      </a:rPr>
                      <m:t>P</m:t>
                    </m:r>
                    <m:r>
                      <a:rPr lang="en-US" sz="800" noProof="1" i="0">
                        <a:solidFill>
                          <a:srgbClr val="1F2937"/>
                        </a:solidFill>
                        <a:latin typeface="MiSans"/>
                      </a:rPr>
                      <m:t>,</m:t>
                    </m:r>
                    <m:r>
                      <a:rPr lang="en-US" sz="800" noProof="1" i="0">
                        <a:solidFill>
                          <a:srgbClr val="1F2937"/>
                        </a:solidFill>
                        <a:latin typeface="MiSans"/>
                      </a:rPr>
                      <m:t> </m:t>
                    </m:r>
                    <m:r>
                      <a:rPr lang="en-US" sz="800" noProof="1" i="1">
                        <a:solidFill>
                          <a:srgbClr val="1F2937"/>
                        </a:solidFill>
                        <a:latin typeface="MiSans"/>
                      </a:rPr>
                      <m:t>P</m:t>
                    </m:r>
                    <m:r>
                      <a:rPr lang="en-US" sz="800" noProof="1" i="0">
                        <a:solidFill>
                          <a:srgbClr val="1F2937"/>
                        </a:solidFill>
                        <a:latin typeface="MiSans"/>
                      </a:rPr>
                      <m:t>←</m:t>
                    </m:r>
                    <m:sSub>
                      <m:sSubPr>
                        <m:ctrlPr>
                          <a:rPr lang="en-US" sz="800" noProof="1">
                            <a:solidFill>
                              <a:srgbClr val="1F2937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800" noProof="1" i="1">
                            <a:solidFill>
                              <a:srgbClr val="1F2937"/>
                            </a:solidFill>
                            <a:latin typeface="MiSans"/>
                          </a:rPr>
                          <m:t>D</m:t>
                        </m:r>
                      </m:e>
                      <m:sub>
                        <m:r>
                          <a:rPr lang="en-US" sz="800" noProof="1" i="1">
                            <a:solidFill>
                              <a:srgbClr val="1F2937"/>
                            </a:solidFill>
                            <a:latin typeface="MiSans"/>
                          </a:rPr>
                          <m:t>t</m:t>
                        </m:r>
                      </m:sub>
                    </m:sSub>
                    <m:r>
                      <a:rPr lang="en-US" sz="800" noProof="1" i="1">
                        <a:solidFill>
                          <a:srgbClr val="1F2937"/>
                        </a:solidFill>
                        <a:latin typeface="MiSans"/>
                      </a:rPr>
                      <m:t>P</m:t>
                    </m:r>
                  </m:oMath>
                </a14:m>
                <a:r>
                  <a:rPr lang="en-US" sz="1600" noProof="1"/>
                  <a:t xml:space="preserve"> </a:t>
                </a:r>
                <a:endParaRPr lang="en-US" sz="1600" noProof="1"/>
              </a:p>
              <a:p>
                <a:pPr algn="ctr">
                  <a:lnSpc>
                    <a:spcPct val="125000"/>
                  </a:lnSpc>
                  <a:spcBef>
                    <a:spcPts val="200"/>
                  </a:spcBef>
                </a:pPr>
                <a:r>
                  <a:rPr lang="en-US" sz="800" noProof="1">
                    <a:solidFill>
                      <a:srgbClr val="64748B"/>
                    </a:solidFill>
                    <a:latin typeface="MiSans"/>
                    <a:ea typeface="MiSans"/>
                  </a:rPr>
                  <a:t>t=n…1 反向，仅已接受前缀</a:t>
                </a:r>
                <a:endParaRPr lang="en-US" sz="1600" noProof="1"/>
              </a:p>
            </p:txBody>
          </p:sp>
        </mc:Choice>
        <mc:Fallback xmlns="">
          <p:sp>
            <p:nvSpPr>
              <p:cNvPr id="39" name="t-commit"/>
              <p:cNvSpPr txBox="1"/>
              <p:nvPr/>
            </p:nvSpPr>
            <p:spPr>
              <a:xfrm>
                <a:off x="7569200" y="1574800"/>
                <a:ext cx="1752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 anchor="ctr"/>
              <a:lstStyle/>
              <a:p>
                <a:pPr algn="ctr">
                  <a:lnSpc>
                    <a:spcPct val="125000"/>
                  </a:lnSpc>
                </a:pPr>
                <a:r>
                  <a:rPr lang="en-US" sz="1000" noProof="1" b="1">
                    <a:solidFill>
                      <a:srgbClr val="1D4ED8"/>
                    </a:solidFill>
                    <a:latin typeface="MiSans"/>
                    <a:ea typeface="MiSans"/>
                  </a:rPr>
                  <a:t>commit：重建 \(S_{\mathrm{rebuilt}}\)</a:t>
                </a:r>
                <a:endParaRPr lang="en-US" sz="1600" noProof="1"/>
              </a:p>
              <a:p>
                <a:pPr algn="ctr">
                  <a:lnSpc>
                    <a:spcPct val="125000"/>
                  </a:lnSpc>
                  <a:spcBef>
                    <a:spcPts val="300"/>
                  </a:spcBef>
                </a:pPr>
                <a:r>
                  <a:rPr lang="en-US" sz="800" noProof="1">
                    <a:solidFill>
                      <a:srgbClr val="1F2937"/>
                    </a:solidFill>
                    <a:latin typeface="MiSans"/>
                    <a:ea typeface="MiSans"/>
                  </a:rPr>
                  <a:t>\(U\leftarrow U+u_t\hat{k}^{\mathsf{T}}P,\ P\leftarrow D_tP\)</a:t>
                </a:r>
                <a:endParaRPr lang="en-US" sz="1600" noProof="1"/>
              </a:p>
              <a:p>
                <a:pPr algn="ctr">
                  <a:lnSpc>
                    <a:spcPct val="125000"/>
                  </a:lnSpc>
                  <a:spcBef>
                    <a:spcPts val="200"/>
                  </a:spcBef>
                </a:pPr>
                <a:r>
                  <a:rPr lang="en-US" sz="800" noProof="1">
                    <a:solidFill>
                      <a:srgbClr val="64748B"/>
                    </a:solidFill>
                    <a:latin typeface="MiSans"/>
                    <a:ea typeface="MiSans"/>
                  </a:rPr>
                  <a:t>t=n…1 反向，仅已接受前缀</a:t>
                </a:r>
                <a:endParaRPr lang="en-US" sz="1600" noProof="1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-prev"/>
              <p:cNvSpPr txBox="1"/>
              <p:nvPr/>
            </p:nvSpPr>
            <p:spPr>
              <a:xfrm>
                <a:off x="520700" y="3225800"/>
                <a:ext cx="1752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 anchor="ctr"/>
              <a:lstStyle/>
              <a:p>
                <a:pPr algn="ctr">
                  <a:lnSpc>
                    <a:spcPct val="125000"/>
                  </a:lnSpc>
                </a:pPr>
                <a:r>
                  <a:rPr lang="en-US" sz="1000" noProof="1" b="1">
                    <a:solidFill>
                      <a:srgbClr val="6D28D9"/>
                    </a:solidFill>
                    <a:latin typeface="MiSans"/>
                    <a:ea typeface="MiSans"/>
                  </a:rPr>
                  <a:t>原生 state 槽位</a:t>
                </a:r>
                <a:endParaRPr lang="en-US" sz="1600" noProof="1"/>
              </a:p>
              <a:p>
                <a:pPr algn="ctr">
                  <a:lnSpc>
                    <a:spcPct val="125000"/>
                  </a:lnSpc>
                  <a:spcBef>
                    <a:spcPts val="300"/>
                  </a:spcBef>
                </a:pPr>
                <a:r>
                  <a:rPr lang="en-US" sz="800" noProof="1">
                    <a:solidFill>
                      <a:srgbClr val="1F2937"/>
                    </a:solidFill>
                    <a:latin typeface="MiSans"/>
                    <a:ea typeface="MiSans"/>
                  </a:rPr>
                  <a:t>已提交 checkpoint </a:t>
                </a:r>
                <a14:m>
                  <m:oMath>
                    <m:sSub>
                      <m:sSubPr>
                        <m:ctrlPr>
                          <a:rPr lang="en-US" sz="800" noProof="1">
                            <a:solidFill>
                              <a:srgbClr val="1F2937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800" noProof="1" i="1">
                            <a:solidFill>
                              <a:srgbClr val="1F2937"/>
                            </a:solidFill>
                            <a:latin typeface="MiSans"/>
                          </a:rPr>
                          <m:t>S</m:t>
                        </m:r>
                      </m:e>
                      <m:sub>
                        <m:r>
                          <a:rPr lang="en-US" sz="800" noProof="1" i="0">
                            <a:solidFill>
                              <a:srgbClr val="1F2937"/>
                            </a:solidFill>
                            <a:latin typeface="MiSans"/>
                          </a:rPr>
                          <m:t>0</m:t>
                        </m:r>
                      </m:sub>
                    </m:sSub>
                  </m:oMath>
                </a14:m>
                <a:endParaRPr lang="en-US" sz="1600" noProof="1"/>
              </a:p>
              <a:p>
                <a:pPr algn="ctr">
                  <a:lnSpc>
                    <a:spcPct val="125000"/>
                  </a:lnSpc>
                  <a:spcBef>
                    <a:spcPts val="200"/>
                  </a:spcBef>
                </a:pPr>
                <a:r>
                  <a:rPr lang="en-US" sz="800" noProof="1">
                    <a:solidFill>
                      <a:srgbClr val="64748B"/>
                    </a:solidFill>
                    <a:latin typeface="MiSans"/>
                    <a:ea typeface="MiSans"/>
                  </a:rPr>
                  <a:t>每槽位 H×V×K 矩阵</a:t>
                </a:r>
                <a:endParaRPr lang="en-US" sz="1600" noProof="1"/>
              </a:p>
            </p:txBody>
          </p:sp>
        </mc:Choice>
        <mc:Fallback xmlns="">
          <p:sp>
            <p:nvSpPr>
              <p:cNvPr id="40" name="t-prev"/>
              <p:cNvSpPr txBox="1"/>
              <p:nvPr/>
            </p:nvSpPr>
            <p:spPr>
              <a:xfrm>
                <a:off x="520700" y="3225800"/>
                <a:ext cx="1752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 anchor="ctr"/>
              <a:lstStyle/>
              <a:p>
                <a:pPr algn="ctr">
                  <a:lnSpc>
                    <a:spcPct val="125000"/>
                  </a:lnSpc>
                </a:pPr>
                <a:r>
                  <a:rPr lang="en-US" sz="1000" noProof="1" b="1">
                    <a:solidFill>
                      <a:srgbClr val="6D28D9"/>
                    </a:solidFill>
                    <a:latin typeface="MiSans"/>
                    <a:ea typeface="MiSans"/>
                  </a:rPr>
                  <a:t>原生 state 槽位</a:t>
                </a:r>
                <a:endParaRPr lang="en-US" sz="1600" noProof="1"/>
              </a:p>
              <a:p>
                <a:pPr algn="ctr">
                  <a:lnSpc>
                    <a:spcPct val="125000"/>
                  </a:lnSpc>
                  <a:spcBef>
                    <a:spcPts val="300"/>
                  </a:spcBef>
                </a:pPr>
                <a:r>
                  <a:rPr lang="en-US" sz="800" noProof="1">
                    <a:solidFill>
                      <a:srgbClr val="1F2937"/>
                    </a:solidFill>
                    <a:latin typeface="MiSans"/>
                    <a:ea typeface="MiSans"/>
                  </a:rPr>
                  <a:t>已提交 checkpoint \(S_0\)</a:t>
                </a:r>
                <a:endParaRPr lang="en-US" sz="1600" noProof="1"/>
              </a:p>
              <a:p>
                <a:pPr algn="ctr">
                  <a:lnSpc>
                    <a:spcPct val="125000"/>
                  </a:lnSpc>
                  <a:spcBef>
                    <a:spcPts val="200"/>
                  </a:spcBef>
                </a:pPr>
                <a:r>
                  <a:rPr lang="en-US" sz="800" noProof="1">
                    <a:solidFill>
                      <a:srgbClr val="64748B"/>
                    </a:solidFill>
                    <a:latin typeface="MiSans"/>
                    <a:ea typeface="MiSans"/>
                  </a:rPr>
                  <a:t>每槽位 H×V×K 矩阵</a:t>
                </a:r>
                <a:endParaRPr lang="en-US" sz="1600" noProof="1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-records"/>
              <p:cNvSpPr txBox="1"/>
              <p:nvPr/>
            </p:nvSpPr>
            <p:spPr>
              <a:xfrm>
                <a:off x="2870200" y="3225800"/>
                <a:ext cx="1752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 anchor="ctr"/>
              <a:lstStyle/>
              <a:p>
                <a:pPr algn="ctr">
                  <a:lnSpc>
                    <a:spcPct val="125000"/>
                  </a:lnSpc>
                </a:pPr>
                <a:r>
                  <a:rPr lang="en-US" sz="1000" noProof="1" b="1">
                    <a:solidFill>
                      <a:srgbClr val="6D28D9"/>
                    </a:solidFill>
                    <a:latin typeface="MiSans"/>
                    <a:ea typeface="MiSans"/>
                  </a:rPr>
                  <a:t>存储向量记录 R_t</a:t>
                </a:r>
                <a:endParaRPr lang="en-US" sz="1600" noProof="1"/>
              </a:p>
              <a:p>
                <a:pPr algn="ctr">
                  <a:lnSpc>
                    <a:spcPct val="125000"/>
                  </a:lnSpc>
                  <a:spcBef>
                    <a:spcPts val="300"/>
                  </a:spcBef>
                </a:pPr>
                <a14:m>
                  <m:oMath>
                    <m:sSub>
                      <m:sSubPr>
                        <m:ctrlPr>
                          <a:rPr lang="en-US" sz="800" noProof="1">
                            <a:solidFill>
                              <a:srgbClr val="1F2937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800" noProof="1" i="1">
                            <a:solidFill>
                              <a:srgbClr val="1F2937"/>
                            </a:solidFill>
                            <a:latin typeface="MiSans"/>
                          </a:rPr>
                          <m:t>R</m:t>
                        </m:r>
                      </m:e>
                      <m:sub>
                        <m:r>
                          <a:rPr lang="en-US" sz="800" noProof="1" i="1">
                            <a:solidFill>
                              <a:srgbClr val="1F2937"/>
                            </a:solidFill>
                            <a:latin typeface="MiSans"/>
                          </a:rPr>
                          <m:t>t</m:t>
                        </m:r>
                      </m:sub>
                    </m:sSub>
                    <m:r>
                      <a:rPr lang="en-US" sz="800" noProof="1" i="0">
                        <a:solidFill>
                          <a:srgbClr val="1F2937"/>
                        </a:solidFill>
                        <a:latin typeface="MiSans"/>
                      </a:rPr>
                      <m:t>=</m:t>
                    </m:r>
                    <m:r>
                      <a:rPr lang="en-US" sz="800" noProof="1" i="0">
                        <a:solidFill>
                          <a:srgbClr val="1F2937"/>
                        </a:solidFill>
                        <a:latin typeface="MiSans"/>
                      </a:rPr>
                      <m:t>(</m:t>
                    </m:r>
                    <m:sSub>
                      <m:sSubPr>
                        <m:ctrlPr>
                          <a:rPr lang="en-US" sz="800" noProof="1">
                            <a:solidFill>
                              <a:srgbClr val="1F2937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800" noProof="1" i="1">
                            <a:solidFill>
                              <a:srgbClr val="1F2937"/>
                            </a:solidFill>
                            <a:latin typeface="MiSans"/>
                          </a:rPr>
                          <m:t>u</m:t>
                        </m:r>
                      </m:e>
                      <m:sub>
                        <m:r>
                          <a:rPr lang="en-US" sz="800" noProof="1" i="1">
                            <a:solidFill>
                              <a:srgbClr val="1F2937"/>
                            </a:solidFill>
                            <a:latin typeface="MiSans"/>
                          </a:rPr>
                          <m:t>t</m:t>
                        </m:r>
                      </m:sub>
                    </m:sSub>
                    <m:r>
                      <a:rPr lang="en-US" sz="800" noProof="1" i="0">
                        <a:solidFill>
                          <a:srgbClr val="1F2937"/>
                        </a:solidFill>
                        <a:latin typeface="MiSans"/>
                      </a:rPr>
                      <m:t>,</m:t>
                    </m:r>
                    <m:r>
                      <a:rPr lang="en-US" sz="800" noProof="1" i="0">
                        <a:solidFill>
                          <a:srgbClr val="1F2937"/>
                        </a:solidFill>
                        <a:latin typeface="MiSans"/>
                      </a:rPr>
                      <m:t> </m:t>
                    </m:r>
                    <m:sSub>
                      <m:sSubPr>
                        <m:ctrlPr>
                          <a:rPr lang="en-US" sz="800" noProof="1">
                            <a:solidFill>
                              <a:srgbClr val="1F2937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800" noProof="1" i="1">
                            <a:solidFill>
                              <a:srgbClr val="1F2937"/>
                            </a:solidFill>
                            <a:latin typeface="MiSans"/>
                          </a:rPr>
                          <m:t>k</m:t>
                        </m:r>
                      </m:e>
                      <m:sub>
                        <m:r>
                          <a:rPr lang="en-US" sz="800" noProof="1" i="1">
                            <a:solidFill>
                              <a:srgbClr val="1F2937"/>
                            </a:solidFill>
                            <a:latin typeface="MiSans"/>
                          </a:rPr>
                          <m:t>t</m:t>
                        </m:r>
                      </m:sub>
                    </m:sSub>
                    <m:r>
                      <a:rPr lang="en-US" sz="800" noProof="1" i="0">
                        <a:solidFill>
                          <a:srgbClr val="1F2937"/>
                        </a:solidFill>
                        <a:latin typeface="MiSans"/>
                      </a:rPr>
                      <m:t>,</m:t>
                    </m:r>
                    <m:r>
                      <a:rPr lang="en-US" sz="800" noProof="1" i="0">
                        <a:solidFill>
                          <a:srgbClr val="1F2937"/>
                        </a:solidFill>
                        <a:latin typeface="MiSans"/>
                      </a:rPr>
                      <m:t> </m:t>
                    </m:r>
                    <m:sSubSup>
                      <m:sSubSupPr>
                        <m:ctrlPr>
                          <a:rPr lang="en-US" sz="800" noProof="1">
                            <a:solidFill>
                              <a:srgbClr val="1F2937"/>
                            </a:solidFill>
                            <a:latin typeface="MiSans"/>
                          </a:rPr>
                        </m:ctrlPr>
                      </m:sSubSupPr>
                      <m:e>
                        <m:r>
                          <a:rPr lang="en-US" sz="800" noProof="1" i="1">
                            <a:solidFill>
                              <a:srgbClr val="1F2937"/>
                            </a:solidFill>
                            <a:latin typeface="MiSans"/>
                          </a:rPr>
                          <m:t>g</m:t>
                        </m:r>
                      </m:e>
                      <m:sub>
                        <m:r>
                          <a:rPr lang="en-US" sz="800" noProof="1" i="1">
                            <a:solidFill>
                              <a:srgbClr val="1F2937"/>
                            </a:solidFill>
                            <a:latin typeface="MiSans"/>
                          </a:rPr>
                          <m:t>t</m:t>
                        </m:r>
                      </m:sub>
                      <m:sup>
                        <m:r>
                          <a:rPr lang="en-US" sz="800" noProof="1" i="0">
                            <a:solidFill>
                              <a:srgbClr val="1F2937"/>
                            </a:solidFill>
                            <a:latin typeface="MiSans"/>
                          </a:rPr>
                          <m:t>r</m:t>
                        </m:r>
                        <m:r>
                          <a:rPr lang="en-US" sz="800" noProof="1" i="0">
                            <a:solidFill>
                              <a:srgbClr val="1F2937"/>
                            </a:solidFill>
                            <a:latin typeface="MiSans"/>
                          </a:rPr>
                          <m:t>a</m:t>
                        </m:r>
                        <m:r>
                          <a:rPr lang="en-US" sz="800" noProof="1" i="0">
                            <a:solidFill>
                              <a:srgbClr val="1F2937"/>
                            </a:solidFill>
                            <a:latin typeface="MiSans"/>
                          </a:rPr>
                          <m:t>w</m:t>
                        </m:r>
                      </m:sup>
                    </m:sSubSup>
                    <m:r>
                      <a:rPr lang="en-US" sz="800" noProof="1" i="0">
                        <a:solidFill>
                          <a:srgbClr val="1F2937"/>
                        </a:solidFill>
                        <a:latin typeface="MiSans"/>
                      </a:rPr>
                      <m:t>)</m:t>
                    </m:r>
                  </m:oMath>
                </a14:m>
                <a:r>
                  <a:rPr lang="en-US" sz="1600" noProof="1"/>
                  <a:t xml:space="preserve"> </a:t>
                </a:r>
                <a:endParaRPr lang="en-US" sz="1600" noProof="1"/>
              </a:p>
              <a:p>
                <a:pPr algn="ctr">
                  <a:lnSpc>
                    <a:spcPct val="125000"/>
                  </a:lnSpc>
                  <a:spcBef>
                    <a:spcPts val="200"/>
                  </a:spcBef>
                </a:pPr>
                <a:r>
                  <a:rPr lang="en-US" sz="800" noProof="1">
                    <a:solidFill>
                      <a:srgbClr val="64748B"/>
                    </a:solidFill>
                    <a:latin typeface="MiSans"/>
                    <a:ea typeface="MiSans"/>
                  </a:rPr>
                  <a:t>pending：仅本同步步有效</a:t>
                </a:r>
                <a:endParaRPr lang="en-US" sz="1600" noProof="1"/>
              </a:p>
            </p:txBody>
          </p:sp>
        </mc:Choice>
        <mc:Fallback xmlns="">
          <p:sp>
            <p:nvSpPr>
              <p:cNvPr id="41" name="t-records"/>
              <p:cNvSpPr txBox="1"/>
              <p:nvPr/>
            </p:nvSpPr>
            <p:spPr>
              <a:xfrm>
                <a:off x="2870200" y="3225800"/>
                <a:ext cx="1752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 anchor="ctr"/>
              <a:lstStyle/>
              <a:p>
                <a:pPr algn="ctr">
                  <a:lnSpc>
                    <a:spcPct val="125000"/>
                  </a:lnSpc>
                </a:pPr>
                <a:r>
                  <a:rPr lang="en-US" sz="1000" noProof="1" b="1">
                    <a:solidFill>
                      <a:srgbClr val="6D28D9"/>
                    </a:solidFill>
                    <a:latin typeface="MiSans"/>
                    <a:ea typeface="MiSans"/>
                  </a:rPr>
                  <a:t>存储向量记录 R_t</a:t>
                </a:r>
                <a:endParaRPr lang="en-US" sz="1600" noProof="1"/>
              </a:p>
              <a:p>
                <a:pPr algn="ctr">
                  <a:lnSpc>
                    <a:spcPct val="125000"/>
                  </a:lnSpc>
                  <a:spcBef>
                    <a:spcPts val="300"/>
                  </a:spcBef>
                </a:pPr>
                <a:r>
                  <a:rPr lang="en-US" sz="800" noProof="1">
                    <a:solidFill>
                      <a:srgbClr val="1F2937"/>
                    </a:solidFill>
                    <a:latin typeface="MiSans"/>
                    <a:ea typeface="MiSans"/>
                  </a:rPr>
                  <a:t>\(R_t=(u_t,\ k_t,\ g^{\mathrm{raw}}_t)\)</a:t>
                </a:r>
                <a:endParaRPr lang="en-US" sz="1600" noProof="1"/>
              </a:p>
              <a:p>
                <a:pPr algn="ctr">
                  <a:lnSpc>
                    <a:spcPct val="125000"/>
                  </a:lnSpc>
                  <a:spcBef>
                    <a:spcPts val="200"/>
                  </a:spcBef>
                </a:pPr>
                <a:r>
                  <a:rPr lang="en-US" sz="800" noProof="1">
                    <a:solidFill>
                      <a:srgbClr val="64748B"/>
                    </a:solidFill>
                    <a:latin typeface="MiSans"/>
                    <a:ea typeface="MiSans"/>
                  </a:rPr>
                  <a:t>pending：仅本同步步有效</a:t>
                </a:r>
                <a:endParaRPr lang="en-US" sz="1600" noProof="1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-mirror"/>
              <p:cNvSpPr txBox="1"/>
              <p:nvPr/>
            </p:nvSpPr>
            <p:spPr>
              <a:xfrm>
                <a:off x="7569200" y="3225800"/>
                <a:ext cx="1752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 anchor="ctr"/>
              <a:lstStyle/>
              <a:p>
                <a:pPr algn="ctr">
                  <a:lnSpc>
                    <a:spcPct val="125000"/>
                  </a:lnSpc>
                </a:pPr>
                <a:r>
                  <a:rPr lang="en-US" sz="1000" noProof="1" b="1">
                    <a:solidFill>
                      <a:srgbClr val="6D28D9"/>
                    </a:solidFill>
                    <a:latin typeface="MiSans"/>
                    <a:ea typeface="MiSans"/>
                  </a:rPr>
                  <a:t>更新 recurrent state</a:t>
                </a:r>
                <a:endParaRPr lang="en-US" sz="1600" noProof="1"/>
              </a:p>
              <a:p>
                <a:pPr algn="ctr">
                  <a:lnSpc>
                    <a:spcPct val="125000"/>
                  </a:lnSpc>
                  <a:spcBef>
                    <a:spcPts val="300"/>
                  </a:spcBef>
                </a:pPr>
                <a14:m>
                  <m:oMath>
                    <m:sSub>
                      <m:sSubPr>
                        <m:ctrlPr>
                          <a:rPr lang="en-US" sz="800" noProof="1">
                            <a:solidFill>
                              <a:srgbClr val="1F2937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800" noProof="1" i="1">
                            <a:solidFill>
                              <a:srgbClr val="1F2937"/>
                            </a:solidFill>
                            <a:latin typeface="MiSans"/>
                          </a:rPr>
                          <m:t>S</m:t>
                        </m:r>
                      </m:e>
                      <m:sub>
                        <m:r>
                          <a:rPr lang="en-US" sz="800" noProof="1" i="0">
                            <a:solidFill>
                              <a:srgbClr val="1F2937"/>
                            </a:solidFill>
                            <a:latin typeface="MiSans"/>
                          </a:rPr>
                          <m:t>r</m:t>
                        </m:r>
                        <m:r>
                          <a:rPr lang="en-US" sz="800" noProof="1" i="0">
                            <a:solidFill>
                              <a:srgbClr val="1F2937"/>
                            </a:solidFill>
                            <a:latin typeface="MiSans"/>
                          </a:rPr>
                          <m:t>e</m:t>
                        </m:r>
                        <m:r>
                          <a:rPr lang="en-US" sz="800" noProof="1" i="0">
                            <a:solidFill>
                              <a:srgbClr val="1F2937"/>
                            </a:solidFill>
                            <a:latin typeface="MiSans"/>
                          </a:rPr>
                          <m:t>b</m:t>
                        </m:r>
                        <m:r>
                          <a:rPr lang="en-US" sz="800" noProof="1" i="0">
                            <a:solidFill>
                              <a:srgbClr val="1F2937"/>
                            </a:solidFill>
                            <a:latin typeface="MiSans"/>
                          </a:rPr>
                          <m:t>u</m:t>
                        </m:r>
                        <m:r>
                          <a:rPr lang="en-US" sz="800" noProof="1" i="0">
                            <a:solidFill>
                              <a:srgbClr val="1F2937"/>
                            </a:solidFill>
                            <a:latin typeface="MiSans"/>
                          </a:rPr>
                          <m:t>i</m:t>
                        </m:r>
                        <m:r>
                          <a:rPr lang="en-US" sz="800" noProof="1" i="0">
                            <a:solidFill>
                              <a:srgbClr val="1F2937"/>
                            </a:solidFill>
                            <a:latin typeface="MiSans"/>
                          </a:rPr>
                          <m:t>l</m:t>
                        </m:r>
                        <m:r>
                          <a:rPr lang="en-US" sz="800" noProof="1" i="0">
                            <a:solidFill>
                              <a:srgbClr val="1F2937"/>
                            </a:solidFill>
                            <a:latin typeface="MiSans"/>
                          </a:rPr>
                          <m:t>t</m:t>
                        </m:r>
                      </m:sub>
                    </m:sSub>
                  </m:oMath>
                </a14:m>
                <a:r>
                  <a:rPr lang="en-US" sz="800" noProof="1">
                    <a:solidFill>
                      <a:srgbClr val="1F2937"/>
                    </a:solidFill>
                    <a:latin typeface="MiSans"/>
                    <a:ea typeface="MiSans"/>
                  </a:rPr>
                  <a:t> 写回原生 slot</a:t>
                </a:r>
                <a:endParaRPr lang="en-US" sz="1600" noProof="1"/>
              </a:p>
              <a:p>
                <a:pPr algn="ctr">
                  <a:lnSpc>
                    <a:spcPct val="125000"/>
                  </a:lnSpc>
                  <a:spcBef>
                    <a:spcPts val="200"/>
                  </a:spcBef>
                </a:pPr>
                <a:r>
                  <a:rPr lang="en-US" sz="800" noProof="1">
                    <a:solidFill>
                      <a:srgbClr val="64748B"/>
                    </a:solidFill>
                    <a:latin typeface="MiSans"/>
                    <a:ea typeface="MiSans"/>
                  </a:rPr>
                  <a:t>镜像全部槽位，释放 R_t</a:t>
                </a:r>
                <a:endParaRPr lang="en-US" sz="1600" noProof="1"/>
              </a:p>
            </p:txBody>
          </p:sp>
        </mc:Choice>
        <mc:Fallback xmlns="">
          <p:sp>
            <p:nvSpPr>
              <p:cNvPr id="42" name="t-mirror"/>
              <p:cNvSpPr txBox="1"/>
              <p:nvPr/>
            </p:nvSpPr>
            <p:spPr>
              <a:xfrm>
                <a:off x="7569200" y="3225800"/>
                <a:ext cx="1752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 anchor="ctr"/>
              <a:lstStyle/>
              <a:p>
                <a:pPr algn="ctr">
                  <a:lnSpc>
                    <a:spcPct val="125000"/>
                  </a:lnSpc>
                </a:pPr>
                <a:r>
                  <a:rPr lang="en-US" sz="1000" noProof="1" b="1">
                    <a:solidFill>
                      <a:srgbClr val="6D28D9"/>
                    </a:solidFill>
                    <a:latin typeface="MiSans"/>
                    <a:ea typeface="MiSans"/>
                  </a:rPr>
                  <a:t>更新 recurrent state</a:t>
                </a:r>
                <a:endParaRPr lang="en-US" sz="1600" noProof="1"/>
              </a:p>
              <a:p>
                <a:pPr algn="ctr">
                  <a:lnSpc>
                    <a:spcPct val="125000"/>
                  </a:lnSpc>
                  <a:spcBef>
                    <a:spcPts val="300"/>
                  </a:spcBef>
                </a:pPr>
                <a:r>
                  <a:rPr lang="en-US" sz="800" noProof="1">
                    <a:solidFill>
                      <a:srgbClr val="1F2937"/>
                    </a:solidFill>
                    <a:latin typeface="MiSans"/>
                    <a:ea typeface="MiSans"/>
                  </a:rPr>
                  <a:t>\(S_{\mathrm{rebuilt}}\) 写回原生 slot</a:t>
                </a:r>
                <a:endParaRPr lang="en-US" sz="1600" noProof="1"/>
              </a:p>
              <a:p>
                <a:pPr algn="ctr">
                  <a:lnSpc>
                    <a:spcPct val="125000"/>
                  </a:lnSpc>
                  <a:spcBef>
                    <a:spcPts val="200"/>
                  </a:spcBef>
                </a:pPr>
                <a:r>
                  <a:rPr lang="en-US" sz="800" noProof="1">
                    <a:solidFill>
                      <a:srgbClr val="64748B"/>
                    </a:solidFill>
                    <a:latin typeface="MiSans"/>
                    <a:ea typeface="MiSans"/>
                  </a:rPr>
                  <a:t>镜像全部槽位，释放 R_t</a:t>
                </a:r>
                <a:endParaRPr lang="en-US" sz="1600" noProof="1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-next"/>
              <p:cNvSpPr txBox="1"/>
              <p:nvPr/>
            </p:nvSpPr>
            <p:spPr>
              <a:xfrm>
                <a:off x="9918700" y="3225800"/>
                <a:ext cx="1752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 anchor="ctr"/>
              <a:lstStyle/>
              <a:p>
                <a:pPr algn="ctr">
                  <a:lnSpc>
                    <a:spcPct val="125000"/>
                  </a:lnSpc>
                </a:pPr>
                <a:r>
                  <a:rPr lang="en-US" sz="1000" noProof="1" b="1">
                    <a:solidFill>
                      <a:srgbClr val="6D28D9"/>
                    </a:solidFill>
                    <a:latin typeface="MiSans"/>
                    <a:ea typeface="MiSans"/>
                  </a:rPr>
                  <a:t>下一轮 verify</a:t>
                </a:r>
                <a:endParaRPr lang="en-US" sz="1600" noProof="1"/>
              </a:p>
              <a:p>
                <a:pPr algn="ctr">
                  <a:lnSpc>
                    <a:spcPct val="125000"/>
                  </a:lnSpc>
                  <a:spcBef>
                    <a:spcPts val="300"/>
                  </a:spcBef>
                </a:pPr>
                <a:r>
                  <a:rPr lang="en-US" sz="800" noProof="1">
                    <a:solidFill>
                      <a:srgbClr val="1F2937"/>
                    </a:solidFill>
                    <a:latin typeface="MiSans"/>
                    <a:ea typeface="MiSans"/>
                  </a:rPr>
                  <a:t>以 </a:t>
                </a:r>
                <a14:m>
                  <m:oMath>
                    <m:sSub>
                      <m:sSubPr>
                        <m:ctrlPr>
                          <a:rPr lang="en-US" sz="800" noProof="1">
                            <a:solidFill>
                              <a:srgbClr val="1F2937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800" noProof="1" i="1">
                            <a:solidFill>
                              <a:srgbClr val="1F2937"/>
                            </a:solidFill>
                            <a:latin typeface="MiSans"/>
                          </a:rPr>
                          <m:t>S</m:t>
                        </m:r>
                      </m:e>
                      <m:sub>
                        <m:r>
                          <a:rPr lang="en-US" sz="800" noProof="1" i="0">
                            <a:solidFill>
                              <a:srgbClr val="1F2937"/>
                            </a:solidFill>
                            <a:latin typeface="MiSans"/>
                          </a:rPr>
                          <m:t>r</m:t>
                        </m:r>
                        <m:r>
                          <a:rPr lang="en-US" sz="800" noProof="1" i="0">
                            <a:solidFill>
                              <a:srgbClr val="1F2937"/>
                            </a:solidFill>
                            <a:latin typeface="MiSans"/>
                          </a:rPr>
                          <m:t>e</m:t>
                        </m:r>
                        <m:r>
                          <a:rPr lang="en-US" sz="800" noProof="1" i="0">
                            <a:solidFill>
                              <a:srgbClr val="1F2937"/>
                            </a:solidFill>
                            <a:latin typeface="MiSans"/>
                          </a:rPr>
                          <m:t>b</m:t>
                        </m:r>
                        <m:r>
                          <a:rPr lang="en-US" sz="800" noProof="1" i="0">
                            <a:solidFill>
                              <a:srgbClr val="1F2937"/>
                            </a:solidFill>
                            <a:latin typeface="MiSans"/>
                          </a:rPr>
                          <m:t>u</m:t>
                        </m:r>
                        <m:r>
                          <a:rPr lang="en-US" sz="800" noProof="1" i="0">
                            <a:solidFill>
                              <a:srgbClr val="1F2937"/>
                            </a:solidFill>
                            <a:latin typeface="MiSans"/>
                          </a:rPr>
                          <m:t>i</m:t>
                        </m:r>
                        <m:r>
                          <a:rPr lang="en-US" sz="800" noProof="1" i="0">
                            <a:solidFill>
                              <a:srgbClr val="1F2937"/>
                            </a:solidFill>
                            <a:latin typeface="MiSans"/>
                          </a:rPr>
                          <m:t>l</m:t>
                        </m:r>
                        <m:r>
                          <a:rPr lang="en-US" sz="800" noProof="1" i="0">
                            <a:solidFill>
                              <a:srgbClr val="1F2937"/>
                            </a:solidFill>
                            <a:latin typeface="MiSans"/>
                          </a:rPr>
                          <m:t>t</m:t>
                        </m:r>
                      </m:sub>
                    </m:sSub>
                  </m:oMath>
                </a14:m>
                <a:r>
                  <a:rPr lang="en-US" sz="800" noProof="1">
                    <a:solidFill>
                      <a:srgbClr val="1F2937"/>
                    </a:solidFill>
                    <a:latin typeface="MiSans"/>
                    <a:ea typeface="MiSans"/>
                  </a:rPr>
                  <a:t> 为新 </a:t>
                </a:r>
                <a14:m>
                  <m:oMath>
                    <m:sSub>
                      <m:sSubPr>
                        <m:ctrlPr>
                          <a:rPr lang="en-US" sz="800" noProof="1">
                            <a:solidFill>
                              <a:srgbClr val="1F2937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800" noProof="1" i="1">
                            <a:solidFill>
                              <a:srgbClr val="1F2937"/>
                            </a:solidFill>
                            <a:latin typeface="MiSans"/>
                          </a:rPr>
                          <m:t>S</m:t>
                        </m:r>
                      </m:e>
                      <m:sub>
                        <m:r>
                          <a:rPr lang="en-US" sz="800" noProof="1" i="0">
                            <a:solidFill>
                              <a:srgbClr val="1F2937"/>
                            </a:solidFill>
                            <a:latin typeface="MiSans"/>
                          </a:rPr>
                          <m:t>0</m:t>
                        </m:r>
                      </m:sub>
                    </m:sSub>
                  </m:oMath>
                </a14:m>
                <a:endParaRPr lang="en-US" sz="1600" noProof="1"/>
              </a:p>
              <a:p>
                <a:pPr algn="ctr">
                  <a:lnSpc>
                    <a:spcPct val="125000"/>
                  </a:lnSpc>
                  <a:spcBef>
                    <a:spcPts val="200"/>
                  </a:spcBef>
                </a:pPr>
                <a:r>
                  <a:rPr lang="en-US" sz="800" noProof="1">
                    <a:solidFill>
                      <a:srgbClr val="64748B"/>
                    </a:solidFill>
                    <a:latin typeface="MiSans"/>
                    <a:ea typeface="MiSans"/>
                  </a:rPr>
                  <a:t>沿用原生复制/索引契约</a:t>
                </a:r>
                <a:endParaRPr lang="en-US" sz="1600" noProof="1"/>
              </a:p>
            </p:txBody>
          </p:sp>
        </mc:Choice>
        <mc:Fallback xmlns="">
          <p:sp>
            <p:nvSpPr>
              <p:cNvPr id="43" name="t-next"/>
              <p:cNvSpPr txBox="1"/>
              <p:nvPr/>
            </p:nvSpPr>
            <p:spPr>
              <a:xfrm>
                <a:off x="9918700" y="3225800"/>
                <a:ext cx="1752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 anchor="ctr"/>
              <a:lstStyle/>
              <a:p>
                <a:pPr algn="ctr">
                  <a:lnSpc>
                    <a:spcPct val="125000"/>
                  </a:lnSpc>
                </a:pPr>
                <a:r>
                  <a:rPr lang="en-US" sz="1000" noProof="1" b="1">
                    <a:solidFill>
                      <a:srgbClr val="6D28D9"/>
                    </a:solidFill>
                    <a:latin typeface="MiSans"/>
                    <a:ea typeface="MiSans"/>
                  </a:rPr>
                  <a:t>下一轮 verify</a:t>
                </a:r>
                <a:endParaRPr lang="en-US" sz="1600" noProof="1"/>
              </a:p>
              <a:p>
                <a:pPr algn="ctr">
                  <a:lnSpc>
                    <a:spcPct val="125000"/>
                  </a:lnSpc>
                  <a:spcBef>
                    <a:spcPts val="300"/>
                  </a:spcBef>
                </a:pPr>
                <a:r>
                  <a:rPr lang="en-US" sz="800" noProof="1">
                    <a:solidFill>
                      <a:srgbClr val="1F2937"/>
                    </a:solidFill>
                    <a:latin typeface="MiSans"/>
                    <a:ea typeface="MiSans"/>
                  </a:rPr>
                  <a:t>以 \(S_{\mathrm{rebuilt}}\) 为新 \(S_0\)</a:t>
                </a:r>
                <a:endParaRPr lang="en-US" sz="1600" noProof="1"/>
              </a:p>
              <a:p>
                <a:pPr algn="ctr">
                  <a:lnSpc>
                    <a:spcPct val="125000"/>
                  </a:lnSpc>
                  <a:spcBef>
                    <a:spcPts val="200"/>
                  </a:spcBef>
                </a:pPr>
                <a:r>
                  <a:rPr lang="en-US" sz="800" noProof="1">
                    <a:solidFill>
                      <a:srgbClr val="64748B"/>
                    </a:solidFill>
                    <a:latin typeface="MiSans"/>
                    <a:ea typeface="MiSans"/>
                  </a:rPr>
                  <a:t>沿用原生复制/索引契约</a:t>
                </a:r>
                <a:endParaRPr lang="en-US" sz="1600" noProof="1"/>
              </a:p>
            </p:txBody>
          </p:sp>
        </mc:Fallback>
      </mc:AlternateContent>
      <p:sp>
        <p:nvSpPr>
          <p:cNvPr id="44" name="t-draft"/>
          <p:cNvSpPr txBox="1"/>
          <p:nvPr/>
        </p:nvSpPr>
        <p:spPr>
          <a:xfrm>
            <a:off x="9918700" y="4826000"/>
            <a:ext cx="17526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5000"/>
              </a:lnSpc>
            </a:pPr>
            <a:r>
              <a:rPr lang="en-US" sz="1000" noProof="1" b="1">
                <a:solidFill>
                  <a:srgbClr val="047857"/>
                </a:solidFill>
                <a:latin typeface="MiSans"/>
                <a:ea typeface="MiSans"/>
              </a:rPr>
              <a:t>草稿模型前向</a:t>
            </a:r>
            <a:endParaRPr lang="en-US" sz="1600" noProof="1"/>
          </a:p>
          <a:p>
            <a:pPr algn="ctr">
              <a:lnSpc>
                <a:spcPct val="125000"/>
              </a:lnSpc>
              <a:spcBef>
                <a:spcPts val="300"/>
              </a:spcBef>
            </a:pPr>
            <a:r>
              <a:rPr lang="en-US" sz="800" noProof="1">
                <a:solidFill>
                  <a:srgbClr val="1F2937"/>
                </a:solidFill>
                <a:latin typeface="MiSans"/>
                <a:ea typeface="MiSans"/>
              </a:rPr>
              <a:t>commit 完成后才起草</a:t>
            </a:r>
            <a:endParaRPr lang="en-US" sz="1600" noProof="1"/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lang="en-US" sz="800" noProof="1">
                <a:solidFill>
                  <a:srgbClr val="64748B"/>
                </a:solidFill>
                <a:latin typeface="MiSans"/>
                <a:ea typeface="MiSans"/>
              </a:rPr>
              <a:t>产出下一轮候选 token</a:t>
            </a:r>
            <a:endParaRPr lang="en-US" sz="1600" noProof="1"/>
          </a:p>
        </p:txBody>
      </p:sp>
      <p:sp>
        <p:nvSpPr>
          <p:cNvPr id="45" name="lg1-box"/>
          <p:cNvSpPr/>
          <p:nvPr/>
        </p:nvSpPr>
        <p:spPr>
          <a:xfrm>
            <a:off x="3276600" y="5994400"/>
            <a:ext cx="127000" cy="1270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</p:sp>
      <p:sp>
        <p:nvSpPr>
          <p:cNvPr id="46" name="lg1-text"/>
          <p:cNvSpPr txBox="1"/>
          <p:nvPr/>
        </p:nvSpPr>
        <p:spPr>
          <a:xfrm>
            <a:off x="3454400" y="5969000"/>
            <a:ext cx="177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>
                <a:solidFill>
                  <a:srgbClr val="64748B"/>
                </a:solidFill>
                <a:latin typeface="MiSans"/>
                <a:ea typeface="MiSans"/>
              </a:rPr>
              <a:t>目标前向 + Adapter</a:t>
            </a:r>
            <a:endParaRPr lang="en-US" sz="900" noProof="1"/>
          </a:p>
        </p:txBody>
      </p:sp>
      <p:sp>
        <p:nvSpPr>
          <p:cNvPr id="47" name="lg2-box"/>
          <p:cNvSpPr/>
          <p:nvPr/>
        </p:nvSpPr>
        <p:spPr>
          <a:xfrm>
            <a:off x="5384800" y="5994400"/>
            <a:ext cx="127000" cy="12700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</p:sp>
      <p:sp>
        <p:nvSpPr>
          <p:cNvPr id="48" name="lg2-text"/>
          <p:cNvSpPr txBox="1"/>
          <p:nvPr/>
        </p:nvSpPr>
        <p:spPr>
          <a:xfrm>
            <a:off x="5562600" y="5969000"/>
            <a:ext cx="889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>
                <a:solidFill>
                  <a:srgbClr val="64748B"/>
                </a:solidFill>
                <a:latin typeface="MiSans"/>
                <a:ea typeface="MiSans"/>
              </a:rPr>
              <a:t>拒绝采样</a:t>
            </a:r>
            <a:endParaRPr lang="en-US" sz="900" noProof="1"/>
          </a:p>
        </p:txBody>
      </p:sp>
      <p:sp>
        <p:nvSpPr>
          <p:cNvPr id="49" name="lg3-box"/>
          <p:cNvSpPr/>
          <p:nvPr/>
        </p:nvSpPr>
        <p:spPr>
          <a:xfrm>
            <a:off x="6604000" y="5994400"/>
            <a:ext cx="127000" cy="12700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</p:sp>
      <p:sp>
        <p:nvSpPr>
          <p:cNvPr id="50" name="lg3-text"/>
          <p:cNvSpPr txBox="1"/>
          <p:nvPr/>
        </p:nvSpPr>
        <p:spPr>
          <a:xfrm>
            <a:off x="6781800" y="5969000"/>
            <a:ext cx="1397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>
                <a:solidFill>
                  <a:srgbClr val="64748B"/>
                </a:solidFill>
                <a:latin typeface="MiSans"/>
                <a:ea typeface="MiSans"/>
              </a:rPr>
              <a:t>状态与记录存储</a:t>
            </a:r>
            <a:endParaRPr lang="en-US" sz="900" noProof="1"/>
          </a:p>
        </p:txBody>
      </p:sp>
      <p:sp>
        <p:nvSpPr>
          <p:cNvPr id="51" name="lg4-box"/>
          <p:cNvSpPr/>
          <p:nvPr/>
        </p:nvSpPr>
        <p:spPr>
          <a:xfrm>
            <a:off x="8331200" y="5994400"/>
            <a:ext cx="127000" cy="12700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</p:sp>
      <p:sp>
        <p:nvSpPr>
          <p:cNvPr id="52" name="lg4-text"/>
          <p:cNvSpPr txBox="1"/>
          <p:nvPr/>
        </p:nvSpPr>
        <p:spPr>
          <a:xfrm>
            <a:off x="8509000" y="5969000"/>
            <a:ext cx="889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>
                <a:solidFill>
                  <a:srgbClr val="64748B"/>
                </a:solidFill>
                <a:latin typeface="MiSans"/>
                <a:ea typeface="MiSans"/>
              </a:rPr>
              <a:t>草稿模型</a:t>
            </a:r>
            <a:endParaRPr lang="en-US" sz="9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8000" y="3048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1F2937"/>
                </a:solidFill>
                <a:latin typeface="MiSans"/>
                <a:ea typeface="MiSans"/>
              </a:rPr>
              <a:t>数学符号对照：存储 / 重建 / 写入</a:t>
            </a:r>
            <a:endParaRPr lang="en-US" sz="2000" noProof="1"/>
          </a:p>
        </p:txBody>
      </p:sp>
      <p:sp>
        <p:nvSpPr>
          <p:cNvPr id="3" name="subtitle"/>
          <p:cNvSpPr txBox="1"/>
          <p:nvPr/>
        </p:nvSpPr>
        <p:spPr>
          <a:xfrm>
            <a:off x="508000" y="711200"/>
            <a:ext cx="1117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64748B"/>
                </a:solidFill>
                <a:latin typeface="MiSans"/>
                <a:ea typeface="MiSans"/>
              </a:rPr>
              <a:t>与 kimi_k3_spec_decode_analysis_math.md 的公式一一对应</a:t>
            </a:r>
            <a:endParaRPr lang="en-US" sz="1000" noProof="1"/>
          </a:p>
        </p:txBody>
      </p:sp>
      <p:graphicFrame>
        <p:nvGraphicFramePr>
          <p:cNvPr id="4" name="math-table"/>
          <p:cNvGraphicFramePr>
            <a:graphicFrameLocks noGrp="1"/>
          </p:cNvGraphicFramePr>
          <p:nvPr/>
        </p:nvGraphicFramePr>
        <p:xfrm>
          <a:off x="508000" y="1066800"/>
          <a:ext cx="11176000" cy="3810000"/>
        </p:xfrm>
        <a:graphic>
          <a:graphicData uri="http://schemas.openxmlformats.org/drawingml/2006/table">
            <a:tbl>
              <a:tblPr/>
              <a:tblGrid>
                <a:gridCol w="1899920"/>
                <a:gridCol w="5029200"/>
                <a:gridCol w="4246880"/>
              </a:tblGrid>
              <a:tr h="533400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环节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E2E8F0"/>
                      </a:solidFill>
                    </a:lnL>
                    <a:lnR w="12700">
                      <a:solidFill>
                        <a:srgbClr val="E2E8F0"/>
                      </a:solidFill>
                    </a:lnR>
                    <a:lnT w="12700">
                      <a:solidFill>
                        <a:srgbClr val="E2E8F0"/>
                      </a:solidFill>
                    </a:lnT>
                    <a:lnB w="12700">
                      <a:solidFill>
                        <a:srgbClr val="E2E8F0"/>
                      </a:solidFill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公式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E2E8F0"/>
                      </a:solidFill>
                    </a:lnL>
                    <a:lnR w="12700">
                      <a:solidFill>
                        <a:srgbClr val="E2E8F0"/>
                      </a:solidFill>
                    </a:lnR>
                    <a:lnT w="12700">
                      <a:solidFill>
                        <a:srgbClr val="E2E8F0"/>
                      </a:solidFill>
                    </a:lnT>
                    <a:lnB w="12700">
                      <a:solidFill>
                        <a:srgbClr val="E2E8F0"/>
                      </a:solidFill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说明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E2E8F0"/>
                      </a:solidFill>
                    </a:lnL>
                    <a:lnR w="12700">
                      <a:solidFill>
                        <a:srgbClr val="E2E8F0"/>
                      </a:solidFill>
                    </a:lnR>
                    <a:lnT w="12700">
                      <a:solidFill>
                        <a:srgbClr val="E2E8F0"/>
                      </a:solidFill>
                    </a:lnT>
                    <a:lnB w="12700">
                      <a:solidFill>
                        <a:srgbClr val="E2E8F0"/>
                      </a:solidFill>
                    </a:lnB>
                    <a:solidFill>
                      <a:srgbClr val="2563EB"/>
                    </a:solidFill>
                  </a:tcPr>
                </a:tc>
              </a:tr>
              <a:tr h="6553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F2937"/>
                          </a:solidFill>
                          <a:latin typeface="Times New Roman"/>
                          <a:ea typeface="Times New Roman"/>
                        </a:rPr>
                        <a:t>verify 单步递推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E2E8F0"/>
                      </a:solidFill>
                    </a:lnL>
                    <a:lnR w="12700">
                      <a:solidFill>
                        <a:srgbClr val="E2E8F0"/>
                      </a:solidFill>
                    </a:lnR>
                    <a:lnT w="12700">
                      <a:solidFill>
                        <a:srgbClr val="E2E8F0"/>
                      </a:solidFill>
                    </a:lnT>
                    <a:lnB w="12700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sSub>
                            <m:sSubPr>
                              <m:ctrlPr>
                                <a:rPr lang="en-US" sz="1000" noProof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</m:ctrlPr>
                            </m:sSubPr>
                            <m:e>
                              <m:r>
                                <a:rPr lang="en-US" sz="1000" noProof="1" i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sz="1000" noProof="1" i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t</m:t>
                              </m:r>
                            </m:sub>
                          </m:sSub>
                          <m:r>
                            <a:rPr lang="en-US" sz="1000" noProof="1" i="0">
                              <a:solidFill>
                                <a:srgbClr val="1F2937"/>
                              </a:solidFill>
                              <a:latin typeface="Times New Roman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1000" noProof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</m:ctrlPr>
                            </m:sSubPr>
                            <m:e>
                              <m:r>
                                <a:rPr lang="en-US" sz="1000" noProof="1" i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sz="1000" noProof="1" i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t</m:t>
                              </m:r>
                              <m:r>
                                <a:rPr lang="en-US" sz="1000" noProof="1" i="0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-</m:t>
                              </m:r>
                              <m:r>
                                <a:rPr lang="en-US" sz="1000" noProof="1" i="0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000" noProof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</m:ctrlPr>
                            </m:sSubPr>
                            <m:e>
                              <m:r>
                                <a:rPr lang="en-US" sz="1000" noProof="1" i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1000" noProof="1" i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t</m:t>
                              </m:r>
                            </m:sub>
                          </m:sSub>
                          <m:r>
                            <a:rPr lang="en-US" sz="1000" noProof="1" i="0">
                              <a:solidFill>
                                <a:srgbClr val="1F2937"/>
                              </a:solidFill>
                              <a:latin typeface="Times New Roman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000" noProof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</m:ctrlPr>
                            </m:sSubPr>
                            <m:e>
                              <m:r>
                                <a:rPr lang="en-US" sz="1000" noProof="1" i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u</m:t>
                              </m:r>
                            </m:e>
                            <m:sub>
                              <m:r>
                                <a:rPr lang="en-US" sz="1000" noProof="1" i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t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1000" noProof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1000" noProof="1">
                                      <a:solidFill>
                                        <a:srgbClr val="1F2937"/>
                                      </a:solidFill>
                                      <a:latin typeface="Times New Roman"/>
                                    </a:rPr>
                                  </m:ctrlPr>
                                </m:accPr>
                                <m:e>
                                  <m:r>
                                    <a:rPr lang="en-US" sz="1000" noProof="1" i="1">
                                      <a:solidFill>
                                        <a:srgbClr val="1F2937"/>
                                      </a:solidFill>
                                      <a:latin typeface="Times New Roman"/>
                                    </a:rPr>
                                    <m:t>k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000" noProof="1" i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t</m:t>
                              </m:r>
                            </m:sub>
                            <m:sup>
                              <m:r>
                                <m:rPr>
                                  <m:scr m:val="sans-serif"/>
                                </m:rPr>
                                <a:rPr lang="en-US" sz="1000" noProof="1" i="0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T</m:t>
                              </m:r>
                            </m:sup>
                          </m:sSubSup>
                          <m:r>
                            <a:rPr lang="en-US" sz="1000" noProof="1" i="0">
                              <a:solidFill>
                                <a:srgbClr val="1F2937"/>
                              </a:solidFill>
                              <a:latin typeface="Times New Roman"/>
                            </a:rPr>
                            <m:t>,</m:t>
                          </m:r>
                          <m:r>
                            <a:rPr lang="en-US" sz="1000" noProof="1" i="0">
                              <a:solidFill>
                                <a:srgbClr val="1F2937"/>
                              </a:solidFill>
                              <a:latin typeface="Times New Roman"/>
                            </a:rPr>
                            <m:t> </m:t>
                          </m:r>
                          <m:sSub>
                            <m:sSubPr>
                              <m:ctrlPr>
                                <a:rPr lang="en-US" sz="1000" noProof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</m:ctrlPr>
                            </m:sSubPr>
                            <m:e>
                              <m:r>
                                <a:rPr lang="en-US" sz="1000" noProof="1" i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sz="1000" noProof="1" i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t</m:t>
                              </m:r>
                            </m:sub>
                          </m:sSub>
                          <m:r>
                            <a:rPr lang="en-US" sz="1000" noProof="1" i="0">
                              <a:solidFill>
                                <a:srgbClr val="1F2937"/>
                              </a:solidFill>
                              <a:latin typeface="Times New Roman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1000" noProof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</m:ctrlPr>
                            </m:sSubPr>
                            <m:e>
                              <m:r>
                                <a:rPr lang="en-US" sz="1000" noProof="1" i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sz="1000" noProof="1" i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t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000" noProof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000" noProof="1">
                                      <a:solidFill>
                                        <a:srgbClr val="1F2937"/>
                                      </a:solidFill>
                                      <a:latin typeface="Times New Roman"/>
                                    </a:rPr>
                                  </m:ctrlPr>
                                </m:accPr>
                                <m:e>
                                  <m:r>
                                    <a:rPr lang="en-US" sz="1000" noProof="1" i="1">
                                      <a:solidFill>
                                        <a:srgbClr val="1F2937"/>
                                      </a:solidFill>
                                      <a:latin typeface="Times New Roman"/>
                                    </a:rPr>
                                    <m:t>q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000" noProof="1" i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t</m:t>
                              </m:r>
                            </m:sub>
                          </m:sSub>
                        </m:oMath>
                      </a14:m>
                      <a:r>
                        <a:rPr lang="en-US" sz="10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E2E8F0"/>
                      </a:solidFill>
                    </a:lnL>
                    <a:lnR w="12700">
                      <a:solidFill>
                        <a:srgbClr val="E2E8F0"/>
                      </a:solidFill>
                    </a:lnR>
                    <a:lnT w="12700">
                      <a:solidFill>
                        <a:srgbClr val="E2E8F0"/>
                      </a:solidFill>
                    </a:lnT>
                    <a:lnB w="12700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7"/>
                          </a:solidFill>
                          <a:latin typeface="Times New Roman"/>
                          <a:ea typeface="Times New Roman"/>
                        </a:rPr>
                        <a:t>按列衰减 + rank-1 修正；checkpoint S₀ 全程只读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E2E8F0"/>
                      </a:solidFill>
                    </a:lnL>
                    <a:lnR w="12700">
                      <a:solidFill>
                        <a:srgbClr val="E2E8F0"/>
                      </a:solidFill>
                    </a:lnR>
                    <a:lnT w="12700">
                      <a:solidFill>
                        <a:srgbClr val="E2E8F0"/>
                      </a:solidFill>
                    </a:lnT>
                    <a:lnB w="12700">
                      <a:solidFill>
                        <a:srgbClr val="E2E8F0"/>
                      </a:solidFill>
                    </a:lnB>
                    <a:noFill/>
                  </a:tcPr>
                </a:tc>
              </a:tr>
              <a:tr h="6553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F2937"/>
                          </a:solidFill>
                          <a:latin typeface="Times New Roman"/>
                          <a:ea typeface="Times New Roman"/>
                        </a:rPr>
                        <a:t>verify 存储记录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E2E8F0"/>
                      </a:solidFill>
                    </a:lnL>
                    <a:lnR w="12700">
                      <a:solidFill>
                        <a:srgbClr val="E2E8F0"/>
                      </a:solidFill>
                    </a:lnR>
                    <a:lnT w="12700">
                      <a:solidFill>
                        <a:srgbClr val="E2E8F0"/>
                      </a:solidFill>
                    </a:lnT>
                    <a:lnB w="12700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sSub>
                            <m:sSubPr>
                              <m:ctrlPr>
                                <a:rPr lang="en-US" sz="1000" noProof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</m:ctrlPr>
                            </m:sSubPr>
                            <m:e>
                              <m:r>
                                <a:rPr lang="en-US" sz="1000" noProof="1" i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R</m:t>
                              </m:r>
                            </m:e>
                            <m:sub>
                              <m:r>
                                <a:rPr lang="en-US" sz="1000" noProof="1" i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t</m:t>
                              </m:r>
                            </m:sub>
                          </m:sSub>
                          <m:r>
                            <a:rPr lang="en-US" sz="1000" noProof="1" i="0">
                              <a:solidFill>
                                <a:srgbClr val="1F2937"/>
                              </a:solidFill>
                              <a:latin typeface="Times New Roman"/>
                            </a:rPr>
                            <m:t>=</m:t>
                          </m:r>
                          <m:r>
                            <a:rPr lang="en-US" sz="1000" noProof="1" i="0">
                              <a:solidFill>
                                <a:srgbClr val="1F2937"/>
                              </a:solidFill>
                              <a:latin typeface="Times New Roman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000" noProof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</m:ctrlPr>
                            </m:sSubPr>
                            <m:e>
                              <m:r>
                                <a:rPr lang="en-US" sz="1000" noProof="1" i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u</m:t>
                              </m:r>
                            </m:e>
                            <m:sub>
                              <m:r>
                                <a:rPr lang="en-US" sz="1000" noProof="1" i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t</m:t>
                              </m:r>
                            </m:sub>
                          </m:sSub>
                          <m:r>
                            <a:rPr lang="en-US" sz="1000" noProof="1" i="0">
                              <a:solidFill>
                                <a:srgbClr val="1F2937"/>
                              </a:solidFill>
                              <a:latin typeface="Times New Roman"/>
                            </a:rPr>
                            <m:t>,</m:t>
                          </m:r>
                          <m:r>
                            <a:rPr lang="en-US" sz="1000" noProof="1" i="0">
                              <a:solidFill>
                                <a:srgbClr val="1F2937"/>
                              </a:solidFill>
                              <a:latin typeface="Times New Roman"/>
                            </a:rPr>
                            <m:t> </m:t>
                          </m:r>
                          <m:sSub>
                            <m:sSubPr>
                              <m:ctrlPr>
                                <a:rPr lang="en-US" sz="1000" noProof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</m:ctrlPr>
                            </m:sSubPr>
                            <m:e>
                              <m:r>
                                <a:rPr lang="en-US" sz="1000" noProof="1" i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 sz="1000" noProof="1" i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t</m:t>
                              </m:r>
                            </m:sub>
                          </m:sSub>
                          <m:r>
                            <a:rPr lang="en-US" sz="1000" noProof="1" i="0">
                              <a:solidFill>
                                <a:srgbClr val="1F2937"/>
                              </a:solidFill>
                              <a:latin typeface="Times New Roman"/>
                            </a:rPr>
                            <m:t>,</m:t>
                          </m:r>
                          <m:r>
                            <a:rPr lang="en-US" sz="1000" noProof="1" i="0">
                              <a:solidFill>
                                <a:srgbClr val="1F2937"/>
                              </a:solidFill>
                              <a:latin typeface="Times New Roman"/>
                            </a:rPr>
                            <m:t> </m:t>
                          </m:r>
                          <m:sSubSup>
                            <m:sSubSupPr>
                              <m:ctrlPr>
                                <a:rPr lang="en-US" sz="1000" noProof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</m:ctrlPr>
                            </m:sSubSupPr>
                            <m:e>
                              <m:r>
                                <a:rPr lang="en-US" sz="1000" noProof="1" i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g</m:t>
                              </m:r>
                            </m:e>
                            <m:sub>
                              <m:r>
                                <a:rPr lang="en-US" sz="1000" noProof="1" i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t</m:t>
                              </m:r>
                            </m:sub>
                            <m:sup>
                              <m:r>
                                <a:rPr lang="en-US" sz="1000" noProof="1" i="0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r</m:t>
                              </m:r>
                              <m:r>
                                <a:rPr lang="en-US" sz="1000" noProof="1" i="0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a</m:t>
                              </m:r>
                              <m:r>
                                <a:rPr lang="en-US" sz="1000" noProof="1" i="0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w</m:t>
                              </m:r>
                            </m:sup>
                          </m:sSubSup>
                          <m:r>
                            <a:rPr lang="en-US" sz="1000" noProof="1" i="0">
                              <a:solidFill>
                                <a:srgbClr val="1F2937"/>
                              </a:solidFill>
                              <a:latin typeface="Times New Roman"/>
                            </a:rPr>
                            <m:t>)</m:t>
                          </m:r>
                        </m:oMath>
                      </a14:m>
                      <a:r>
                        <a:rPr lang="en-US" sz="10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E2E8F0"/>
                      </a:solidFill>
                    </a:lnL>
                    <a:lnR w="12700">
                      <a:solidFill>
                        <a:srgbClr val="E2E8F0"/>
                      </a:solidFill>
                    </a:lnR>
                    <a:lnT w="12700">
                      <a:solidFill>
                        <a:srgbClr val="E2E8F0"/>
                      </a:solidFill>
                    </a:lnT>
                    <a:lnB w="12700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7"/>
                          </a:solidFill>
                          <a:latin typeface="Times New Roman"/>
                          <a:ea typeface="Times New Roman"/>
                        </a:rPr>
                        <a:t>每位置 O(V+2K) 向量；pending 仅存于本同步步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E2E8F0"/>
                      </a:solidFill>
                    </a:lnL>
                    <a:lnR w="12700">
                      <a:solidFill>
                        <a:srgbClr val="E2E8F0"/>
                      </a:solidFill>
                    </a:lnR>
                    <a:lnT w="12700">
                      <a:solidFill>
                        <a:srgbClr val="E2E8F0"/>
                      </a:solidFill>
                    </a:lnT>
                    <a:lnB w="12700">
                      <a:solidFill>
                        <a:srgbClr val="E2E8F0"/>
                      </a:solidFill>
                    </a:lnB>
                    <a:noFill/>
                  </a:tcPr>
                </a:tc>
              </a:tr>
              <a:tr h="6553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F2937"/>
                          </a:solidFill>
                          <a:latin typeface="Times New Roman"/>
                          <a:ea typeface="Times New Roman"/>
                        </a:rPr>
                        <a:t>接受前缀闭式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E2E8F0"/>
                      </a:solidFill>
                    </a:lnL>
                    <a:lnR w="12700">
                      <a:solidFill>
                        <a:srgbClr val="E2E8F0"/>
                      </a:solidFill>
                    </a:lnR>
                    <a:lnT w="12700">
                      <a:solidFill>
                        <a:srgbClr val="E2E8F0"/>
                      </a:solidFill>
                    </a:lnT>
                    <a:lnB w="12700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sSub>
                            <m:sSubPr>
                              <m:ctrlPr>
                                <a:rPr lang="en-US" sz="1000" noProof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</m:ctrlPr>
                            </m:sSubPr>
                            <m:e>
                              <m:r>
                                <a:rPr lang="en-US" sz="1000" noProof="1" i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sz="1000" noProof="1" i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n</m:t>
                              </m:r>
                            </m:sub>
                          </m:sSub>
                          <m:r>
                            <a:rPr lang="en-US" sz="1000" noProof="1" i="0">
                              <a:solidFill>
                                <a:srgbClr val="1F2937"/>
                              </a:solidFill>
                              <a:latin typeface="Times New Roman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1000" noProof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</m:ctrlPr>
                            </m:sSubPr>
                            <m:e>
                              <m:r>
                                <a:rPr lang="en-US" sz="1000" noProof="1" i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sz="1000" noProof="1" i="0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000" noProof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</m:ctrlPr>
                            </m:sSubPr>
                            <m:e>
                              <m:r>
                                <a:rPr lang="en-US" sz="1000" noProof="1" i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1000" noProof="1" i="0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000" noProof="1" i="0">
                              <a:solidFill>
                                <a:srgbClr val="1F2937"/>
                              </a:solidFill>
                              <a:latin typeface="Times New Roman"/>
                            </a:rPr>
                            <m:t>⋯</m:t>
                          </m:r>
                          <m:sSub>
                            <m:sSubPr>
                              <m:ctrlPr>
                                <a:rPr lang="en-US" sz="1000" noProof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</m:ctrlPr>
                            </m:sSubPr>
                            <m:e>
                              <m:r>
                                <a:rPr lang="en-US" sz="1000" noProof="1" i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1000" noProof="1" i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n</m:t>
                              </m:r>
                            </m:sub>
                          </m:sSub>
                          <m:r>
                            <a:rPr lang="en-US" sz="1000" noProof="1" i="0">
                              <a:solidFill>
                                <a:srgbClr val="1F2937"/>
                              </a:solidFill>
                              <a:latin typeface="Times New Roman"/>
                            </a:rPr>
                            <m:t>+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en-US" sz="1000" noProof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</m:ctrlPr>
                            </m:naryPr>
                            <m:sub>
                              <m:r>
                                <a:rPr lang="en-US" sz="1000" noProof="1" i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i</m:t>
                              </m:r>
                              <m:r>
                                <a:rPr lang="en-US" sz="1000" noProof="1" i="0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=</m:t>
                              </m:r>
                              <m:r>
                                <a:rPr lang="en-US" sz="1000" noProof="1" i="0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000" noProof="1" i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n</m:t>
                              </m:r>
                            </m:sup>
                            <m:e/>
                          </m:nary>
                          <m:sSub>
                            <m:sSubPr>
                              <m:ctrlPr>
                                <a:rPr lang="en-US" sz="1000" noProof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</m:ctrlPr>
                            </m:sSubPr>
                            <m:e>
                              <m:r>
                                <a:rPr lang="en-US" sz="1000" noProof="1" i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u</m:t>
                              </m:r>
                            </m:e>
                            <m:sub>
                              <m:r>
                                <a:rPr lang="en-US" sz="1000" noProof="1" i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i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1000" noProof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1000" noProof="1">
                                      <a:solidFill>
                                        <a:srgbClr val="1F2937"/>
                                      </a:solidFill>
                                      <a:latin typeface="Times New Roman"/>
                                    </a:rPr>
                                  </m:ctrlPr>
                                </m:accPr>
                                <m:e>
                                  <m:r>
                                    <a:rPr lang="en-US" sz="1000" noProof="1" i="1">
                                      <a:solidFill>
                                        <a:srgbClr val="1F2937"/>
                                      </a:solidFill>
                                      <a:latin typeface="Times New Roman"/>
                                    </a:rPr>
                                    <m:t>k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000" noProof="1" i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i</m:t>
                              </m:r>
                            </m:sub>
                            <m:sup>
                              <m:r>
                                <m:rPr>
                                  <m:scr m:val="sans-serif"/>
                                </m:rPr>
                                <a:rPr lang="en-US" sz="1000" noProof="1" i="0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T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1000" noProof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</m:ctrlPr>
                            </m:sSubPr>
                            <m:e>
                              <m:r>
                                <a:rPr lang="en-US" sz="1000" noProof="1" i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1000" noProof="1" i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i</m:t>
                              </m:r>
                              <m:r>
                                <a:rPr lang="en-US" sz="1000" noProof="1" i="0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+</m:t>
                              </m:r>
                              <m:r>
                                <a:rPr lang="en-US" sz="1000" noProof="1" i="0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000" noProof="1" i="0">
                              <a:solidFill>
                                <a:srgbClr val="1F2937"/>
                              </a:solidFill>
                              <a:latin typeface="Times New Roman"/>
                            </a:rPr>
                            <m:t>⋯</m:t>
                          </m:r>
                          <m:sSub>
                            <m:sSubPr>
                              <m:ctrlPr>
                                <a:rPr lang="en-US" sz="1000" noProof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</m:ctrlPr>
                            </m:sSubPr>
                            <m:e>
                              <m:r>
                                <a:rPr lang="en-US" sz="1000" noProof="1" i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1000" noProof="1" i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n</m:t>
                              </m:r>
                            </m:sub>
                          </m:sSub>
                        </m:oMath>
                      </a14:m>
                      <a:r>
                        <a:rPr lang="en-US" sz="10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E2E8F0"/>
                      </a:solidFill>
                    </a:lnL>
                    <a:lnR w="12700">
                      <a:solidFill>
                        <a:srgbClr val="E2E8F0"/>
                      </a:solidFill>
                    </a:lnR>
                    <a:lnT w="12700">
                      <a:solidFill>
                        <a:srgbClr val="E2E8F0"/>
                      </a:solidFill>
                    </a:lnT>
                    <a:lnB w="12700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7"/>
                          </a:solidFill>
                          <a:latin typeface="Times New Roman"/>
                          <a:ea typeface="Times New Roman"/>
                        </a:rPr>
                        <a:t>较早位置的 correction 仍承受后续位置的列衰减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E2E8F0"/>
                      </a:solidFill>
                    </a:lnL>
                    <a:lnR w="12700">
                      <a:solidFill>
                        <a:srgbClr val="E2E8F0"/>
                      </a:solidFill>
                    </a:lnR>
                    <a:lnT w="12700">
                      <a:solidFill>
                        <a:srgbClr val="E2E8F0"/>
                      </a:solidFill>
                    </a:lnT>
                    <a:lnB w="12700">
                      <a:solidFill>
                        <a:srgbClr val="E2E8F0"/>
                      </a:solidFill>
                    </a:lnB>
                    <a:noFill/>
                  </a:tcPr>
                </a:tc>
              </a:tr>
              <a:tr h="6553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F2937"/>
                          </a:solidFill>
                          <a:latin typeface="Times New Roman"/>
                          <a:ea typeface="Times New Roman"/>
                        </a:rPr>
                        <a:t>commit 反向累积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E2E8F0"/>
                      </a:solidFill>
                    </a:lnL>
                    <a:lnR w="12700">
                      <a:solidFill>
                        <a:srgbClr val="E2E8F0"/>
                      </a:solidFill>
                    </a:lnR>
                    <a:lnT w="12700">
                      <a:solidFill>
                        <a:srgbClr val="E2E8F0"/>
                      </a:solidFill>
                    </a:lnT>
                    <a:lnB w="12700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1000" noProof="1" i="1">
                              <a:solidFill>
                                <a:srgbClr val="1F2937"/>
                              </a:solidFill>
                              <a:latin typeface="Times New Roman"/>
                            </a:rPr>
                            <m:t>U</m:t>
                          </m:r>
                          <m:r>
                            <a:rPr lang="en-US" sz="1000" noProof="1" i="0">
                              <a:solidFill>
                                <a:srgbClr val="1F2937"/>
                              </a:solidFill>
                              <a:latin typeface="Times New Roman"/>
                            </a:rPr>
                            <m:t>←</m:t>
                          </m:r>
                          <m:r>
                            <a:rPr lang="en-US" sz="1000" noProof="1" i="1">
                              <a:solidFill>
                                <a:srgbClr val="1F2937"/>
                              </a:solidFill>
                              <a:latin typeface="Times New Roman"/>
                            </a:rPr>
                            <m:t>U</m:t>
                          </m:r>
                          <m:r>
                            <a:rPr lang="en-US" sz="1000" noProof="1" i="0">
                              <a:solidFill>
                                <a:srgbClr val="1F2937"/>
                              </a:solidFill>
                              <a:latin typeface="Times New Roman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000" noProof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</m:ctrlPr>
                            </m:sSubPr>
                            <m:e>
                              <m:r>
                                <a:rPr lang="en-US" sz="1000" noProof="1" i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u</m:t>
                              </m:r>
                            </m:e>
                            <m:sub>
                              <m:r>
                                <a:rPr lang="en-US" sz="1000" noProof="1" i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t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1000" noProof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1000" noProof="1">
                                      <a:solidFill>
                                        <a:srgbClr val="1F2937"/>
                                      </a:solidFill>
                                      <a:latin typeface="Times New Roman"/>
                                    </a:rPr>
                                  </m:ctrlPr>
                                </m:accPr>
                                <m:e>
                                  <m:r>
                                    <a:rPr lang="en-US" sz="1000" noProof="1" i="1">
                                      <a:solidFill>
                                        <a:srgbClr val="1F2937"/>
                                      </a:solidFill>
                                      <a:latin typeface="Times New Roman"/>
                                    </a:rPr>
                                    <m:t>k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000" noProof="1" i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t</m:t>
                              </m:r>
                            </m:sub>
                            <m:sup>
                              <m:r>
                                <m:rPr>
                                  <m:scr m:val="sans-serif"/>
                                </m:rPr>
                                <a:rPr lang="en-US" sz="1000" noProof="1" i="0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T</m:t>
                              </m:r>
                            </m:sup>
                          </m:sSubSup>
                          <m:r>
                            <a:rPr lang="en-US" sz="1000" noProof="1" i="1">
                              <a:solidFill>
                                <a:srgbClr val="1F2937"/>
                              </a:solidFill>
                              <a:latin typeface="Times New Roman"/>
                            </a:rPr>
                            <m:t>P</m:t>
                          </m:r>
                          <m:r>
                            <a:rPr lang="en-US" sz="1000" noProof="1" i="0">
                              <a:solidFill>
                                <a:srgbClr val="1F2937"/>
                              </a:solidFill>
                              <a:latin typeface="Times New Roman"/>
                            </a:rPr>
                            <m:t>,</m:t>
                          </m:r>
                          <m:r>
                            <a:rPr lang="en-US" sz="1000" noProof="1" i="0">
                              <a:solidFill>
                                <a:srgbClr val="1F2937"/>
                              </a:solidFill>
                              <a:latin typeface="Times New Roman"/>
                            </a:rPr>
                            <m:t> </m:t>
                          </m:r>
                          <m:r>
                            <a:rPr lang="en-US" sz="1000" noProof="1" i="0">
                              <a:solidFill>
                                <a:srgbClr val="1F2937"/>
                              </a:solidFill>
                              <a:latin typeface="Times New Roman"/>
                            </a:rPr>
                            <m:t> </m:t>
                          </m:r>
                          <m:r>
                            <a:rPr lang="en-US" sz="1000" noProof="1" i="1">
                              <a:solidFill>
                                <a:srgbClr val="1F2937"/>
                              </a:solidFill>
                              <a:latin typeface="Times New Roman"/>
                            </a:rPr>
                            <m:t>P</m:t>
                          </m:r>
                          <m:r>
                            <a:rPr lang="en-US" sz="1000" noProof="1" i="0">
                              <a:solidFill>
                                <a:srgbClr val="1F2937"/>
                              </a:solidFill>
                              <a:latin typeface="Times New Roman"/>
                            </a:rPr>
                            <m:t>←</m:t>
                          </m:r>
                          <m:sSub>
                            <m:sSubPr>
                              <m:ctrlPr>
                                <a:rPr lang="en-US" sz="1000" noProof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</m:ctrlPr>
                            </m:sSubPr>
                            <m:e>
                              <m:r>
                                <a:rPr lang="en-US" sz="1000" noProof="1" i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1000" noProof="1" i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t</m:t>
                              </m:r>
                            </m:sub>
                          </m:sSub>
                          <m:r>
                            <a:rPr lang="en-US" sz="1000" noProof="1" i="1">
                              <a:solidFill>
                                <a:srgbClr val="1F2937"/>
                              </a:solidFill>
                              <a:latin typeface="Times New Roman"/>
                            </a:rPr>
                            <m:t>P</m:t>
                          </m:r>
                          <m:r>
                            <a:rPr lang="en-US" sz="1000" noProof="1" i="0">
                              <a:solidFill>
                                <a:srgbClr val="1F2937"/>
                              </a:solidFill>
                              <a:latin typeface="Times New Roman"/>
                            </a:rPr>
                            <m:t>,</m:t>
                          </m:r>
                          <m:r>
                            <a:rPr lang="en-US" sz="1000" noProof="1" i="0">
                              <a:solidFill>
                                <a:srgbClr val="1F2937"/>
                              </a:solidFill>
                              <a:latin typeface="Times New Roman"/>
                            </a:rPr>
                            <m:t> </m:t>
                          </m:r>
                          <m:r>
                            <a:rPr lang="en-US" sz="1000" noProof="1" i="0">
                              <a:solidFill>
                                <a:srgbClr val="1F2937"/>
                              </a:solidFill>
                              <a:latin typeface="Times New Roman"/>
                            </a:rPr>
                            <m:t> </m:t>
                          </m:r>
                          <m:sSub>
                            <m:sSubPr>
                              <m:ctrlPr>
                                <a:rPr lang="en-US" sz="1000" noProof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</m:ctrlPr>
                            </m:sSubPr>
                            <m:e>
                              <m:r>
                                <a:rPr lang="en-US" sz="1000" noProof="1" i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sz="1000" noProof="1" i="0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r</m:t>
                              </m:r>
                              <m:r>
                                <a:rPr lang="en-US" sz="1000" noProof="1" i="0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e</m:t>
                              </m:r>
                              <m:r>
                                <a:rPr lang="en-US" sz="1000" noProof="1" i="0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b</m:t>
                              </m:r>
                              <m:r>
                                <a:rPr lang="en-US" sz="1000" noProof="1" i="0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u</m:t>
                              </m:r>
                              <m:r>
                                <a:rPr lang="en-US" sz="1000" noProof="1" i="0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i</m:t>
                              </m:r>
                              <m:r>
                                <a:rPr lang="en-US" sz="1000" noProof="1" i="0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l</m:t>
                              </m:r>
                              <m:r>
                                <a:rPr lang="en-US" sz="1000" noProof="1" i="0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t</m:t>
                              </m:r>
                            </m:sub>
                          </m:sSub>
                          <m:r>
                            <a:rPr lang="en-US" sz="1000" noProof="1" i="0">
                              <a:solidFill>
                                <a:srgbClr val="1F2937"/>
                              </a:solidFill>
                              <a:latin typeface="Times New Roman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1000" noProof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</m:ctrlPr>
                            </m:sSubPr>
                            <m:e>
                              <m:r>
                                <a:rPr lang="en-US" sz="1000" noProof="1" i="1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sz="1000" noProof="1" i="0">
                                  <a:solidFill>
                                    <a:srgbClr val="1F2937"/>
                                  </a:solidFill>
                                  <a:latin typeface="Times New Roman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000" noProof="1" i="1">
                              <a:solidFill>
                                <a:srgbClr val="1F2937"/>
                              </a:solidFill>
                              <a:latin typeface="Times New Roman"/>
                            </a:rPr>
                            <m:t>P</m:t>
                          </m:r>
                          <m:r>
                            <a:rPr lang="en-US" sz="1000" noProof="1" i="0">
                              <a:solidFill>
                                <a:srgbClr val="1F2937"/>
                              </a:solidFill>
                              <a:latin typeface="Times New Roman"/>
                            </a:rPr>
                            <m:t>+</m:t>
                          </m:r>
                          <m:r>
                            <a:rPr lang="en-US" sz="1000" noProof="1" i="1">
                              <a:solidFill>
                                <a:srgbClr val="1F2937"/>
                              </a:solidFill>
                              <a:latin typeface="Times New Roman"/>
                            </a:rPr>
                            <m:t>U</m:t>
                          </m:r>
                        </m:oMath>
                      </a14:m>
                      <a:r>
                        <a:rPr lang="en-US" sz="10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E2E8F0"/>
                      </a:solidFill>
                    </a:lnL>
                    <a:lnR w="12700">
                      <a:solidFill>
                        <a:srgbClr val="E2E8F0"/>
                      </a:solidFill>
                    </a:lnR>
                    <a:lnT w="12700">
                      <a:solidFill>
                        <a:srgbClr val="E2E8F0"/>
                      </a:solidFill>
                    </a:lnT>
                    <a:lnB w="12700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7"/>
                          </a:solidFill>
                          <a:latin typeface="Times New Roman"/>
                          <a:ea typeface="Times New Roman"/>
                        </a:rPr>
                        <a:t>t=n…1 反向；写回原生 slot 并镜像到全部槽位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E2E8F0"/>
                      </a:solidFill>
                    </a:lnL>
                    <a:lnR w="12700">
                      <a:solidFill>
                        <a:srgbClr val="E2E8F0"/>
                      </a:solidFill>
                    </a:lnR>
                    <a:lnT w="12700">
                      <a:solidFill>
                        <a:srgbClr val="E2E8F0"/>
                      </a:solidFill>
                    </a:lnT>
                    <a:lnB w="12700">
                      <a:solidFill>
                        <a:srgbClr val="E2E8F0"/>
                      </a:solidFill>
                    </a:lnB>
                    <a:noFill/>
                  </a:tcPr>
                </a:tc>
              </a:tr>
              <a:tr h="6553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F2937"/>
                          </a:solidFill>
                          <a:latin typeface="Times New Roman"/>
                          <a:ea typeface="Times New Roman"/>
                        </a:rPr>
                        <a:t>存储量级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E2E8F0"/>
                      </a:solidFill>
                    </a:lnL>
                    <a:lnR w="12700">
                      <a:solidFill>
                        <a:srgbClr val="E2E8F0"/>
                      </a:solidFill>
                    </a:lnR>
                    <a:lnT w="12700">
                      <a:solidFill>
                        <a:srgbClr val="E2E8F0"/>
                      </a:solidFill>
                    </a:lnT>
                    <a:lnB w="12700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1000" noProof="1" i="1">
                              <a:solidFill>
                                <a:srgbClr val="1F2937"/>
                              </a:solidFill>
                              <a:latin typeface="Times New Roman"/>
                            </a:rPr>
                            <m:t>O</m:t>
                          </m:r>
                          <m:r>
                            <a:rPr lang="en-US" sz="1000" noProof="1" i="0">
                              <a:solidFill>
                                <a:srgbClr val="1F2937"/>
                              </a:solidFill>
                              <a:latin typeface="Times New Roman"/>
                            </a:rPr>
                            <m:t>(</m:t>
                          </m:r>
                          <m:r>
                            <a:rPr lang="en-US" sz="1000" noProof="1" i="1">
                              <a:solidFill>
                                <a:srgbClr val="1F2937"/>
                              </a:solidFill>
                              <a:latin typeface="Times New Roman"/>
                            </a:rPr>
                            <m:t>L</m:t>
                          </m:r>
                          <m:r>
                            <a:rPr lang="en-US" sz="1000" noProof="1" i="1">
                              <a:solidFill>
                                <a:srgbClr val="1F2937"/>
                              </a:solidFill>
                              <a:latin typeface="Times New Roman"/>
                            </a:rPr>
                            <m:t>H</m:t>
                          </m:r>
                          <m:r>
                            <a:rPr lang="en-US" sz="1000" noProof="1" i="1">
                              <a:solidFill>
                                <a:srgbClr val="1F2937"/>
                              </a:solidFill>
                              <a:latin typeface="Times New Roman"/>
                            </a:rPr>
                            <m:t>V</m:t>
                          </m:r>
                          <m:r>
                            <a:rPr lang="en-US" sz="1000" noProof="1" i="1">
                              <a:solidFill>
                                <a:srgbClr val="1F2937"/>
                              </a:solidFill>
                              <a:latin typeface="Times New Roman"/>
                            </a:rPr>
                            <m:t>K</m:t>
                          </m:r>
                          <m:r>
                            <a:rPr lang="en-US" sz="1000" noProof="1" i="0">
                              <a:solidFill>
                                <a:srgbClr val="1F2937"/>
                              </a:solidFill>
                              <a:latin typeface="Times New Roman"/>
                            </a:rPr>
                            <m:t>)</m:t>
                          </m:r>
                          <m:r>
                            <a:rPr lang="en-US" sz="1000" noProof="1" i="0">
                              <a:solidFill>
                                <a:srgbClr val="1F2937"/>
                              </a:solidFill>
                              <a:latin typeface="Times New Roman"/>
                            </a:rPr>
                            <m:t> </m:t>
                          </m:r>
                          <m:r>
                            <a:rPr lang="en-US" sz="1000" noProof="1" i="0">
                              <a:solidFill>
                                <a:srgbClr val="1F2937"/>
                              </a:solidFill>
                              <a:latin typeface="Times New Roman"/>
                            </a:rPr>
                            <m:t>⟶</m:t>
                          </m:r>
                          <m:r>
                            <a:rPr lang="en-US" sz="1000" noProof="1" i="0">
                              <a:solidFill>
                                <a:srgbClr val="1F2937"/>
                              </a:solidFill>
                              <a:latin typeface="Times New Roman"/>
                            </a:rPr>
                            <m:t> </m:t>
                          </m:r>
                          <m:r>
                            <a:rPr lang="en-US" sz="1000" noProof="1" i="1">
                              <a:solidFill>
                                <a:srgbClr val="1F2937"/>
                              </a:solidFill>
                              <a:latin typeface="Times New Roman"/>
                            </a:rPr>
                            <m:t>O</m:t>
                          </m:r>
                          <m:r>
                            <a:rPr lang="en-US" sz="1000" noProof="1" i="0">
                              <a:solidFill>
                                <a:srgbClr val="1F2937"/>
                              </a:solidFill>
                              <a:latin typeface="Times New Roman"/>
                            </a:rPr>
                            <m:t>(</m:t>
                          </m:r>
                          <m:r>
                            <a:rPr lang="en-US" sz="1000" noProof="1" i="1">
                              <a:solidFill>
                                <a:srgbClr val="1F2937"/>
                              </a:solidFill>
                              <a:latin typeface="Times New Roman"/>
                            </a:rPr>
                            <m:t>H</m:t>
                          </m:r>
                          <m:r>
                            <a:rPr lang="en-US" sz="1000" noProof="1" i="1">
                              <a:solidFill>
                                <a:srgbClr val="1F2937"/>
                              </a:solidFill>
                              <a:latin typeface="Times New Roman"/>
                            </a:rPr>
                            <m:t>V</m:t>
                          </m:r>
                          <m:r>
                            <a:rPr lang="en-US" sz="1000" noProof="1" i="1">
                              <a:solidFill>
                                <a:srgbClr val="1F2937"/>
                              </a:solidFill>
                              <a:latin typeface="Times New Roman"/>
                            </a:rPr>
                            <m:t>K</m:t>
                          </m:r>
                          <m:r>
                            <a:rPr lang="en-US" sz="1000" noProof="1" i="0">
                              <a:solidFill>
                                <a:srgbClr val="1F2937"/>
                              </a:solidFill>
                              <a:latin typeface="Times New Roman"/>
                            </a:rPr>
                            <m:t>+</m:t>
                          </m:r>
                          <m:r>
                            <a:rPr lang="en-US" sz="1000" noProof="1" i="1">
                              <a:solidFill>
                                <a:srgbClr val="1F2937"/>
                              </a:solidFill>
                              <a:latin typeface="Times New Roman"/>
                            </a:rPr>
                            <m:t>L</m:t>
                          </m:r>
                          <m:r>
                            <a:rPr lang="en-US" sz="1000" noProof="1" i="1">
                              <a:solidFill>
                                <a:srgbClr val="1F2937"/>
                              </a:solidFill>
                              <a:latin typeface="Times New Roman"/>
                            </a:rPr>
                            <m:t>H</m:t>
                          </m:r>
                          <m:r>
                            <a:rPr lang="en-US" sz="1000" noProof="1" i="0">
                              <a:solidFill>
                                <a:srgbClr val="1F2937"/>
                              </a:solidFill>
                              <a:latin typeface="Times New Roman"/>
                            </a:rPr>
                            <m:t>(</m:t>
                          </m:r>
                          <m:r>
                            <a:rPr lang="en-US" sz="1000" noProof="1" i="1">
                              <a:solidFill>
                                <a:srgbClr val="1F2937"/>
                              </a:solidFill>
                              <a:latin typeface="Times New Roman"/>
                            </a:rPr>
                            <m:t>V</m:t>
                          </m:r>
                          <m:r>
                            <a:rPr lang="en-US" sz="1000" noProof="1" i="0">
                              <a:solidFill>
                                <a:srgbClr val="1F2937"/>
                              </a:solidFill>
                              <a:latin typeface="Times New Roman"/>
                            </a:rPr>
                            <m:t>+</m:t>
                          </m:r>
                          <m:r>
                            <a:rPr lang="en-US" sz="1000" noProof="1" i="0">
                              <a:solidFill>
                                <a:srgbClr val="1F2937"/>
                              </a:solidFill>
                              <a:latin typeface="Times New Roman"/>
                            </a:rPr>
                            <m:t>2</m:t>
                          </m:r>
                          <m:r>
                            <a:rPr lang="en-US" sz="1000" noProof="1" i="1">
                              <a:solidFill>
                                <a:srgbClr val="1F2937"/>
                              </a:solidFill>
                              <a:latin typeface="Times New Roman"/>
                            </a:rPr>
                            <m:t>K</m:t>
                          </m:r>
                          <m:r>
                            <a:rPr lang="en-US" sz="1000" noProof="1" i="0">
                              <a:solidFill>
                                <a:srgbClr val="1F2937"/>
                              </a:solidFill>
                              <a:latin typeface="Times New Roman"/>
                            </a:rPr>
                            <m:t>)</m:t>
                          </m:r>
                          <m:r>
                            <a:rPr lang="en-US" sz="1000" noProof="1" i="0">
                              <a:solidFill>
                                <a:srgbClr val="1F2937"/>
                              </a:solidFill>
                              <a:latin typeface="Times New Roman"/>
                            </a:rPr>
                            <m:t>)</m:t>
                          </m:r>
                        </m:oMath>
                      </a14:m>
                      <a:r>
                        <a:rPr lang="en-US" sz="10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E2E8F0"/>
                      </a:solidFill>
                    </a:lnL>
                    <a:lnR w="12700">
                      <a:solidFill>
                        <a:srgbClr val="E2E8F0"/>
                      </a:solidFill>
                    </a:lnR>
                    <a:lnT w="12700">
                      <a:solidFill>
                        <a:srgbClr val="E2E8F0"/>
                      </a:solidFill>
                    </a:lnT>
                    <a:lnB w="12700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7"/>
                          </a:solidFill>
                          <a:latin typeface="Times New Roman"/>
                          <a:ea typeface="Times New Roman"/>
                        </a:rPr>
                        <a:t>每请求 1 个 checkpoint + 每位置向量记录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E2E8F0"/>
                      </a:solidFill>
                    </a:lnL>
                    <a:lnR w="12700">
                      <a:solidFill>
                        <a:srgbClr val="E2E8F0"/>
                      </a:solidFill>
                    </a:lnR>
                    <a:lnT w="12700">
                      <a:solidFill>
                        <a:srgbClr val="E2E8F0"/>
                      </a:solidFill>
                    </a:lnT>
                    <a:lnB w="12700">
                      <a:solidFill>
                        <a:srgbClr val="E2E8F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contract-card"/>
          <p:cNvSpPr/>
          <p:nvPr/>
        </p:nvSpPr>
        <p:spPr>
          <a:xfrm>
            <a:off x="508000" y="5130800"/>
            <a:ext cx="11176000" cy="13208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</p:sp>
      <p:sp>
        <p:nvSpPr>
          <p:cNvPr id="6" name="contract-title"/>
          <p:cNvSpPr txBox="1"/>
          <p:nvPr/>
        </p:nvSpPr>
        <p:spPr>
          <a:xfrm>
            <a:off x="736600" y="52578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2563EB"/>
                </a:solidFill>
                <a:latin typeface="MiSans"/>
                <a:ea typeface="MiSans"/>
              </a:rPr>
              <a:t>顺序契约</a:t>
            </a:r>
            <a:endParaRPr lang="en-US" sz="1200" noProof="1"/>
          </a:p>
        </p:txBody>
      </p:sp>
      <p:sp>
        <p:nvSpPr>
          <p:cNvPr id="7" name="contract-body"/>
          <p:cNvSpPr txBox="1"/>
          <p:nvPr/>
        </p:nvSpPr>
        <p:spPr>
          <a:xfrm>
            <a:off x="736600" y="5537200"/>
            <a:ext cx="107188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000" noProof="1">
                <a:solidFill>
                  <a:srgbClr val="1F2937"/>
                </a:solidFill>
                <a:latin typeface="MiSans"/>
                <a:ea typeface="MiSans"/>
              </a:rPr>
              <a:t>① verify 只读 S₀：验证前向期间原生 recurrent state 保持不变；</a:t>
            </a:r>
            <a:endParaRPr lang="en-US" sz="1000" noProof="1"/>
          </a:p>
          <a:p>
            <a:pPr algn="l">
              <a:lnSpc>
                <a:spcPct val="150000"/>
              </a:lnSpc>
            </a:pPr>
            <a:r>
              <a:rPr lang="en-US" sz="1000" noProof="1">
                <a:solidFill>
                  <a:srgbClr val="1F2937"/>
                </a:solidFill>
                <a:latin typeface="MiSans"/>
                <a:ea typeface="MiSans"/>
              </a:rPr>
              <a:t>② 拒绝采样确定 n 后立即 commit，且 commit 先于草稿模型前向；</a:t>
            </a:r>
            <a:endParaRPr lang="en-US" sz="1000" noProof="1"/>
          </a:p>
          <a:p>
            <a:pPr algn="l">
              <a:lnSpc>
                <a:spcPct val="150000"/>
              </a:lnSpc>
            </a:pPr>
            <a:r>
              <a:rPr lang="en-US" sz="1000" noProof="1">
                <a:solidFill>
                  <a:srgbClr val="1F2937"/>
                </a:solidFill>
                <a:latin typeface="MiSans"/>
                <a:ea typeface="MiSans"/>
              </a:rPr>
              <a:t>③ commit 前的二次 verify 直接报错，不会静默覆盖 pending 记录。</a:t>
            </a:r>
            <a:endParaRPr lang="en-US" sz="10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2</Slides>
</Properties>
</file>

<file path=docProps/core.xml><?xml version="1.0" encoding="utf-8"?>
<cp:coreProperties xmlns:dc="http://purl.org/dc/elements/1.1/" xmlns:cp="http://schemas.openxmlformats.org/package/2006/metadata/core-properties">
  <dc:title>kda_recoverssm_slides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