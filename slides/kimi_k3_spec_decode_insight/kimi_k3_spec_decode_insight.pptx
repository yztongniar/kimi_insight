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Default Extension="jpg" ContentType="image/jpeg"/>
  <Default Extension="jpeg" ContentType="image/jpeg"/>
  <Default Extension="gif" ContentType="image/gif"/>
  <Default Extension="svg" ContentType="image/svg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</p:sldIdLst>
  <p:sldSz cx="12192000" cy="6858000" type="custom"/>
  <p:notesSz cx="12192000" cy="6858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ableStyles" Target="tableStyles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ource-note"/>
          <p:cNvSpPr txBox="1"/>
          <p:nvPr/>
        </p:nvSpPr>
        <p:spPr>
          <a:xfrm>
            <a:off x="4699000" y="177800"/>
            <a:ext cx="70358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r">
              <a:lnSpc>
                <a:spcPct val="120000"/>
              </a:lnSpc>
            </a:pPr>
            <a:r>
              <a:rPr lang="en-US" sz="800" noProof="1">
                <a:solidFill>
                  <a:srgbClr val="737373"/>
                </a:solidFill>
                <a:latin typeface="微软雅黑"/>
                <a:ea typeface="微软雅黑"/>
              </a:rPr>
              <a:t>资料来源：vllm-ascend PR #17664 / #10023 / #14596；REPORT_综合分析报告 §3；Kimi K3 Technical Report §5.4.2</a:t>
            </a:r>
            <a:endParaRPr lang="en-US" sz="800" noProof="1"/>
          </a:p>
        </p:txBody>
      </p:sp>
      <p:sp>
        <p:nvSpPr>
          <p:cNvPr id="3" name="title"/>
          <p:cNvSpPr txBox="1"/>
          <p:nvPr/>
        </p:nvSpPr>
        <p:spPr>
          <a:xfrm>
            <a:off x="558800" y="228600"/>
            <a:ext cx="111760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800" noProof="1" b="1">
                <a:solidFill>
                  <a:srgbClr val="C00000"/>
                </a:solidFill>
                <a:latin typeface="微软雅黑"/>
                <a:ea typeface="微软雅黑"/>
              </a:rPr>
              <a:t>Kimi K3 投机推理：性能现状、高性能算子与演进方向</a:t>
            </a:r>
            <a:endParaRPr lang="en-US" sz="1800" noProof="1"/>
          </a:p>
        </p:txBody>
      </p:sp>
      <p:sp>
        <p:nvSpPr>
          <p:cNvPr id="4" name="concl-label-bg"/>
          <p:cNvSpPr/>
          <p:nvPr/>
        </p:nvSpPr>
        <p:spPr>
          <a:xfrm>
            <a:off x="558800" y="736600"/>
            <a:ext cx="1117600" cy="1397000"/>
          </a:xfrm>
          <a:prstGeom prst="rect">
            <a:avLst/>
          </a:prstGeom>
          <a:solidFill>
            <a:srgbClr val="C00000"/>
          </a:solidFill>
          <a:ln>
            <a:noFill/>
          </a:ln>
        </p:spPr>
      </p:sp>
      <p:sp>
        <p:nvSpPr>
          <p:cNvPr id="5" name="concl-label"/>
          <p:cNvSpPr txBox="1"/>
          <p:nvPr/>
        </p:nvSpPr>
        <p:spPr>
          <a:xfrm>
            <a:off x="558800" y="736600"/>
            <a:ext cx="1117600" cy="1397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ctr">
              <a:lnSpc>
                <a:spcPct val="120000"/>
              </a:lnSpc>
            </a:pPr>
            <a:r>
              <a:rPr lang="en-US" sz="1400" noProof="1" b="1">
                <a:solidFill>
                  <a:srgbClr val="FFFFFF"/>
                </a:solidFill>
                <a:latin typeface="微软雅黑"/>
                <a:ea typeface="微软雅黑"/>
              </a:rPr>
              <a:t>分析</a:t>
            </a:r>
            <a:endParaRPr lang="en-US" sz="1400" noProof="1"/>
          </a:p>
          <a:p>
            <a:pPr algn="ctr">
              <a:lnSpc>
                <a:spcPct val="120000"/>
              </a:lnSpc>
            </a:pPr>
            <a:r>
              <a:rPr lang="en-US" sz="1400" noProof="1" b="1">
                <a:solidFill>
                  <a:srgbClr val="FFFFFF"/>
                </a:solidFill>
                <a:latin typeface="微软雅黑"/>
                <a:ea typeface="微软雅黑"/>
              </a:rPr>
              <a:t>结论</a:t>
            </a:r>
            <a:endParaRPr lang="en-US" sz="1400" noProof="1"/>
          </a:p>
        </p:txBody>
      </p:sp>
      <p:sp>
        <p:nvSpPr>
          <p:cNvPr id="6" name="concl-body-bg"/>
          <p:cNvSpPr/>
          <p:nvPr/>
        </p:nvSpPr>
        <p:spPr>
          <a:xfrm>
            <a:off x="1778000" y="736600"/>
            <a:ext cx="9956800" cy="1397000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7" name="concl-bullets"/>
          <p:cNvSpPr txBox="1"/>
          <p:nvPr/>
        </p:nvSpPr>
        <p:spPr>
          <a:xfrm>
            <a:off x="1955800" y="800100"/>
            <a:ext cx="9601200" cy="1270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>
              <a:lnSpc>
                <a:spcPct val="135000"/>
              </a:lnSpc>
              <a:spcBef>
                <a:spcPts val="10"/>
              </a:spcBef>
              <a:buChar char="•"/>
            </a:pPr>
            <a:r>
              <a:rPr lang="en-US" sz="900" noProof="1" b="1">
                <a:solidFill>
                  <a:srgbClr val="262626"/>
                </a:solidFill>
                <a:latin typeface="微软雅黑"/>
                <a:ea typeface="微软雅黑"/>
              </a:rPr>
              <a:t>链路已通</a:t>
            </a:r>
            <a:r>
              <a:rPr lang="en-US" sz="900" noProof="1">
                <a:solidFill>
                  <a:srgbClr val="262626"/>
                </a:solidFill>
                <a:latin typeface="微软雅黑"/>
                <a:ea typeface="微软雅黑"/>
              </a:rPr>
              <a:t>：PR #17664（2026-10-04 合并）将 K3 MTP 投机验证接入 fla_npu recurrent_kda，num_accepted_tokens + spec_state_indices + state pool 构成完整 KDA 状态回滚链路</a:t>
            </a:r>
            <a:endParaRPr lang="en-US" sz="900" noProof="1"/>
          </a:p>
          <a:p>
            <a:pPr algn="l">
              <a:lnSpc>
                <a:spcPct val="135000"/>
              </a:lnSpc>
              <a:spcBef>
                <a:spcPts val="400"/>
              </a:spcBef>
              <a:buChar char="•"/>
            </a:pPr>
            <a:r>
              <a:rPr lang="en-US" sz="900" noProof="1" b="1">
                <a:solidFill>
                  <a:srgbClr val="262626"/>
                </a:solidFill>
                <a:latin typeface="微软雅黑"/>
                <a:ea typeface="微软雅黑"/>
              </a:rPr>
              <a:t>算子收益</a:t>
            </a:r>
            <a:r>
              <a:rPr lang="en-US" sz="900" noProof="1">
                <a:solidFill>
                  <a:srgbClr val="262626"/>
                </a:solidFill>
                <a:latin typeface="微软雅黑"/>
                <a:ea typeface="微软雅黑"/>
              </a:rPr>
              <a:t>：A5 recurrent KDA 平均延迟 121.8→94.6 μs（-22.31%）；draft 前向切 FlashMla 后 2.76→0.878 ms/步 —— 但均为局部收益，不等于端到端吞吐</a:t>
            </a:r>
            <a:endParaRPr lang="en-US" sz="900" noProof="1"/>
          </a:p>
          <a:p>
            <a:pPr algn="l">
              <a:lnSpc>
                <a:spcPct val="135000"/>
              </a:lnSpc>
              <a:spcBef>
                <a:spcPts val="400"/>
              </a:spcBef>
              <a:buChar char="•"/>
            </a:pPr>
            <a:r>
              <a:rPr lang="en-US" sz="900" noProof="1" b="1">
                <a:solidFill>
                  <a:srgbClr val="262626"/>
                </a:solidFill>
                <a:latin typeface="微软雅黑"/>
                <a:ea typeface="微软雅黑"/>
              </a:rPr>
              <a:t>实现定位</a:t>
            </a:r>
            <a:r>
              <a:rPr lang="en-US" sz="900" noProof="1">
                <a:solidFill>
                  <a:srgbClr val="262626"/>
                </a:solidFill>
                <a:latin typeface="微软雅黑"/>
                <a:ea typeface="微软雅黑"/>
              </a:rPr>
              <a:t>：当前为显式 state-slot 快照恢复，尚未实现报告级 projected-input replay；状态/投影输入体积比 ≈51.2×，流量降幅上限 ≈99%</a:t>
            </a:r>
            <a:endParaRPr lang="en-US" sz="900" noProof="1"/>
          </a:p>
          <a:p>
            <a:pPr algn="l">
              <a:lnSpc>
                <a:spcPct val="135000"/>
              </a:lnSpc>
              <a:spcBef>
                <a:spcPts val="400"/>
              </a:spcBef>
              <a:buChar char="•"/>
            </a:pPr>
            <a:r>
              <a:rPr lang="en-US" sz="900" noProof="1" b="1">
                <a:solidFill>
                  <a:srgbClr val="262626"/>
                </a:solidFill>
                <a:latin typeface="微软雅黑"/>
                <a:ea typeface="微软雅黑"/>
              </a:rPr>
              <a:t>演进主线</a:t>
            </a:r>
            <a:r>
              <a:rPr lang="en-US" sz="900" noProof="1">
                <a:solidFill>
                  <a:srgbClr val="262626"/>
                </a:solidFill>
                <a:latin typeface="微软雅黑"/>
                <a:ea typeface="微软雅黑"/>
              </a:rPr>
              <a:t>：动态投机 K（batch 级→请求级）+ 独立 draft KV 滑窗（Eagle3 +40.8% 接受长度）+ replay 降状态流量，三线分验</a:t>
            </a:r>
            <a:endParaRPr lang="en-US" sz="900" noProof="1"/>
          </a:p>
        </p:txBody>
      </p:sp>
      <p:sp>
        <p:nvSpPr>
          <p:cNvPr id="8" name="arch-label"/>
          <p:cNvSpPr txBox="1"/>
          <p:nvPr/>
        </p:nvSpPr>
        <p:spPr>
          <a:xfrm>
            <a:off x="558800" y="2286000"/>
            <a:ext cx="381000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200" noProof="1" b="1">
                <a:solidFill>
                  <a:srgbClr val="C00000"/>
                </a:solidFill>
                <a:latin typeface="微软雅黑"/>
                <a:ea typeface="微软雅黑"/>
              </a:rPr>
              <a:t>投机验证调用链路与状态回滚</a:t>
            </a:r>
            <a:endParaRPr lang="en-US" sz="1200" noProof="1"/>
          </a:p>
        </p:txBody>
      </p:sp>
      <p:sp>
        <p:nvSpPr>
          <p:cNvPr id="9" name="fig1-box"/>
          <p:cNvSpPr/>
          <p:nvPr/>
        </p:nvSpPr>
        <p:spPr>
          <a:xfrm>
            <a:off x="593090" y="2625090"/>
            <a:ext cx="5152390" cy="1206500"/>
          </a:xfrm>
          <a:prstGeom prst="roundRect">
            <a:avLst/>
          </a:prstGeom>
          <a:noFill/>
          <a:ln w="6350">
            <a:solidFill>
              <a:srgbClr val="1B1B1E"/>
            </a:solidFill>
            <a:prstDash val="dash"/>
          </a:ln>
        </p:spPr>
      </p:sp>
      <p:sp>
        <p:nvSpPr>
          <p:cNvPr id="10" name="fig1-caption"/>
          <p:cNvSpPr txBox="1"/>
          <p:nvPr/>
        </p:nvSpPr>
        <p:spPr>
          <a:xfrm>
            <a:off x="703580" y="2717800"/>
            <a:ext cx="3302000" cy="152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700" noProof="1" b="1">
                <a:solidFill>
                  <a:srgbClr val="000000"/>
                </a:solidFill>
                <a:latin typeface="黑体"/>
                <a:ea typeface="黑体"/>
              </a:rPr>
              <a:t>MTP 投机验证与 KDA 状态回滚链路</a:t>
            </a:r>
            <a:endParaRPr lang="en-US" sz="700" noProof="1"/>
          </a:p>
        </p:txBody>
      </p:sp>
      <p:sp>
        <p:nvSpPr>
          <p:cNvPr id="11" name="fig1-b1"/>
          <p:cNvSpPr/>
          <p:nvPr/>
        </p:nvSpPr>
        <p:spPr>
          <a:xfrm>
            <a:off x="762000" y="2997200"/>
            <a:ext cx="863600" cy="355600"/>
          </a:xfrm>
          <a:prstGeom prst="roundRect">
            <a:avLst/>
          </a:prstGeom>
          <a:solidFill>
            <a:srgbClr val="F0F0F4"/>
          </a:solidFill>
          <a:ln w="6350">
            <a:solidFill>
              <a:srgbClr val="1B1B1E"/>
            </a:solidFill>
          </a:ln>
        </p:spPr>
      </p:sp>
      <p:sp>
        <p:nvSpPr>
          <p:cNvPr id="12" name="fig1-t1"/>
          <p:cNvSpPr txBox="1"/>
          <p:nvPr/>
        </p:nvSpPr>
        <p:spPr>
          <a:xfrm>
            <a:off x="762000" y="2997200"/>
            <a:ext cx="863600" cy="355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ctr">
              <a:lnSpc>
                <a:spcPct val="120000"/>
              </a:lnSpc>
            </a:pPr>
            <a:r>
              <a:rPr lang="en-US" sz="600" noProof="1">
                <a:solidFill>
                  <a:srgbClr val="000000"/>
                </a:solidFill>
                <a:latin typeface="黑体"/>
                <a:ea typeface="黑体"/>
              </a:rPr>
              <a:t>MTP 草稿 token</a:t>
            </a:r>
            <a:endParaRPr lang="en-US" sz="600" noProof="1"/>
          </a:p>
        </p:txBody>
      </p:sp>
      <p:sp>
        <p:nvSpPr>
          <p:cNvPr id="13" name="fig1-b2"/>
          <p:cNvSpPr/>
          <p:nvPr/>
        </p:nvSpPr>
        <p:spPr>
          <a:xfrm>
            <a:off x="1752600" y="2997200"/>
            <a:ext cx="863600" cy="355600"/>
          </a:xfrm>
          <a:prstGeom prst="roundRect">
            <a:avLst/>
          </a:prstGeom>
          <a:solidFill>
            <a:srgbClr val="F0F0F4"/>
          </a:solidFill>
          <a:ln w="6350">
            <a:solidFill>
              <a:srgbClr val="1B1B1E"/>
            </a:solidFill>
          </a:ln>
        </p:spPr>
      </p:sp>
      <p:sp>
        <p:nvSpPr>
          <p:cNvPr id="14" name="fig1-t2"/>
          <p:cNvSpPr txBox="1"/>
          <p:nvPr/>
        </p:nvSpPr>
        <p:spPr>
          <a:xfrm>
            <a:off x="1752600" y="2997200"/>
            <a:ext cx="863600" cy="355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ctr">
              <a:lnSpc>
                <a:spcPct val="120000"/>
              </a:lnSpc>
            </a:pPr>
            <a:r>
              <a:rPr lang="en-US" sz="600" noProof="1">
                <a:solidFill>
                  <a:srgbClr val="000000"/>
                </a:solidFill>
                <a:latin typeface="黑体"/>
                <a:ea typeface="黑体"/>
              </a:rPr>
              <a:t>投影 q|k|v g β</a:t>
            </a:r>
            <a:endParaRPr lang="en-US" sz="600" noProof="1"/>
          </a:p>
        </p:txBody>
      </p:sp>
      <p:sp>
        <p:nvSpPr>
          <p:cNvPr id="15" name="fig1-b3"/>
          <p:cNvSpPr/>
          <p:nvPr/>
        </p:nvSpPr>
        <p:spPr>
          <a:xfrm>
            <a:off x="2743200" y="2997200"/>
            <a:ext cx="863600" cy="355600"/>
          </a:xfrm>
          <a:prstGeom prst="roundRect">
            <a:avLst/>
          </a:prstGeom>
          <a:solidFill>
            <a:srgbClr val="F0F0F4"/>
          </a:solidFill>
          <a:ln w="6350">
            <a:solidFill>
              <a:srgbClr val="1B1B1E"/>
            </a:solidFill>
          </a:ln>
        </p:spPr>
      </p:sp>
      <p:sp>
        <p:nvSpPr>
          <p:cNvPr id="16" name="fig1-t3"/>
          <p:cNvSpPr txBox="1"/>
          <p:nvPr/>
        </p:nvSpPr>
        <p:spPr>
          <a:xfrm>
            <a:off x="2743200" y="2997200"/>
            <a:ext cx="863600" cy="355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ctr">
              <a:lnSpc>
                <a:spcPct val="120000"/>
              </a:lnSpc>
            </a:pPr>
            <a:r>
              <a:rPr lang="en-US" sz="600" noProof="1">
                <a:solidFill>
                  <a:srgbClr val="000000"/>
                </a:solidFill>
                <a:latin typeface="黑体"/>
                <a:ea typeface="黑体"/>
              </a:rPr>
              <a:t>spec causal-conv</a:t>
            </a:r>
            <a:endParaRPr lang="en-US" sz="600" noProof="1"/>
          </a:p>
        </p:txBody>
      </p:sp>
      <p:sp>
        <p:nvSpPr>
          <p:cNvPr id="17" name="fig1-b4"/>
          <p:cNvSpPr/>
          <p:nvPr/>
        </p:nvSpPr>
        <p:spPr>
          <a:xfrm>
            <a:off x="3733800" y="2997200"/>
            <a:ext cx="863600" cy="355600"/>
          </a:xfrm>
          <a:prstGeom prst="roundRect">
            <a:avLst/>
          </a:prstGeom>
          <a:solidFill>
            <a:srgbClr val="C8DCF4"/>
          </a:solidFill>
          <a:ln w="6350">
            <a:solidFill>
              <a:srgbClr val="1B1B1E"/>
            </a:solidFill>
          </a:ln>
        </p:spPr>
      </p:sp>
      <p:sp>
        <p:nvSpPr>
          <p:cNvPr id="18" name="fig1-t4"/>
          <p:cNvSpPr txBox="1"/>
          <p:nvPr/>
        </p:nvSpPr>
        <p:spPr>
          <a:xfrm>
            <a:off x="3733800" y="2997200"/>
            <a:ext cx="863600" cy="355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ctr">
              <a:lnSpc>
                <a:spcPct val="120000"/>
              </a:lnSpc>
            </a:pPr>
            <a:r>
              <a:rPr lang="en-US" sz="600" noProof="1">
                <a:solidFill>
                  <a:srgbClr val="1F2A36"/>
                </a:solidFill>
                <a:latin typeface="黑体"/>
                <a:ea typeface="黑体"/>
              </a:rPr>
              <a:t>recurrent_kda</a:t>
            </a:r>
            <a:endParaRPr lang="en-US" sz="600" noProof="1"/>
          </a:p>
        </p:txBody>
      </p:sp>
      <p:sp>
        <p:nvSpPr>
          <p:cNvPr id="19" name="fig1-b5"/>
          <p:cNvSpPr/>
          <p:nvPr/>
        </p:nvSpPr>
        <p:spPr>
          <a:xfrm>
            <a:off x="4724400" y="2997200"/>
            <a:ext cx="863600" cy="355600"/>
          </a:xfrm>
          <a:prstGeom prst="roundRect">
            <a:avLst/>
          </a:prstGeom>
          <a:solidFill>
            <a:srgbClr val="F0F0F4"/>
          </a:solidFill>
          <a:ln w="6350">
            <a:solidFill>
              <a:srgbClr val="1B1B1E"/>
            </a:solidFill>
          </a:ln>
        </p:spPr>
      </p:sp>
      <p:sp>
        <p:nvSpPr>
          <p:cNvPr id="20" name="fig1-t5"/>
          <p:cNvSpPr txBox="1"/>
          <p:nvPr/>
        </p:nvSpPr>
        <p:spPr>
          <a:xfrm>
            <a:off x="4724400" y="2997200"/>
            <a:ext cx="863600" cy="355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ctr">
              <a:lnSpc>
                <a:spcPct val="120000"/>
              </a:lnSpc>
            </a:pPr>
            <a:r>
              <a:rPr lang="en-US" sz="600" noProof="1">
                <a:solidFill>
                  <a:srgbClr val="000000"/>
                </a:solidFill>
                <a:latin typeface="黑体"/>
                <a:ea typeface="黑体"/>
              </a:rPr>
              <a:t>index_copy 写回</a:t>
            </a:r>
            <a:endParaRPr lang="en-US" sz="600" noProof="1"/>
          </a:p>
        </p:txBody>
      </p:sp>
      <p:sp>
        <p:nvSpPr>
          <p:cNvPr id="21" name="fig1-a1"/>
          <p:cNvSpPr/>
          <p:nvPr>
            <p:extLst>
              <p:ext uri="{F5677B7D-0D2A-4D9B-9A5C-6D8D7D0E5A5D}">
                <pptd:line encoding="base64url">eyJ2aWV3Qm94IjpbMTAsMl0sInBvaW50cyI6IjEsMSA5LDEiLCJjdXJ2ZSI6InNoYXJwIn0</pptd:line>
              </p:ext>
            </p:extLst>
          </p:nvPr>
        </p:nvSpPr>
        <p:spPr>
          <a:xfrm>
            <a:off x="1625600" y="3162300"/>
            <a:ext cx="127000" cy="25400"/>
          </a:xfrm>
          <a:custGeom>
            <a:avLst/>
            <a:gdLst/>
            <a:ahLst/>
            <a:cxnLst/>
            <a:rect l="l" t="t" r="r" b="b"/>
            <a:pathLst>
              <a:path w="10" h="2">
                <a:moveTo>
                  <a:pt x="1" y="1"/>
                </a:moveTo>
                <a:lnTo>
                  <a:pt x="9" y="1"/>
                </a:lnTo>
              </a:path>
            </a:pathLst>
          </a:custGeom>
          <a:noFill/>
          <a:ln w="10160">
            <a:solidFill>
              <a:srgbClr val="1B1B1E"/>
            </a:solidFill>
            <a:tailEnd type="arrow"/>
          </a:ln>
        </p:spPr>
      </p:sp>
      <p:sp>
        <p:nvSpPr>
          <p:cNvPr id="22" name="fig1-a2"/>
          <p:cNvSpPr/>
          <p:nvPr>
            <p:extLst>
              <p:ext uri="{F5677B7D-0D2A-4D9B-9A5C-6D8D7D0E5A5D}">
                <pptd:line encoding="base64url">eyJ2aWV3Qm94IjpbMTAsMl0sInBvaW50cyI6IjEsMSA5LDEiLCJjdXJ2ZSI6InNoYXJwIn0</pptd:line>
              </p:ext>
            </p:extLst>
          </p:nvPr>
        </p:nvSpPr>
        <p:spPr>
          <a:xfrm>
            <a:off x="2616200" y="3162300"/>
            <a:ext cx="127000" cy="25400"/>
          </a:xfrm>
          <a:custGeom>
            <a:avLst/>
            <a:gdLst/>
            <a:ahLst/>
            <a:cxnLst/>
            <a:rect l="l" t="t" r="r" b="b"/>
            <a:pathLst>
              <a:path w="10" h="2">
                <a:moveTo>
                  <a:pt x="1" y="1"/>
                </a:moveTo>
                <a:lnTo>
                  <a:pt x="9" y="1"/>
                </a:lnTo>
              </a:path>
            </a:pathLst>
          </a:custGeom>
          <a:noFill/>
          <a:ln w="10160">
            <a:solidFill>
              <a:srgbClr val="1B1B1E"/>
            </a:solidFill>
            <a:tailEnd type="arrow"/>
          </a:ln>
        </p:spPr>
      </p:sp>
      <p:sp>
        <p:nvSpPr>
          <p:cNvPr id="23" name="fig1-a3"/>
          <p:cNvSpPr/>
          <p:nvPr>
            <p:extLst>
              <p:ext uri="{F5677B7D-0D2A-4D9B-9A5C-6D8D7D0E5A5D}">
                <pptd:line encoding="base64url">eyJ2aWV3Qm94IjpbMTAsMl0sInBvaW50cyI6IjEsMSA5LDEiLCJjdXJ2ZSI6InNoYXJwIn0</pptd:line>
              </p:ext>
            </p:extLst>
          </p:nvPr>
        </p:nvSpPr>
        <p:spPr>
          <a:xfrm>
            <a:off x="3606800" y="3162300"/>
            <a:ext cx="127000" cy="25400"/>
          </a:xfrm>
          <a:custGeom>
            <a:avLst/>
            <a:gdLst/>
            <a:ahLst/>
            <a:cxnLst/>
            <a:rect l="l" t="t" r="r" b="b"/>
            <a:pathLst>
              <a:path w="10" h="2">
                <a:moveTo>
                  <a:pt x="1" y="1"/>
                </a:moveTo>
                <a:lnTo>
                  <a:pt x="9" y="1"/>
                </a:lnTo>
              </a:path>
            </a:pathLst>
          </a:custGeom>
          <a:noFill/>
          <a:ln w="10160">
            <a:solidFill>
              <a:srgbClr val="1B1B1E"/>
            </a:solidFill>
            <a:tailEnd type="arrow"/>
          </a:ln>
        </p:spPr>
      </p:sp>
      <p:sp>
        <p:nvSpPr>
          <p:cNvPr id="24" name="fig1-a4"/>
          <p:cNvSpPr/>
          <p:nvPr>
            <p:extLst>
              <p:ext uri="{F5677B7D-0D2A-4D9B-9A5C-6D8D7D0E5A5D}">
                <pptd:line encoding="base64url">eyJ2aWV3Qm94IjpbMTAsMl0sInBvaW50cyI6IjEsMSA5LDEiLCJjdXJ2ZSI6InNoYXJwIn0</pptd:line>
              </p:ext>
            </p:extLst>
          </p:nvPr>
        </p:nvSpPr>
        <p:spPr>
          <a:xfrm>
            <a:off x="4597400" y="3162300"/>
            <a:ext cx="127000" cy="25400"/>
          </a:xfrm>
          <a:custGeom>
            <a:avLst/>
            <a:gdLst/>
            <a:ahLst/>
            <a:cxnLst/>
            <a:rect l="l" t="t" r="r" b="b"/>
            <a:pathLst>
              <a:path w="10" h="2">
                <a:moveTo>
                  <a:pt x="1" y="1"/>
                </a:moveTo>
                <a:lnTo>
                  <a:pt x="9" y="1"/>
                </a:lnTo>
              </a:path>
            </a:pathLst>
          </a:custGeom>
          <a:noFill/>
          <a:ln w="10160">
            <a:solidFill>
              <a:srgbClr val="1B1B1E"/>
            </a:solidFill>
            <a:tailEnd type="arrow"/>
          </a:ln>
        </p:spPr>
      </p:sp>
      <p:sp>
        <p:nvSpPr>
          <p:cNvPr id="25" name="fig1-subnote"/>
          <p:cNvSpPr txBox="1"/>
          <p:nvPr/>
        </p:nvSpPr>
        <p:spPr>
          <a:xfrm>
            <a:off x="762000" y="3454400"/>
            <a:ext cx="4826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20000"/>
              </a:lnSpc>
            </a:pPr>
            <a:r>
              <a:rPr lang="en-US" sz="550" noProof="1" b="1">
                <a:solidFill>
                  <a:srgbClr val="404040"/>
                </a:solidFill>
                <a:latin typeface="黑体"/>
                <a:ea typeface="黑体"/>
              </a:rPr>
              <a:t>num_accepted_tokens 定位起始 state slot；conv 与 KDA 共用同一 accepted prefix；输出经 index_copy 放回原 token 位置，投机/普通 decode 同批分流</a:t>
            </a:r>
            <a:endParaRPr lang="en-US" sz="550" noProof="1"/>
          </a:p>
        </p:txBody>
      </p:sp>
      <p:sp>
        <p:nvSpPr>
          <p:cNvPr id="26" name="fig2-box"/>
          <p:cNvSpPr/>
          <p:nvPr/>
        </p:nvSpPr>
        <p:spPr>
          <a:xfrm>
            <a:off x="593090" y="3962400"/>
            <a:ext cx="5152390" cy="1206500"/>
          </a:xfrm>
          <a:prstGeom prst="roundRect">
            <a:avLst/>
          </a:prstGeom>
          <a:noFill/>
          <a:ln w="6350">
            <a:solidFill>
              <a:srgbClr val="1B1B1E"/>
            </a:solidFill>
            <a:prstDash val="dash"/>
          </a:ln>
        </p:spPr>
      </p:sp>
      <p:sp>
        <p:nvSpPr>
          <p:cNvPr id="27" name="fig2-caption"/>
          <p:cNvSpPr txBox="1"/>
          <p:nvPr/>
        </p:nvSpPr>
        <p:spPr>
          <a:xfrm>
            <a:off x="703580" y="4051300"/>
            <a:ext cx="3810000" cy="152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700" noProof="1" b="1">
                <a:solidFill>
                  <a:srgbClr val="000000"/>
                </a:solidFill>
                <a:latin typeface="黑体"/>
                <a:ea typeface="黑体"/>
              </a:rPr>
              <a:t>state pool：accepted 前缀恢复 + 拒绝隔离</a:t>
            </a:r>
            <a:endParaRPr lang="en-US" sz="700" noProof="1"/>
          </a:p>
        </p:txBody>
      </p:sp>
      <p:sp>
        <p:nvSpPr>
          <p:cNvPr id="28" name="fig2-s0"/>
          <p:cNvSpPr/>
          <p:nvPr/>
        </p:nvSpPr>
        <p:spPr>
          <a:xfrm>
            <a:off x="762000" y="4318000"/>
            <a:ext cx="711200" cy="330200"/>
          </a:xfrm>
          <a:prstGeom prst="roundRect">
            <a:avLst/>
          </a:prstGeom>
          <a:solidFill>
            <a:srgbClr val="CBE6CF"/>
          </a:solidFill>
          <a:ln w="6350">
            <a:solidFill>
              <a:srgbClr val="1B1B1E"/>
            </a:solidFill>
          </a:ln>
        </p:spPr>
      </p:sp>
      <p:sp>
        <p:nvSpPr>
          <p:cNvPr id="29" name="fig2-st0"/>
          <p:cNvSpPr txBox="1"/>
          <p:nvPr/>
        </p:nvSpPr>
        <p:spPr>
          <a:xfrm>
            <a:off x="762000" y="4318000"/>
            <a:ext cx="711200" cy="330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600" noProof="1">
                <a:solidFill>
                  <a:srgbClr val="000000"/>
                </a:solidFill>
                <a:latin typeface="黑体"/>
                <a:ea typeface="黑体"/>
              </a:rPr>
              <a:t>S_accepted</a:t>
            </a:r>
            <a:endParaRPr lang="en-US" sz="600" noProof="1"/>
          </a:p>
        </p:txBody>
      </p:sp>
      <p:sp>
        <p:nvSpPr>
          <p:cNvPr id="30" name="fig2-s1"/>
          <p:cNvSpPr/>
          <p:nvPr/>
        </p:nvSpPr>
        <p:spPr>
          <a:xfrm>
            <a:off x="1574800" y="4318000"/>
            <a:ext cx="711200" cy="330200"/>
          </a:xfrm>
          <a:prstGeom prst="roundRect">
            <a:avLst/>
          </a:prstGeom>
          <a:solidFill>
            <a:srgbClr val="CBE6CF"/>
          </a:solidFill>
          <a:ln w="6350">
            <a:solidFill>
              <a:srgbClr val="1B1B1E"/>
            </a:solidFill>
          </a:ln>
        </p:spPr>
      </p:sp>
      <p:sp>
        <p:nvSpPr>
          <p:cNvPr id="31" name="fig2-st1"/>
          <p:cNvSpPr txBox="1"/>
          <p:nvPr/>
        </p:nvSpPr>
        <p:spPr>
          <a:xfrm>
            <a:off x="1574800" y="4318000"/>
            <a:ext cx="711200" cy="330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600" noProof="1">
                <a:solidFill>
                  <a:srgbClr val="000000"/>
                </a:solidFill>
                <a:latin typeface="黑体"/>
                <a:ea typeface="黑体"/>
              </a:rPr>
              <a:t>S(d1) ✓</a:t>
            </a:r>
            <a:endParaRPr lang="en-US" sz="600" noProof="1"/>
          </a:p>
        </p:txBody>
      </p:sp>
      <p:sp>
        <p:nvSpPr>
          <p:cNvPr id="32" name="fig2-s2"/>
          <p:cNvSpPr/>
          <p:nvPr/>
        </p:nvSpPr>
        <p:spPr>
          <a:xfrm>
            <a:off x="2387600" y="4318000"/>
            <a:ext cx="711200" cy="330200"/>
          </a:xfrm>
          <a:prstGeom prst="roundRect">
            <a:avLst/>
          </a:prstGeom>
          <a:solidFill>
            <a:srgbClr val="CBE6CF"/>
          </a:solidFill>
          <a:ln w="6350">
            <a:solidFill>
              <a:srgbClr val="1B1B1E"/>
            </a:solidFill>
          </a:ln>
        </p:spPr>
      </p:sp>
      <p:sp>
        <p:nvSpPr>
          <p:cNvPr id="33" name="fig2-st2"/>
          <p:cNvSpPr txBox="1"/>
          <p:nvPr/>
        </p:nvSpPr>
        <p:spPr>
          <a:xfrm>
            <a:off x="2387600" y="4318000"/>
            <a:ext cx="711200" cy="330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600" noProof="1">
                <a:solidFill>
                  <a:srgbClr val="000000"/>
                </a:solidFill>
                <a:latin typeface="黑体"/>
                <a:ea typeface="黑体"/>
              </a:rPr>
              <a:t>S(d2) ✓</a:t>
            </a:r>
            <a:endParaRPr lang="en-US" sz="600" noProof="1"/>
          </a:p>
        </p:txBody>
      </p:sp>
      <p:sp>
        <p:nvSpPr>
          <p:cNvPr id="34" name="fig2-s3"/>
          <p:cNvSpPr/>
          <p:nvPr/>
        </p:nvSpPr>
        <p:spPr>
          <a:xfrm>
            <a:off x="3200400" y="4318000"/>
            <a:ext cx="711200" cy="330200"/>
          </a:xfrm>
          <a:prstGeom prst="roundRect">
            <a:avLst/>
          </a:prstGeom>
          <a:solidFill>
            <a:srgbClr val="E5B3B2"/>
          </a:solidFill>
          <a:ln w="6350">
            <a:solidFill>
              <a:srgbClr val="1B1B1E"/>
            </a:solidFill>
          </a:ln>
        </p:spPr>
      </p:sp>
      <p:sp>
        <p:nvSpPr>
          <p:cNvPr id="35" name="fig2-st3"/>
          <p:cNvSpPr txBox="1"/>
          <p:nvPr/>
        </p:nvSpPr>
        <p:spPr>
          <a:xfrm>
            <a:off x="3200400" y="4318000"/>
            <a:ext cx="711200" cy="330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600" noProof="1">
                <a:solidFill>
                  <a:srgbClr val="000000"/>
                </a:solidFill>
                <a:latin typeface="黑体"/>
                <a:ea typeface="黑体"/>
              </a:rPr>
              <a:t>S(d3) ✗</a:t>
            </a:r>
            <a:endParaRPr lang="en-US" sz="600" noProof="1"/>
          </a:p>
        </p:txBody>
      </p:sp>
      <p:sp>
        <p:nvSpPr>
          <p:cNvPr id="36" name="fig2-s4"/>
          <p:cNvSpPr/>
          <p:nvPr/>
        </p:nvSpPr>
        <p:spPr>
          <a:xfrm>
            <a:off x="4013200" y="4318000"/>
            <a:ext cx="711200" cy="330200"/>
          </a:xfrm>
          <a:prstGeom prst="roundRect">
            <a:avLst/>
          </a:prstGeom>
          <a:solidFill>
            <a:srgbClr val="E5B3B2"/>
          </a:solidFill>
          <a:ln w="6350">
            <a:solidFill>
              <a:srgbClr val="1B1B1E"/>
            </a:solidFill>
          </a:ln>
        </p:spPr>
      </p:sp>
      <p:sp>
        <p:nvSpPr>
          <p:cNvPr id="37" name="fig2-st4"/>
          <p:cNvSpPr txBox="1"/>
          <p:nvPr/>
        </p:nvSpPr>
        <p:spPr>
          <a:xfrm>
            <a:off x="4013200" y="4318000"/>
            <a:ext cx="711200" cy="330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600" noProof="1">
                <a:solidFill>
                  <a:srgbClr val="000000"/>
                </a:solidFill>
                <a:latin typeface="黑体"/>
                <a:ea typeface="黑体"/>
              </a:rPr>
              <a:t>S(d4) ✗</a:t>
            </a:r>
            <a:endParaRPr lang="en-US" sz="600" noProof="1"/>
          </a:p>
        </p:txBody>
      </p:sp>
      <p:sp>
        <p:nvSpPr>
          <p:cNvPr id="38" name="fig2-s5"/>
          <p:cNvSpPr/>
          <p:nvPr/>
        </p:nvSpPr>
        <p:spPr>
          <a:xfrm>
            <a:off x="4826000" y="4318000"/>
            <a:ext cx="711200" cy="330200"/>
          </a:xfrm>
          <a:prstGeom prst="roundRect">
            <a:avLst/>
          </a:prstGeom>
          <a:solidFill>
            <a:srgbClr val="F0F0F4"/>
          </a:solidFill>
          <a:ln w="6350">
            <a:solidFill>
              <a:srgbClr val="1B1B1E"/>
            </a:solidFill>
          </a:ln>
        </p:spPr>
      </p:sp>
      <p:sp>
        <p:nvSpPr>
          <p:cNvPr id="39" name="fig2-st5"/>
          <p:cNvSpPr txBox="1"/>
          <p:nvPr/>
        </p:nvSpPr>
        <p:spPr>
          <a:xfrm>
            <a:off x="4826000" y="4318000"/>
            <a:ext cx="711200" cy="330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ctr">
              <a:lnSpc>
                <a:spcPct val="120000"/>
              </a:lnSpc>
            </a:pPr>
            <a:r>
              <a:rPr lang="en-US" sz="600" noProof="1">
                <a:solidFill>
                  <a:srgbClr val="000000"/>
                </a:solidFill>
                <a:latin typeface="黑体"/>
                <a:ea typeface="黑体"/>
              </a:rPr>
              <a:t>拒绝 slot 回收</a:t>
            </a:r>
            <a:endParaRPr lang="en-US" sz="600" noProof="1"/>
          </a:p>
        </p:txBody>
      </p:sp>
      <p:sp>
        <p:nvSpPr>
          <p:cNvPr id="40" name="fig2-subnote"/>
          <p:cNvSpPr txBox="1"/>
          <p:nvPr/>
        </p:nvSpPr>
        <p:spPr>
          <a:xfrm>
            <a:off x="762000" y="4749800"/>
            <a:ext cx="48260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20000"/>
              </a:lnSpc>
            </a:pPr>
            <a:r>
              <a:rPr lang="en-US" sz="550" noProof="1" b="1">
                <a:solidFill>
                  <a:srgbClr val="404040"/>
                </a:solidFill>
                <a:latin typeface="黑体"/>
                <a:ea typeface="黑体"/>
              </a:rPr>
              <a:t>每个 speculative token 一个独立 state slot，拒绝状态不覆盖主状态；回滚范围限于短投机窗口（单段 recurrent ≤8 token），无需回滚长上下文</a:t>
            </a:r>
            <a:endParaRPr lang="en-US" sz="550" noProof="1"/>
          </a:p>
        </p:txBody>
      </p:sp>
      <p:sp>
        <p:nvSpPr>
          <p:cNvPr id="41" name="param-label"/>
          <p:cNvSpPr txBox="1"/>
          <p:nvPr/>
        </p:nvSpPr>
        <p:spPr>
          <a:xfrm>
            <a:off x="6197600" y="2286000"/>
            <a:ext cx="381000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200" noProof="1" b="1">
                <a:solidFill>
                  <a:srgbClr val="C00000"/>
                </a:solidFill>
                <a:latin typeface="微软雅黑"/>
                <a:ea typeface="微软雅黑"/>
              </a:rPr>
              <a:t>高性能算子与性能数据</a:t>
            </a:r>
            <a:endParaRPr lang="en-US" sz="1200" noProof="1"/>
          </a:p>
        </p:txBody>
      </p:sp>
      <p:graphicFrame>
        <p:nvGraphicFramePr>
          <p:cNvPr id="42" name="param-table"/>
          <p:cNvGraphicFramePr>
            <a:graphicFrameLocks noGrp="1"/>
          </p:cNvGraphicFramePr>
          <p:nvPr/>
        </p:nvGraphicFramePr>
        <p:xfrm>
          <a:off x="6197600" y="2540000"/>
          <a:ext cx="5537200" cy="1270000"/>
        </p:xfrm>
        <a:graphic>
          <a:graphicData uri="http://schemas.openxmlformats.org/drawingml/2006/table">
            <a:tbl>
              <a:tblPr/>
              <a:tblGrid>
                <a:gridCol w="1162812"/>
                <a:gridCol w="1384300"/>
                <a:gridCol w="1550416"/>
                <a:gridCol w="1439672"/>
              </a:tblGrid>
              <a:tr h="228600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 b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算子 / 阶段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737373"/>
                      </a:solidFill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 b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关键约束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737373"/>
                      </a:solidFill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 b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实测数据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737373"/>
                      </a:solidFill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 b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负载特征 → 昇腾诉求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737373"/>
                      </a:solidFill>
                    </a:lnB>
                    <a:solidFill>
                      <a:srgbClr val="F5F5F5"/>
                    </a:solidFill>
                  </a:tcPr>
                </a:tc>
              </a:tr>
              <a:tr h="520700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flash_mla（draft 前向）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分段双核：big_quant 长历史 + small_bf16 近端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draft attention 2.76→0.878 ms/步（175.5 μs/层，ep32；ep64 339.5 μs/层）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• KV 在线量化 + LSE 合并</a:t>
                      </a:r>
                    </a:p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• 长史量化读取 → KV 带宽减半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</a:tr>
              <a:tr h="520700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recurrent_kda（MTP 回滚）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短窗 ≤8 token；inplace 写回 state pool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A5：121.8→94.6 μs（-22.31%）；A3：+2.97%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• rank-1 小矩阵，并行度仅 B×H</a:t>
                      </a:r>
                    </a:p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• 状态驻留片上 → SRAM 诉求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43" name="param-note"/>
          <p:cNvSpPr txBox="1"/>
          <p:nvPr/>
        </p:nvSpPr>
        <p:spPr>
          <a:xfrm>
            <a:off x="6197600" y="3860800"/>
            <a:ext cx="55372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35000"/>
              </a:lnSpc>
            </a:pPr>
            <a:r>
              <a:rPr lang="en-US" sz="750" noProof="1">
                <a:solidFill>
                  <a:srgbClr val="737373"/>
                </a:solidFill>
                <a:latin typeface="微软雅黑"/>
                <a:ea typeface="微软雅黑"/>
              </a:rPr>
              <a:t>draft 基线为 FIA 单核全 bf16；recurrent_kda 为 PR #17664 算子级 profile，均不等于端到端吞吐。</a:t>
            </a:r>
            <a:endParaRPr lang="en-US" sz="750" noProof="1"/>
          </a:p>
        </p:txBody>
      </p:sp>
      <p:sp>
        <p:nvSpPr>
          <p:cNvPr id="44" name="evo-label"/>
          <p:cNvSpPr txBox="1"/>
          <p:nvPr/>
        </p:nvSpPr>
        <p:spPr>
          <a:xfrm>
            <a:off x="6197600" y="4114800"/>
            <a:ext cx="508000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200" noProof="1" b="1">
                <a:solidFill>
                  <a:srgbClr val="C00000"/>
                </a:solidFill>
                <a:latin typeface="微软雅黑"/>
                <a:ea typeface="微软雅黑"/>
              </a:rPr>
              <a:t>演进方向：KV 滑窗与动态投机 K（两个独立技术点）</a:t>
            </a:r>
            <a:endParaRPr lang="en-US" sz="1200" noProof="1"/>
          </a:p>
        </p:txBody>
      </p:sp>
      <p:sp>
        <p:nvSpPr>
          <p:cNvPr id="45" name="evo-box"/>
          <p:cNvSpPr/>
          <p:nvPr/>
        </p:nvSpPr>
        <p:spPr>
          <a:xfrm>
            <a:off x="6197600" y="4368800"/>
            <a:ext cx="5537200" cy="660400"/>
          </a:xfrm>
          <a:prstGeom prst="roundRect">
            <a:avLst/>
          </a:prstGeom>
          <a:noFill/>
          <a:ln w="6350">
            <a:solidFill>
              <a:srgbClr val="1B1B1E"/>
            </a:solidFill>
            <a:prstDash val="dash"/>
          </a:ln>
        </p:spPr>
      </p:sp>
      <p:sp>
        <p:nvSpPr>
          <p:cNvPr id="46" name="evo-cap1"/>
          <p:cNvSpPr txBox="1"/>
          <p:nvPr/>
        </p:nvSpPr>
        <p:spPr>
          <a:xfrm>
            <a:off x="6324600" y="4432300"/>
            <a:ext cx="1905000" cy="127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700" noProof="1" b="1">
                <a:solidFill>
                  <a:srgbClr val="000000"/>
                </a:solidFill>
                <a:latin typeface="黑体"/>
                <a:ea typeface="黑体"/>
              </a:rPr>
              <a:t>① Draft KV 滑窗</a:t>
            </a:r>
            <a:endParaRPr lang="en-US" sz="700" noProof="1"/>
          </a:p>
        </p:txBody>
      </p:sp>
      <p:sp>
        <p:nvSpPr>
          <p:cNvPr id="47" name="evo-bar-draft"/>
          <p:cNvSpPr/>
          <p:nvPr/>
        </p:nvSpPr>
        <p:spPr>
          <a:xfrm>
            <a:off x="6324600" y="4622800"/>
            <a:ext cx="1676400" cy="101600"/>
          </a:xfrm>
          <a:prstGeom prst="rect">
            <a:avLst/>
          </a:prstGeom>
          <a:solidFill>
            <a:srgbClr val="F0F0F4"/>
          </a:solidFill>
          <a:ln w="6350">
            <a:solidFill>
              <a:srgbClr val="1B1B1E"/>
            </a:solidFill>
          </a:ln>
        </p:spPr>
      </p:sp>
      <p:sp>
        <p:nvSpPr>
          <p:cNvPr id="48" name="evo-bar-draft-win"/>
          <p:cNvSpPr/>
          <p:nvPr/>
        </p:nvSpPr>
        <p:spPr>
          <a:xfrm>
            <a:off x="7670800" y="4622800"/>
            <a:ext cx="330200" cy="101600"/>
          </a:xfrm>
          <a:prstGeom prst="rect">
            <a:avLst/>
          </a:prstGeom>
          <a:solidFill>
            <a:srgbClr val="C8DCF4"/>
          </a:solidFill>
          <a:ln w="6350">
            <a:solidFill>
              <a:srgbClr val="1B1B1E"/>
            </a:solidFill>
          </a:ln>
        </p:spPr>
      </p:sp>
      <p:sp>
        <p:nvSpPr>
          <p:cNvPr id="49" name="evo-bar-target"/>
          <p:cNvSpPr/>
          <p:nvPr/>
        </p:nvSpPr>
        <p:spPr>
          <a:xfrm>
            <a:off x="6324600" y="4775200"/>
            <a:ext cx="1676400" cy="101600"/>
          </a:xfrm>
          <a:prstGeom prst="rect">
            <a:avLst/>
          </a:prstGeom>
          <a:solidFill>
            <a:srgbClr val="CBE6CF"/>
          </a:solidFill>
          <a:ln w="6350">
            <a:solidFill>
              <a:srgbClr val="1B1B1E"/>
            </a:solidFill>
          </a:ln>
        </p:spPr>
      </p:sp>
      <p:sp>
        <p:nvSpPr>
          <p:cNvPr id="50" name="evo-t-draft"/>
          <p:cNvSpPr txBox="1"/>
          <p:nvPr/>
        </p:nvSpPr>
        <p:spPr>
          <a:xfrm>
            <a:off x="8077200" y="4597400"/>
            <a:ext cx="863600" cy="127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550" noProof="1" b="1">
                <a:solidFill>
                  <a:srgbClr val="404040"/>
                </a:solidFill>
                <a:latin typeface="黑体"/>
                <a:ea typeface="黑体"/>
              </a:rPr>
              <a:t>draft 仅最近 W</a:t>
            </a:r>
            <a:endParaRPr lang="en-US" sz="550" noProof="1"/>
          </a:p>
        </p:txBody>
      </p:sp>
      <p:sp>
        <p:nvSpPr>
          <p:cNvPr id="51" name="evo-t-target"/>
          <p:cNvSpPr txBox="1"/>
          <p:nvPr/>
        </p:nvSpPr>
        <p:spPr>
          <a:xfrm>
            <a:off x="8077200" y="4749800"/>
            <a:ext cx="863600" cy="127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550" noProof="1" b="1">
                <a:solidFill>
                  <a:srgbClr val="404040"/>
                </a:solidFill>
                <a:latin typeface="黑体"/>
                <a:ea typeface="黑体"/>
              </a:rPr>
              <a:t>target 全上下文</a:t>
            </a:r>
            <a:endParaRPr lang="en-US" sz="550" noProof="1"/>
          </a:p>
        </p:txBody>
      </p:sp>
      <p:sp>
        <p:nvSpPr>
          <p:cNvPr id="52" name="evo-divider"/>
          <p:cNvSpPr/>
          <p:nvPr>
            <p:extLst>
              <p:ext uri="{F5677B7D-0D2A-4D9B-9A5C-6D8D7D0E5A5D}">
                <pptd:line encoding="base64url">eyJ2aWV3Qm94IjpbMiw0NF0sInBvaW50cyI6IjEsMSAxLDQzIiwiY3VydmUiOiJzaGFycCJ9</pptd:line>
              </p:ext>
            </p:extLst>
          </p:nvPr>
        </p:nvSpPr>
        <p:spPr>
          <a:xfrm>
            <a:off x="9004300" y="4419600"/>
            <a:ext cx="25400" cy="558800"/>
          </a:xfrm>
          <a:custGeom>
            <a:avLst/>
            <a:gdLst/>
            <a:ahLst/>
            <a:cxnLst/>
            <a:rect l="l" t="t" r="r" b="b"/>
            <a:pathLst>
              <a:path w="2" h="44">
                <a:moveTo>
                  <a:pt x="1" y="1"/>
                </a:moveTo>
                <a:lnTo>
                  <a:pt x="1" y="43"/>
                </a:lnTo>
              </a:path>
            </a:pathLst>
          </a:custGeom>
          <a:noFill/>
          <a:ln w="9525">
            <a:solidFill>
              <a:srgbClr val="737373"/>
            </a:solidFill>
            <a:prstDash val="dash"/>
          </a:ln>
        </p:spPr>
      </p:sp>
      <p:sp>
        <p:nvSpPr>
          <p:cNvPr id="53" name="evo-cap2"/>
          <p:cNvSpPr txBox="1"/>
          <p:nvPr/>
        </p:nvSpPr>
        <p:spPr>
          <a:xfrm>
            <a:off x="9131300" y="4432300"/>
            <a:ext cx="1905000" cy="127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700" noProof="1" b="1">
                <a:solidFill>
                  <a:srgbClr val="000000"/>
                </a:solidFill>
                <a:latin typeface="黑体"/>
                <a:ea typeface="黑体"/>
              </a:rPr>
              <a:t>② 动态投机 K</a:t>
            </a:r>
            <a:endParaRPr lang="en-US" sz="700" noProof="1"/>
          </a:p>
        </p:txBody>
      </p:sp>
      <p:sp>
        <p:nvSpPr>
          <p:cNvPr id="54" name="evo-k1"/>
          <p:cNvSpPr/>
          <p:nvPr/>
        </p:nvSpPr>
        <p:spPr>
          <a:xfrm>
            <a:off x="9131300" y="4622800"/>
            <a:ext cx="469900" cy="152400"/>
          </a:xfrm>
          <a:prstGeom prst="roundRect">
            <a:avLst/>
          </a:prstGeom>
          <a:solidFill>
            <a:srgbClr val="C8DCF4"/>
          </a:solidFill>
          <a:ln w="6350">
            <a:solidFill>
              <a:srgbClr val="1B1B1E"/>
            </a:solidFill>
          </a:ln>
        </p:spPr>
      </p:sp>
      <p:sp>
        <p:nvSpPr>
          <p:cNvPr id="55" name="evo-kt1"/>
          <p:cNvSpPr txBox="1"/>
          <p:nvPr/>
        </p:nvSpPr>
        <p:spPr>
          <a:xfrm>
            <a:off x="9131300" y="4622800"/>
            <a:ext cx="469900" cy="152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550" noProof="1" b="1">
                <a:solidFill>
                  <a:srgbClr val="404040"/>
                </a:solidFill>
                <a:latin typeface="黑体"/>
                <a:ea typeface="黑体"/>
              </a:rPr>
              <a:t>K=5</a:t>
            </a:r>
            <a:endParaRPr lang="en-US" sz="550" noProof="1"/>
          </a:p>
        </p:txBody>
      </p:sp>
      <p:sp>
        <p:nvSpPr>
          <p:cNvPr id="56" name="evo-k2"/>
          <p:cNvSpPr/>
          <p:nvPr/>
        </p:nvSpPr>
        <p:spPr>
          <a:xfrm>
            <a:off x="9639300" y="4622800"/>
            <a:ext cx="469900" cy="152400"/>
          </a:xfrm>
          <a:prstGeom prst="roundRect">
            <a:avLst/>
          </a:prstGeom>
          <a:solidFill>
            <a:srgbClr val="D9E6F7"/>
          </a:solidFill>
          <a:ln w="6350">
            <a:solidFill>
              <a:srgbClr val="1B1B1E"/>
            </a:solidFill>
          </a:ln>
        </p:spPr>
      </p:sp>
      <p:sp>
        <p:nvSpPr>
          <p:cNvPr id="57" name="evo-kt2"/>
          <p:cNvSpPr txBox="1"/>
          <p:nvPr/>
        </p:nvSpPr>
        <p:spPr>
          <a:xfrm>
            <a:off x="9639300" y="4622800"/>
            <a:ext cx="469900" cy="152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550" noProof="1" b="1">
                <a:solidFill>
                  <a:srgbClr val="404040"/>
                </a:solidFill>
                <a:latin typeface="黑体"/>
                <a:ea typeface="黑体"/>
              </a:rPr>
              <a:t>K=4</a:t>
            </a:r>
            <a:endParaRPr lang="en-US" sz="550" noProof="1"/>
          </a:p>
        </p:txBody>
      </p:sp>
      <p:sp>
        <p:nvSpPr>
          <p:cNvPr id="58" name="evo-k3"/>
          <p:cNvSpPr/>
          <p:nvPr/>
        </p:nvSpPr>
        <p:spPr>
          <a:xfrm>
            <a:off x="10147300" y="4622800"/>
            <a:ext cx="469900" cy="152400"/>
          </a:xfrm>
          <a:prstGeom prst="roundRect">
            <a:avLst/>
          </a:prstGeom>
          <a:solidFill>
            <a:srgbClr val="E7EFFA"/>
          </a:solidFill>
          <a:ln w="6350">
            <a:solidFill>
              <a:srgbClr val="1B1B1E"/>
            </a:solidFill>
          </a:ln>
        </p:spPr>
      </p:sp>
      <p:sp>
        <p:nvSpPr>
          <p:cNvPr id="59" name="evo-kt3"/>
          <p:cNvSpPr txBox="1"/>
          <p:nvPr/>
        </p:nvSpPr>
        <p:spPr>
          <a:xfrm>
            <a:off x="10147300" y="4622800"/>
            <a:ext cx="469900" cy="152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550" noProof="1" b="1">
                <a:solidFill>
                  <a:srgbClr val="404040"/>
                </a:solidFill>
                <a:latin typeface="黑体"/>
                <a:ea typeface="黑体"/>
              </a:rPr>
              <a:t>K=3</a:t>
            </a:r>
            <a:endParaRPr lang="en-US" sz="550" noProof="1"/>
          </a:p>
        </p:txBody>
      </p:sp>
      <p:sp>
        <p:nvSpPr>
          <p:cNvPr id="60" name="evo-k4"/>
          <p:cNvSpPr/>
          <p:nvPr/>
        </p:nvSpPr>
        <p:spPr>
          <a:xfrm>
            <a:off x="10655300" y="4622800"/>
            <a:ext cx="469900" cy="152400"/>
          </a:xfrm>
          <a:prstGeom prst="roundRect">
            <a:avLst/>
          </a:prstGeom>
          <a:solidFill>
            <a:srgbClr val="F0F0F4"/>
          </a:solidFill>
          <a:ln w="6350">
            <a:solidFill>
              <a:srgbClr val="1B1B1E"/>
            </a:solidFill>
          </a:ln>
        </p:spPr>
      </p:sp>
      <p:sp>
        <p:nvSpPr>
          <p:cNvPr id="61" name="evo-kt4"/>
          <p:cNvSpPr txBox="1"/>
          <p:nvPr/>
        </p:nvSpPr>
        <p:spPr>
          <a:xfrm>
            <a:off x="10655300" y="4622800"/>
            <a:ext cx="469900" cy="152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550" noProof="1" b="1">
                <a:solidFill>
                  <a:srgbClr val="404040"/>
                </a:solidFill>
                <a:latin typeface="黑体"/>
                <a:ea typeface="黑体"/>
              </a:rPr>
              <a:t>K=1</a:t>
            </a:r>
            <a:endParaRPr lang="en-US" sz="550" noProof="1"/>
          </a:p>
        </p:txBody>
      </p:sp>
      <p:sp>
        <p:nvSpPr>
          <p:cNvPr id="62" name="evo-k5"/>
          <p:cNvSpPr/>
          <p:nvPr/>
        </p:nvSpPr>
        <p:spPr>
          <a:xfrm>
            <a:off x="11163300" y="4622800"/>
            <a:ext cx="469900" cy="152400"/>
          </a:xfrm>
          <a:prstGeom prst="roundRect">
            <a:avLst/>
          </a:prstGeom>
          <a:solidFill>
            <a:srgbClr val="E5B3B2"/>
          </a:solidFill>
          <a:ln w="6350">
            <a:solidFill>
              <a:srgbClr val="1B1B1E"/>
            </a:solidFill>
          </a:ln>
        </p:spPr>
      </p:sp>
      <p:sp>
        <p:nvSpPr>
          <p:cNvPr id="63" name="evo-kt5"/>
          <p:cNvSpPr txBox="1"/>
          <p:nvPr/>
        </p:nvSpPr>
        <p:spPr>
          <a:xfrm>
            <a:off x="11163300" y="4622800"/>
            <a:ext cx="469900" cy="152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550" noProof="1" b="1">
                <a:solidFill>
                  <a:srgbClr val="404040"/>
                </a:solidFill>
                <a:latin typeface="黑体"/>
                <a:ea typeface="黑体"/>
              </a:rPr>
              <a:t>K=0</a:t>
            </a:r>
            <a:endParaRPr lang="en-US" sz="550" noProof="1"/>
          </a:p>
        </p:txBody>
      </p:sp>
      <p:sp>
        <p:nvSpPr>
          <p:cNvPr id="64" name="evo-k-note"/>
          <p:cNvSpPr txBox="1"/>
          <p:nvPr/>
        </p:nvSpPr>
        <p:spPr>
          <a:xfrm>
            <a:off x="9131300" y="4826000"/>
            <a:ext cx="2540000" cy="127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550" noProof="1" b="1">
                <a:solidFill>
                  <a:srgbClr val="404040"/>
                </a:solidFill>
                <a:latin typeface="黑体"/>
                <a:ea typeface="黑体"/>
              </a:rPr>
              <a:t>bs 1–16 → 129+：并发越高 K 越小直至关闭</a:t>
            </a:r>
            <a:endParaRPr lang="en-US" sz="550" noProof="1"/>
          </a:p>
        </p:txBody>
      </p:sp>
      <p:graphicFrame>
        <p:nvGraphicFramePr>
          <p:cNvPr id="65" name="evo-table"/>
          <p:cNvGraphicFramePr>
            <a:graphicFrameLocks noGrp="1"/>
          </p:cNvGraphicFramePr>
          <p:nvPr/>
        </p:nvGraphicFramePr>
        <p:xfrm>
          <a:off x="6197600" y="5105400"/>
          <a:ext cx="5537200" cy="457200"/>
        </p:xfrm>
        <a:graphic>
          <a:graphicData uri="http://schemas.openxmlformats.org/drawingml/2006/table">
            <a:tbl>
              <a:tblPr/>
              <a:tblGrid>
                <a:gridCol w="885952"/>
                <a:gridCol w="4651248"/>
              </a:tblGrid>
              <a:tr h="228600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 b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KV 滑窗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draft 只读最近 W，target 全上下文 —— 恢复长上下文接受率（Eagle3 +40.8%）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</a:tr>
              <a:tr h="228600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 b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动态投机 K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按并发阶梯调整 draft 长度，高并发 K→0 —— 削减无效验证成本（K≤8）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66" name="dev-label"/>
          <p:cNvSpPr txBox="1"/>
          <p:nvPr/>
        </p:nvSpPr>
        <p:spPr>
          <a:xfrm>
            <a:off x="558800" y="5664200"/>
            <a:ext cx="381000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200" noProof="1" b="1">
                <a:solidFill>
                  <a:srgbClr val="C00000"/>
                </a:solidFill>
                <a:latin typeface="微软雅黑"/>
                <a:ea typeface="微软雅黑"/>
              </a:rPr>
              <a:t>专家观点：现状研判与演进方向</a:t>
            </a:r>
            <a:endParaRPr lang="en-US" sz="1200" noProof="1"/>
          </a:p>
        </p:txBody>
      </p:sp>
      <p:sp>
        <p:nvSpPr>
          <p:cNvPr id="67" name="dev-bullets"/>
          <p:cNvSpPr txBox="1"/>
          <p:nvPr/>
        </p:nvSpPr>
        <p:spPr>
          <a:xfrm>
            <a:off x="558800" y="5918200"/>
            <a:ext cx="11125200" cy="863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35000"/>
              </a:lnSpc>
              <a:spcBef>
                <a:spcPts val="10"/>
              </a:spcBef>
              <a:buChar char="•"/>
            </a:pPr>
            <a:r>
              <a:rPr lang="en-US" sz="800" noProof="1" b="1">
                <a:solidFill>
                  <a:srgbClr val="262626"/>
                </a:solidFill>
                <a:latin typeface="微软雅黑"/>
                <a:ea typeface="微软雅黑"/>
              </a:rPr>
              <a:t>现状</a:t>
            </a:r>
            <a:r>
              <a:rPr lang="en-US" sz="800" noProof="1">
                <a:solidFill>
                  <a:srgbClr val="262626"/>
                </a:solidFill>
                <a:latin typeface="微软雅黑"/>
                <a:ea typeface="微软雅黑"/>
              </a:rPr>
              <a:t>：回滚链路功能闭环、flash_mla 与 recurrent_kda 收益已兑现，但仍是 state-slot 快照方案（状态/投影输入 ≈51.2×）—— 结论：局部收益不等于端到端，瓶颈在状态流量而非计算</a:t>
            </a:r>
            <a:endParaRPr lang="en-US" sz="800" noProof="1"/>
          </a:p>
          <a:p>
            <a:pPr algn="l">
              <a:lnSpc>
                <a:spcPct val="135000"/>
              </a:lnSpc>
              <a:spcBef>
                <a:spcPts val="300"/>
              </a:spcBef>
              <a:buChar char="•"/>
            </a:pPr>
            <a:r>
              <a:rPr lang="en-US" sz="800" noProof="1" b="1">
                <a:solidFill>
                  <a:srgbClr val="262626"/>
                </a:solidFill>
                <a:latin typeface="微软雅黑"/>
                <a:ea typeface="微软雅黑"/>
              </a:rPr>
              <a:t>演进</a:t>
            </a:r>
            <a:r>
              <a:rPr lang="en-US" sz="800" noProof="1">
                <a:solidFill>
                  <a:srgbClr val="262626"/>
                </a:solidFill>
                <a:latin typeface="微软雅黑"/>
                <a:ea typeface="微软雅黑"/>
              </a:rPr>
              <a:t>：KV 滑窗与动态 K 分别解决接受率与验证成本两个正交问题 —— 观点：MTP 复用 target 层不能缩窗，滑窗须依托独立 draft；KDA 下最优 K 或低于 Transformer draft</a:t>
            </a:r>
            <a:endParaRPr lang="en-US" sz="800" noProof="1"/>
          </a:p>
          <a:p>
            <a:pPr algn="l">
              <a:lnSpc>
                <a:spcPct val="135000"/>
              </a:lnSpc>
              <a:spcBef>
                <a:spcPts val="300"/>
              </a:spcBef>
              <a:buChar char="•"/>
            </a:pPr>
            <a:r>
              <a:rPr lang="en-US" sz="800" noProof="1" b="1">
                <a:solidFill>
                  <a:srgbClr val="262626"/>
                </a:solidFill>
                <a:latin typeface="微软雅黑"/>
                <a:ea typeface="微软雅黑"/>
              </a:rPr>
              <a:t>总结</a:t>
            </a:r>
            <a:r>
              <a:rPr lang="en-US" sz="800" noProof="1">
                <a:solidFill>
                  <a:srgbClr val="262626"/>
                </a:solidFill>
                <a:latin typeface="微软雅黑"/>
                <a:ea typeface="微软雅黑"/>
              </a:rPr>
              <a:t>：投机推理的演进主线是从“固定窗口 + 状态快照”走向“自适应 K/W 调度 + 低流量 replay”—— 调度智能化与状态流量压缩决定 K3 投机的端到端上限</a:t>
            </a:r>
            <a:endParaRPr lang="en-US" sz="800" noProof="1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PTD">
  <a:themeElements>
    <a:clrScheme name="PPTD">
      <a:dk1>
        <a:srgbClr val="000000"/>
      </a:dk1>
      <a:lt1>
        <a:srgbClr val="FFFFFF"/>
      </a:lt1>
      <a:dk2>
        <a:srgbClr val="1F2937"/>
      </a:dk2>
      <a:lt2>
        <a:srgbClr val="F3F4F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PPTD">
      <a:majorFont>
        <a:latin typeface="MiSans"/>
        <a:ea typeface="MiSans"/>
        <a:cs typeface="MiSans"/>
      </a:majorFont>
      <a:minorFont>
        <a:latin typeface="MiSans"/>
        <a:ea typeface="MiSans"/>
        <a:cs typeface="MiSans"/>
      </a:minorFont>
    </a:fontScheme>
    <a:fmtScheme name="PPTD">
      <a:fillStyleLst>
        <a:solidFill>
          <a:schemeClr val="accent1"/>
        </a:solidFill>
        <a:solidFill>
          <a:schemeClr val="accent2"/>
        </a:solidFill>
        <a:solidFill>
          <a:schemeClr val="accent3"/>
        </a:solidFill>
      </a:fillStyleLst>
      <a:lnStyleLst>
        <a:ln w="6350" cap="flat" cmpd="sng" algn="ctr">
          <a:solidFill>
            <a:schemeClr val="accent1"/>
          </a:solidFill>
          <a:prstDash val="solid"/>
        </a:ln>
        <a:ln w="12700" cap="flat" cmpd="sng" algn="ctr">
          <a:solidFill>
            <a:schemeClr val="accent1"/>
          </a:solidFill>
          <a:prstDash val="solid"/>
        </a:ln>
        <a:ln w="19050" cap="flat" cmpd="sng" algn="ctr">
          <a:solidFill>
            <a:schemeClr val="accent1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lt1"/>
        </a:solidFill>
        <a:solidFill>
          <a:schemeClr val="lt2"/>
        </a:solidFill>
        <a:solidFill>
          <a:schemeClr val="dk1"/>
        </a:solidFill>
      </a:bgFillStyleLst>
    </a:fmtScheme>
  </a:themeElements>
</a:theme>
</file>

<file path=customXml/provenance.xml><?xml version="1.0" encoding="utf-8"?>
<provenance xmlns="urn:kimi:pptd:provenance">
  <producer>Kimi Slides/Design</producer>
  <statement>Built by Kimi Slides/Design with PPTD</statement>
</provenance>
</file>

<file path=docProps/app.xml><?xml version="1.0" encoding="utf-8"?>
<Properties xmlns="http://schemas.openxmlformats.org/officeDocument/2006/extended-properties">
  <Application>Neo Design</Application>
  <Slides>1</Slides>
</Properties>
</file>

<file path=docProps/core.xml><?xml version="1.0" encoding="utf-8"?>
<cp:coreProperties xmlns:dc="http://purl.org/dc/elements/1.1/" xmlns:cp="http://schemas.openxmlformats.org/package/2006/metadata/core-properties">
  <dc:title>kimi_k3_spec_decode_insight</dc:title>
</cp:coreProperties>
</file>

<file path=docProps/custom.xml><?xml version="1.0" encoding="utf-8"?>
<Properties xmlns:vt="http://schemas.openxmlformats.org/officeDocument/2006/docPropsVTypes" xmlns="http://schemas.openxmlformats.org/officeDocument/2006/custom-properties">
  <property fmtid="{D5CDD505-2E9C-101B-9397-08002B2CF9AE}" pid="4" name="AIGC">
    <vt:lpwstr/>
  </property>
</Properties>
</file>