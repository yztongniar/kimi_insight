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charts/chart1_1.xml" ContentType="application/vnd.openxmlformats-officedocument.drawingml.chart+xml"/>
  <Override PartName="/ppt/charts/chart1_2.xml" ContentType="application/vnd.openxmlformats-officedocument.drawingml.chart+xml"/>
  <Override PartName="/ppt/charts/chart1_3.xml" ContentType="application/vnd.openxmlformats-officedocument.drawingml.chart+xml"/>
  <Override PartName="/ppt/charts/chart1_4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charts/_rels/chart1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_1.xlsx"/></Relationships>
</file>

<file path=ppt/charts/_rels/chart1_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_2.xlsx"/></Relationships>
</file>

<file path=ppt/charts/_rels/chart1_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_3.xlsx"/></Relationships>
</file>

<file path=ppt/charts/_rels/chart1_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_4.xlsx"/></Relationships>
</file>

<file path=ppt/charts/chart1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Lbls>
            <c:numFmt formatCode="0.0%" sourceLinked="0"/>
            <c:txPr>
              <a:bodyPr/>
              <a:lstStyle/>
              <a:p>
                <a:pPr>
                  <a:defRPr sz="650" noProof="1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 noProof="1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</c:dLbls>
          <c:dPt>
            <c:idx val="0"/>
            <c:spPr>
              <a:solidFill>
                <a:srgbClr val="4C78A8"/>
              </a:solidFill>
              <a:ln>
                <a:noFill/>
              </a:ln>
            </c:spPr>
          </c:dPt>
          <c:dPt>
            <c:idx val="1"/>
            <c:spPr>
              <a:solidFill>
                <a:srgbClr val="F2A93B"/>
              </a:solidFill>
              <a:ln>
                <a:noFill/>
              </a:ln>
            </c:spPr>
          </c:dPt>
          <c:dPt>
            <c:idx val="2"/>
            <c:spPr>
              <a:solidFill>
                <a:srgbClr val="C9C9C9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ChunkKdaFwd</c:v>
                </c:pt>
                <c:pt idx="1">
                  <c:v>FusedInferAttnScore</c:v>
                </c:pt>
                <c:pt idx="2">
                  <c:v>其他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66.5</c:v>
                </c:pt>
                <c:pt idx="1">
                  <c:v>24.3</c:v>
                </c:pt>
                <c:pt idx="2">
                  <c:v>9.2</c:v>
                </c:pt>
              </c:numCache>
            </c:numRef>
          </c:val>
        </c:ser>
        <c:firstSliceAng val="90"/>
        <c:holeSize val="35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微软雅黑"/>
        </a:defRPr>
      </a:pPr>
      <a:endParaRPr lang="en-US" noProof="1"/>
    </a:p>
  </c:txPr>
  <c:externalData r:id="rId1">
    <c:autoUpdate val="0"/>
  </c:externalData>
</c:chartSpace>
</file>

<file path=ppt/charts/chart1_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Lbls>
            <c:numFmt formatCode="0.0%" sourceLinked="0"/>
            <c:txPr>
              <a:bodyPr/>
              <a:lstStyle/>
              <a:p>
                <a:pPr>
                  <a:defRPr sz="650" noProof="1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 noProof="1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</c:dLbls>
          <c:dPt>
            <c:idx val="0"/>
            <c:spPr>
              <a:solidFill>
                <a:srgbClr val="4C78A8"/>
              </a:solidFill>
              <a:ln>
                <a:noFill/>
              </a:ln>
            </c:spPr>
          </c:dPt>
          <c:dPt>
            <c:idx val="1"/>
            <c:spPr>
              <a:solidFill>
                <a:srgbClr val="4C78A8"/>
              </a:solidFill>
              <a:ln>
                <a:noFill/>
              </a:ln>
            </c:spPr>
          </c:dPt>
          <c:dPt>
            <c:idx val="2"/>
            <c:spPr>
              <a:solidFill>
                <a:srgbClr val="F2A93B"/>
              </a:solidFill>
              <a:ln>
                <a:noFill/>
              </a:ln>
            </c:spPr>
          </c:dPt>
          <c:dPt>
            <c:idx val="3"/>
            <c:spPr>
              <a:solidFill>
                <a:srgbClr val="F2A93B"/>
              </a:solidFill>
              <a:ln>
                <a:noFill/>
              </a:ln>
            </c:spPr>
          </c:dPt>
          <c:dPt>
            <c:idx val="4"/>
            <c:spPr>
              <a:solidFill>
                <a:srgbClr val="C9C9C9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GroupedMatmul</c:v>
                </c:pt>
                <c:pt idx="1">
                  <c:v>QuantBatchMatmulV3</c:v>
                </c:pt>
                <c:pt idx="2">
                  <c:v>DequantSituQuant</c:v>
                </c:pt>
                <c:pt idx="3">
                  <c:v>DynamicQuant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34.5</c:v>
                </c:pt>
                <c:pt idx="1">
                  <c:v>18.6</c:v>
                </c:pt>
                <c:pt idx="2">
                  <c:v>19.4</c:v>
                </c:pt>
                <c:pt idx="3">
                  <c:v>16.5</c:v>
                </c:pt>
                <c:pt idx="4">
                  <c:v>11</c:v>
                </c:pt>
              </c:numCache>
            </c:numRef>
          </c:val>
        </c:ser>
        <c:firstSliceAng val="90"/>
        <c:holeSize val="35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微软雅黑"/>
        </a:defRPr>
      </a:pPr>
      <a:endParaRPr lang="en-US" noProof="1"/>
    </a:p>
  </c:txPr>
  <c:externalData r:id="rId1">
    <c:autoUpdate val="0"/>
  </c:externalData>
</c:chartSpace>
</file>

<file path=ppt/charts/chart1_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Lbls>
            <c:numFmt formatCode="0.0%" sourceLinked="0"/>
            <c:txPr>
              <a:bodyPr/>
              <a:lstStyle/>
              <a:p>
                <a:pPr>
                  <a:defRPr sz="650" noProof="1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 noProof="1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</c:dLbls>
          <c:dPt>
            <c:idx val="0"/>
            <c:spPr>
              <a:solidFill>
                <a:srgbClr val="F2A93B"/>
              </a:solidFill>
              <a:ln>
                <a:noFill/>
              </a:ln>
            </c:spPr>
          </c:dPt>
          <c:dPt>
            <c:idx val="1"/>
            <c:spPr>
              <a:solidFill>
                <a:srgbClr val="F2A93B"/>
              </a:solidFill>
              <a:ln>
                <a:noFill/>
              </a:ln>
            </c:spPr>
          </c:dPt>
          <c:dPt>
            <c:idx val="2"/>
            <c:spPr>
              <a:solidFill>
                <a:srgbClr val="F2A93B"/>
              </a:solidFill>
              <a:ln>
                <a:noFill/>
              </a:ln>
            </c:spPr>
          </c:dPt>
          <c:dPt>
            <c:idx val="3"/>
            <c:spPr>
              <a:solidFill>
                <a:srgbClr val="4C78A8"/>
              </a:solidFill>
              <a:ln>
                <a:noFill/>
              </a:ln>
            </c:spPr>
          </c:dPt>
          <c:dPt>
            <c:idx val="4"/>
            <c:spPr>
              <a:solidFill>
                <a:srgbClr val="C9C9C9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FlashMlaWithKvcache</c:v>
                </c:pt>
                <c:pt idx="1">
                  <c:v>AttnResFwdFused</c:v>
                </c:pt>
                <c:pt idx="2">
                  <c:v>MlaPrologV3</c:v>
                </c:pt>
                <c:pt idx="3">
                  <c:v>RecurrentKda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51.5</c:v>
                </c:pt>
                <c:pt idx="1">
                  <c:v>13.4</c:v>
                </c:pt>
                <c:pt idx="2">
                  <c:v>7.9</c:v>
                </c:pt>
                <c:pt idx="3">
                  <c:v>14.7</c:v>
                </c:pt>
                <c:pt idx="4">
                  <c:v>12.5</c:v>
                </c:pt>
              </c:numCache>
            </c:numRef>
          </c:val>
        </c:ser>
        <c:firstSliceAng val="90"/>
        <c:holeSize val="35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微软雅黑"/>
        </a:defRPr>
      </a:pPr>
      <a:endParaRPr lang="en-US" noProof="1"/>
    </a:p>
  </c:txPr>
  <c:externalData r:id="rId1">
    <c:autoUpdate val="0"/>
  </c:externalData>
</c:chartSpace>
</file>

<file path=ppt/charts/chart1_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Lbls>
            <c:numFmt formatCode="0.0%" sourceLinked="0"/>
            <c:txPr>
              <a:bodyPr/>
              <a:lstStyle/>
              <a:p>
                <a:pPr>
                  <a:defRPr sz="650" noProof="1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 noProof="1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</c:dLbls>
          <c:dPt>
            <c:idx val="0"/>
            <c:spPr>
              <a:solidFill>
                <a:srgbClr val="4C78A8"/>
              </a:solidFill>
              <a:ln>
                <a:noFill/>
              </a:ln>
            </c:spPr>
          </c:dPt>
          <c:dPt>
            <c:idx val="1"/>
            <c:spPr>
              <a:solidFill>
                <a:srgbClr val="4C78A8"/>
              </a:solidFill>
              <a:ln>
                <a:noFill/>
              </a:ln>
            </c:spPr>
          </c:dPt>
          <c:dPt>
            <c:idx val="2"/>
            <c:spPr>
              <a:solidFill>
                <a:srgbClr val="4C78A8"/>
              </a:solidFill>
              <a:ln>
                <a:noFill/>
              </a:ln>
            </c:spPr>
          </c:dPt>
          <c:dPt>
            <c:idx val="3"/>
            <c:spPr>
              <a:solidFill>
                <a:srgbClr val="4C78A8"/>
              </a:solidFill>
              <a:ln>
                <a:noFill/>
              </a:ln>
            </c:spPr>
          </c:dPt>
          <c:dPt>
            <c:idx val="4"/>
            <c:spPr>
              <a:solidFill>
                <a:srgbClr val="E45756"/>
              </a:solidFill>
              <a:ln>
                <a:noFill/>
              </a:ln>
            </c:spPr>
          </c:dPt>
          <c:dPt>
            <c:idx val="5"/>
            <c:spPr>
              <a:solidFill>
                <a:srgbClr val="C9C9C9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GroupedMatmulSituQuant</c:v>
                </c:pt>
                <c:pt idx="1">
                  <c:v>GroupedMatmul</c:v>
                </c:pt>
                <c:pt idx="2">
                  <c:v>QuantBatchMatmulV4</c:v>
                </c:pt>
                <c:pt idx="3">
                  <c:v>QuantBatchMatmulV3</c:v>
                </c:pt>
                <c:pt idx="4">
                  <c:v>Dispatch/Combine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18.6</c:v>
                </c:pt>
                <c:pt idx="2">
                  <c:v>14.3</c:v>
                </c:pt>
                <c:pt idx="3">
                  <c:v>13.6</c:v>
                </c:pt>
                <c:pt idx="4">
                  <c:v>14.3</c:v>
                </c:pt>
                <c:pt idx="5">
                  <c:v>4.2</c:v>
                </c:pt>
              </c:numCache>
            </c:numRef>
          </c:val>
        </c:ser>
        <c:firstSliceAng val="90"/>
        <c:holeSize val="35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微软雅黑"/>
        </a:defRPr>
      </a:pPr>
      <a:endParaRPr lang="en-US" noProof="1"/>
    </a:p>
  </c:tx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_1.xml"/><Relationship Id="rId3" Type="http://schemas.openxmlformats.org/officeDocument/2006/relationships/chart" Target="../charts/chart1_2.xml"/><Relationship Id="rId4" Type="http://schemas.openxmlformats.org/officeDocument/2006/relationships/chart" Target="../charts/chart1_3.xml"/><Relationship Id="rId5" Type="http://schemas.openxmlformats.org/officeDocument/2006/relationships/chart" Target="../charts/chart1_4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826000" y="177800"/>
            <a:ext cx="690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资料来源：mindieagent《Kimi K3 P/D Profiling 分析》（kimik3_A3_prefill / kimik3_A5_decode）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Kimi K3 推理负载分析：P/D 阶段 Attention / MoE 占比与 Bound 画像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11200"/>
            <a:ext cx="1117600" cy="7874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11200"/>
            <a:ext cx="111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11200"/>
            <a:ext cx="9956800" cy="787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774700"/>
            <a:ext cx="9601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P（Prefill）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：瓶颈负载在 </a:t>
            </a: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MoE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（算子时间占比 50.6%，Attention 25.1%），瓶颈类型集中在</a:t>
            </a:r>
            <a:r>
              <a:rPr lang="en-US" sz="900" noProof="1" b="1">
                <a:solidFill>
                  <a:srgbClr val="E45756"/>
                </a:solidFill>
                <a:latin typeface="微软雅黑"/>
                <a:ea typeface="微软雅黑"/>
              </a:rPr>
              <a:t>通信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——通信总量为计算的 1.16 倍，36.5% 阶段时间未被计算覆盖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D（Decode）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：瓶颈负载在 </a:t>
            </a: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MoE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（47.9%，Attention 20.0%），瓶颈类型集中在</a:t>
            </a:r>
            <a:r>
              <a:rPr lang="en-US" sz="900" noProof="1" b="1">
                <a:solidFill>
                  <a:srgbClr val="4C78A8"/>
                </a:solidFill>
                <a:latin typeface="微软雅黑"/>
                <a:ea typeface="微软雅黑"/>
              </a:rPr>
              <a:t>计算 kernel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——计算占阶段 89.4%、通信仅 15.2%，kernel 内访存与计算约各占一半</a:t>
            </a:r>
            <a:endParaRPr lang="en-US" sz="900" noProof="1"/>
          </a:p>
        </p:txBody>
      </p:sp>
      <p:sp>
        <p:nvSpPr>
          <p:cNvPr id="8" name="table-label"/>
          <p:cNvSpPr txBox="1"/>
          <p:nvPr/>
        </p:nvSpPr>
        <p:spPr>
          <a:xfrm>
            <a:off x="558800" y="1752600"/>
            <a:ext cx="5461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P/D 阶段 Attention / MoE 占比与负载类型</a:t>
            </a:r>
            <a:endParaRPr lang="en-US" sz="1200" noProof="1"/>
          </a:p>
        </p:txBody>
      </p:sp>
      <p:graphicFrame>
        <p:nvGraphicFramePr>
          <p:cNvPr id="9" name="sum-table"/>
          <p:cNvGraphicFramePr>
            <a:graphicFrameLocks noGrp="1"/>
          </p:cNvGraphicFramePr>
          <p:nvPr/>
        </p:nvGraphicFramePr>
        <p:xfrm>
          <a:off x="558800" y="2006600"/>
          <a:ext cx="5461000" cy="1524000"/>
        </p:xfrm>
        <a:graphic>
          <a:graphicData uri="http://schemas.openxmlformats.org/drawingml/2006/table">
            <a:tbl>
              <a:tblPr/>
              <a:tblGrid>
                <a:gridCol w="819150"/>
                <a:gridCol w="1638300"/>
                <a:gridCol w="1692910"/>
                <a:gridCol w="1310640"/>
              </a:tblGrid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Attention（us / 占比）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MoE（us / 占比）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负载类型（计算/访存/通信）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 Prefill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2,005,161 / 25.1%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4,043,506 / 50.6%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715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 Decode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483,203 / 20.0%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1,159,345 / 47.9%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bar-p-calc"/>
          <p:cNvSpPr/>
          <p:nvPr/>
        </p:nvSpPr>
        <p:spPr>
          <a:xfrm>
            <a:off x="4772660" y="2508250"/>
            <a:ext cx="307340" cy="139700"/>
          </a:xfrm>
          <a:prstGeom prst="rect">
            <a:avLst/>
          </a:prstGeom>
          <a:solidFill>
            <a:srgbClr val="4C78A8"/>
          </a:solidFill>
          <a:ln w="12700">
            <a:solidFill>
              <a:srgbClr val="FFFFFF"/>
            </a:solidFill>
          </a:ln>
        </p:spPr>
      </p:sp>
      <p:sp>
        <p:nvSpPr>
          <p:cNvPr id="11" name="bar-p-mem"/>
          <p:cNvSpPr/>
          <p:nvPr/>
        </p:nvSpPr>
        <p:spPr>
          <a:xfrm>
            <a:off x="5080000" y="2508250"/>
            <a:ext cx="323850" cy="13970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</a:ln>
        </p:spPr>
      </p:sp>
      <p:sp>
        <p:nvSpPr>
          <p:cNvPr id="12" name="bar-p-comm"/>
          <p:cNvSpPr/>
          <p:nvPr/>
        </p:nvSpPr>
        <p:spPr>
          <a:xfrm>
            <a:off x="5403850" y="2508250"/>
            <a:ext cx="575310" cy="139700"/>
          </a:xfrm>
          <a:prstGeom prst="rect">
            <a:avLst/>
          </a:prstGeom>
          <a:solidFill>
            <a:srgbClr val="E45756"/>
          </a:solidFill>
          <a:ln w="12700">
            <a:solidFill>
              <a:srgbClr val="FFFFFF"/>
            </a:solidFill>
          </a:ln>
        </p:spPr>
      </p:sp>
      <p:sp>
        <p:nvSpPr>
          <p:cNvPr id="13" name="bar-pct-p"/>
          <p:cNvSpPr txBox="1"/>
          <p:nvPr/>
        </p:nvSpPr>
        <p:spPr>
          <a:xfrm>
            <a:off x="4709160" y="2673350"/>
            <a:ext cx="131064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C78A8"/>
                </a:solidFill>
                <a:latin typeface="微软雅黑"/>
                <a:ea typeface="微软雅黑"/>
              </a:rPr>
              <a:t>25.5</a:t>
            </a: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noProof="1">
                <a:solidFill>
                  <a:srgbClr val="F2A93B"/>
                </a:solidFill>
                <a:latin typeface="微软雅黑"/>
                <a:ea typeface="微软雅黑"/>
              </a:rPr>
              <a:t>26.8</a:t>
            </a: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noProof="1">
                <a:solidFill>
                  <a:srgbClr val="E45756"/>
                </a:solidFill>
                <a:latin typeface="微软雅黑"/>
                <a:ea typeface="微软雅黑"/>
              </a:rPr>
              <a:t>47.7</a:t>
            </a: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%</a:t>
            </a:r>
            <a:endParaRPr lang="en-US" sz="650" noProof="1"/>
          </a:p>
        </p:txBody>
      </p:sp>
      <p:sp>
        <p:nvSpPr>
          <p:cNvPr id="14" name="bar-d-calc"/>
          <p:cNvSpPr/>
          <p:nvPr/>
        </p:nvSpPr>
        <p:spPr>
          <a:xfrm>
            <a:off x="4772660" y="3079750"/>
            <a:ext cx="562610" cy="139700"/>
          </a:xfrm>
          <a:prstGeom prst="rect">
            <a:avLst/>
          </a:prstGeom>
          <a:solidFill>
            <a:srgbClr val="4C78A8"/>
          </a:solidFill>
          <a:ln w="12700">
            <a:solidFill>
              <a:srgbClr val="FFFFFF"/>
            </a:solidFill>
          </a:ln>
        </p:spPr>
      </p:sp>
      <p:sp>
        <p:nvSpPr>
          <p:cNvPr id="15" name="bar-d-mem"/>
          <p:cNvSpPr/>
          <p:nvPr/>
        </p:nvSpPr>
        <p:spPr>
          <a:xfrm>
            <a:off x="5335270" y="3079750"/>
            <a:ext cx="571500" cy="13970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</a:ln>
        </p:spPr>
      </p:sp>
      <p:sp>
        <p:nvSpPr>
          <p:cNvPr id="16" name="bar-d-comm"/>
          <p:cNvSpPr/>
          <p:nvPr/>
        </p:nvSpPr>
        <p:spPr>
          <a:xfrm>
            <a:off x="5906770" y="3079750"/>
            <a:ext cx="72390" cy="139700"/>
          </a:xfrm>
          <a:prstGeom prst="rect">
            <a:avLst/>
          </a:prstGeom>
          <a:solidFill>
            <a:srgbClr val="E45756"/>
          </a:solidFill>
          <a:ln w="12700">
            <a:solidFill>
              <a:srgbClr val="FFFFFF"/>
            </a:solidFill>
          </a:ln>
        </p:spPr>
      </p:sp>
      <p:sp>
        <p:nvSpPr>
          <p:cNvPr id="17" name="bar-pct-d"/>
          <p:cNvSpPr txBox="1"/>
          <p:nvPr/>
        </p:nvSpPr>
        <p:spPr>
          <a:xfrm>
            <a:off x="4709160" y="3244850"/>
            <a:ext cx="131064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C78A8"/>
                </a:solidFill>
                <a:latin typeface="微软雅黑"/>
                <a:ea typeface="微软雅黑"/>
              </a:rPr>
              <a:t>46.6</a:t>
            </a: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noProof="1">
                <a:solidFill>
                  <a:srgbClr val="F2A93B"/>
                </a:solidFill>
                <a:latin typeface="微软雅黑"/>
                <a:ea typeface="微软雅黑"/>
              </a:rPr>
              <a:t>47.4</a:t>
            </a: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noProof="1">
                <a:solidFill>
                  <a:srgbClr val="E45756"/>
                </a:solidFill>
                <a:latin typeface="微软雅黑"/>
                <a:ea typeface="微软雅黑"/>
              </a:rPr>
              <a:t>6.0</a:t>
            </a: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%</a:t>
            </a:r>
            <a:endParaRPr lang="en-US" sz="650" noProof="1"/>
          </a:p>
        </p:txBody>
      </p:sp>
      <p:sp>
        <p:nvSpPr>
          <p:cNvPr id="18" name="bar-legend"/>
          <p:cNvSpPr txBox="1"/>
          <p:nvPr/>
        </p:nvSpPr>
        <p:spPr>
          <a:xfrm>
            <a:off x="558800" y="3657600"/>
            <a:ext cx="5461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负载类型 = Kernel 计数器归一：</a:t>
            </a:r>
            <a:r>
              <a:rPr lang="en-US" sz="800" noProof="1">
                <a:solidFill>
                  <a:srgbClr val="4C78A8"/>
                </a:solidFill>
                <a:latin typeface="微软雅黑"/>
                <a:ea typeface="微软雅黑"/>
              </a:rPr>
              <a:t>■ 计算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　</a:t>
            </a:r>
            <a:r>
              <a:rPr lang="en-US" sz="800" noProof="1">
                <a:solidFill>
                  <a:srgbClr val="F2A93B"/>
                </a:solidFill>
                <a:latin typeface="微软雅黑"/>
                <a:ea typeface="微软雅黑"/>
              </a:rPr>
              <a:t>■ 访存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　</a:t>
            </a:r>
            <a:r>
              <a:rPr lang="en-US" sz="800" noProof="1">
                <a:solidFill>
                  <a:srgbClr val="E45756"/>
                </a:solidFill>
                <a:latin typeface="微软雅黑"/>
                <a:ea typeface="微软雅黑"/>
              </a:rPr>
              <a:t>■ 通信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；P 通信主导（47.7%），D 计算 ≈ 访存</a:t>
            </a:r>
            <a:endParaRPr lang="en-US" sz="800" noProof="1"/>
          </a:p>
        </p:txBody>
      </p:sp>
      <p:sp>
        <p:nvSpPr>
          <p:cNvPr id="19" name="left-note-bg"/>
          <p:cNvSpPr/>
          <p:nvPr/>
        </p:nvSpPr>
        <p:spPr>
          <a:xfrm>
            <a:off x="558800" y="4013200"/>
            <a:ext cx="5461000" cy="152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" name="left-note"/>
          <p:cNvSpPr txBox="1"/>
          <p:nvPr/>
        </p:nvSpPr>
        <p:spPr>
          <a:xfrm>
            <a:off x="711200" y="4114800"/>
            <a:ext cx="51562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  <a:spcBef>
                <a:spcPts val="10"/>
              </a:spcBef>
              <a:buChar char="•"/>
            </a:pPr>
            <a:r>
              <a:rPr lang="en-US" sz="850" noProof="1" b="1">
                <a:solidFill>
                  <a:srgbClr val="262626"/>
                </a:solidFill>
                <a:latin typeface="微软雅黑"/>
                <a:ea typeface="微软雅黑"/>
              </a:rPr>
              <a:t>Attention + MoE 是负载主体</a:t>
            </a:r>
            <a:r>
              <a:rPr lang="en-US" sz="850" noProof="1">
                <a:solidFill>
                  <a:srgbClr val="262626"/>
                </a:solidFill>
                <a:latin typeface="微软雅黑"/>
                <a:ea typeface="微软雅黑"/>
              </a:rPr>
              <a:t>：合计占阶段算子时间 P 75.7%、D 67.9%；两阶段 MoE 占比均约为 Attention 的 2 倍</a:t>
            </a:r>
            <a:endParaRPr lang="en-US" sz="850" noProof="1"/>
          </a:p>
          <a:p>
            <a:pPr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850" noProof="1" b="1">
                <a:solidFill>
                  <a:srgbClr val="262626"/>
                </a:solidFill>
                <a:latin typeface="微软雅黑"/>
                <a:ea typeface="微软雅黑"/>
              </a:rPr>
              <a:t>Attention 高度集中</a:t>
            </a:r>
            <a:r>
              <a:rPr lang="en-US" sz="850" noProof="1">
                <a:solidFill>
                  <a:srgbClr val="262626"/>
                </a:solidFill>
                <a:latin typeface="微软雅黑"/>
                <a:ea typeface="微软雅黑"/>
              </a:rPr>
              <a:t>：P 集中于 ChunkKdaFwd（组内 66.5%），D 集中于 FlashMlaWithKvcache（组内 51.5%）</a:t>
            </a:r>
            <a:endParaRPr lang="en-US" sz="850" noProof="1"/>
          </a:p>
          <a:p>
            <a:pPr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850" noProof="1" b="1">
                <a:solidFill>
                  <a:srgbClr val="262626"/>
                </a:solidFill>
                <a:latin typeface="微软雅黑"/>
                <a:ea typeface="微软雅黑"/>
              </a:rPr>
              <a:t>MoE 以矩阵乘 + 量化链路为主</a:t>
            </a:r>
            <a:r>
              <a:rPr lang="en-US" sz="850" noProof="1">
                <a:solidFill>
                  <a:srgbClr val="262626"/>
                </a:solidFill>
                <a:latin typeface="微软雅黑"/>
                <a:ea typeface="微软雅黑"/>
              </a:rPr>
              <a:t>：P 前四项占 89.0%，D 前四项加 dispatch/combine 占 95.8%</a:t>
            </a:r>
            <a:endParaRPr lang="en-US" sz="850" noProof="1"/>
          </a:p>
        </p:txBody>
      </p:sp>
      <p:sp>
        <p:nvSpPr>
          <p:cNvPr id="21" name="pie-label"/>
          <p:cNvSpPr txBox="1"/>
          <p:nvPr/>
        </p:nvSpPr>
        <p:spPr>
          <a:xfrm>
            <a:off x="6350000" y="1752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P/D 阶段算子构成与 Bound 类型（组内占比）</a:t>
            </a:r>
            <a:endParaRPr lang="en-US" sz="1200" noProof="1"/>
          </a:p>
        </p:txBody>
      </p:sp>
      <p:sp>
        <p:nvSpPr>
          <p:cNvPr id="22" name="pie-legend"/>
          <p:cNvSpPr txBox="1"/>
          <p:nvPr/>
        </p:nvSpPr>
        <p:spPr>
          <a:xfrm>
            <a:off x="9652000" y="1752600"/>
            <a:ext cx="20828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750" noProof="1">
                <a:solidFill>
                  <a:srgbClr val="4C78A8"/>
                </a:solidFill>
                <a:latin typeface="微软雅黑"/>
                <a:ea typeface="微软雅黑"/>
              </a:rPr>
              <a:t>■ 计算</a:t>
            </a:r>
            <a:r>
              <a:rPr lang="en-US" sz="750" noProof="1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750" noProof="1">
                <a:solidFill>
                  <a:srgbClr val="F2A93B"/>
                </a:solidFill>
                <a:latin typeface="微软雅黑"/>
                <a:ea typeface="微软雅黑"/>
              </a:rPr>
              <a:t>■ 访存</a:t>
            </a:r>
            <a:r>
              <a:rPr lang="en-US" sz="750" noProof="1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750" noProof="1">
                <a:solidFill>
                  <a:srgbClr val="E45756"/>
                </a:solidFill>
                <a:latin typeface="微软雅黑"/>
                <a:ea typeface="微软雅黑"/>
              </a:rPr>
              <a:t>■ 通信</a:t>
            </a:r>
            <a:r>
              <a:rPr lang="en-US" sz="750" noProof="1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750" noProof="1">
                <a:solidFill>
                  <a:srgbClr val="C9C9C9"/>
                </a:solidFill>
                <a:latin typeface="微软雅黑"/>
                <a:ea typeface="微软雅黑"/>
              </a:rPr>
              <a:t>■ 其他</a:t>
            </a:r>
            <a:endParaRPr lang="en-US" sz="750" noProof="1"/>
          </a:p>
        </p:txBody>
      </p:sp>
      <p:sp>
        <p:nvSpPr>
          <p:cNvPr id="23" name="pie-title-p-attn"/>
          <p:cNvSpPr txBox="1"/>
          <p:nvPr/>
        </p:nvSpPr>
        <p:spPr>
          <a:xfrm>
            <a:off x="6248400" y="2032000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P · Attention（25.1%）</a:t>
            </a:r>
            <a:endParaRPr lang="en-US" sz="900" noProof="1"/>
          </a:p>
        </p:txBody>
      </p:sp>
      <p:graphicFrame>
        <p:nvGraphicFramePr>
          <p:cNvPr id="24" name="pie-p-attn"/>
          <p:cNvGraphicFramePr/>
          <p:nvPr/>
        </p:nvGraphicFramePr>
        <p:xfrm>
          <a:off x="6248400" y="2260600"/>
          <a:ext cx="1651000" cy="1778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25" name="pie-p-attn-legend"/>
          <p:cNvSpPr txBox="1"/>
          <p:nvPr/>
        </p:nvSpPr>
        <p:spPr>
          <a:xfrm>
            <a:off x="7823200" y="2311400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ChunkKdaFwd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FusedInferAttnScore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26" name="pie-title-p-moe"/>
          <p:cNvSpPr txBox="1"/>
          <p:nvPr/>
        </p:nvSpPr>
        <p:spPr>
          <a:xfrm>
            <a:off x="9017000" y="2032000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P · MoE（50.6%）</a:t>
            </a:r>
            <a:endParaRPr lang="en-US" sz="900" noProof="1"/>
          </a:p>
        </p:txBody>
      </p:sp>
      <p:graphicFrame>
        <p:nvGraphicFramePr>
          <p:cNvPr id="27" name="pie-p-moe"/>
          <p:cNvGraphicFramePr/>
          <p:nvPr/>
        </p:nvGraphicFramePr>
        <p:xfrm>
          <a:off x="9017000" y="2260600"/>
          <a:ext cx="1651000" cy="1778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8" name="pie-p-moe-legend"/>
          <p:cNvSpPr txBox="1"/>
          <p:nvPr/>
        </p:nvSpPr>
        <p:spPr>
          <a:xfrm>
            <a:off x="10591800" y="2311400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GroupedMatmul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QuantBatchMatmulV3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DequantSituQuant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DynamicQuant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29" name="pie-title-d-attn"/>
          <p:cNvSpPr txBox="1"/>
          <p:nvPr/>
        </p:nvSpPr>
        <p:spPr>
          <a:xfrm>
            <a:off x="6248400" y="4191000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 · Attention（20.0%）</a:t>
            </a:r>
            <a:endParaRPr lang="en-US" sz="900" noProof="1"/>
          </a:p>
        </p:txBody>
      </p:sp>
      <p:graphicFrame>
        <p:nvGraphicFramePr>
          <p:cNvPr id="30" name="pie-d-attn"/>
          <p:cNvGraphicFramePr/>
          <p:nvPr/>
        </p:nvGraphicFramePr>
        <p:xfrm>
          <a:off x="6248400" y="4419600"/>
          <a:ext cx="1651000" cy="17780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1" name="pie-d-attn-legend"/>
          <p:cNvSpPr txBox="1"/>
          <p:nvPr/>
        </p:nvSpPr>
        <p:spPr>
          <a:xfrm>
            <a:off x="7823200" y="4470400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FlashMlaWithKvcache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AttnResFwdFused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MlaPrologV3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RecurrentKda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32" name="pie-title-d-moe"/>
          <p:cNvSpPr txBox="1"/>
          <p:nvPr/>
        </p:nvSpPr>
        <p:spPr>
          <a:xfrm>
            <a:off x="9017000" y="4191000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 · MoE（47.9%）</a:t>
            </a:r>
            <a:endParaRPr lang="en-US" sz="900" noProof="1"/>
          </a:p>
        </p:txBody>
      </p:sp>
      <p:graphicFrame>
        <p:nvGraphicFramePr>
          <p:cNvPr id="33" name="pie-d-moe"/>
          <p:cNvGraphicFramePr/>
          <p:nvPr/>
        </p:nvGraphicFramePr>
        <p:xfrm>
          <a:off x="9017000" y="4419600"/>
          <a:ext cx="1651000" cy="177800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34" name="pie-d-moe-legend"/>
          <p:cNvSpPr txBox="1"/>
          <p:nvPr/>
        </p:nvSpPr>
        <p:spPr>
          <a:xfrm>
            <a:off x="10591800" y="4470400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GroupedMatmulSituQuant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GroupedMatmul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QuantBatchMatmulV4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QuantBatchMatmulV3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E45756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Dispatch/Combine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35" name="footnote"/>
          <p:cNvSpPr txBox="1"/>
          <p:nvPr/>
        </p:nvSpPr>
        <p:spPr>
          <a:xfrm>
            <a:off x="558800" y="66040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注：算子占比为 op_statistic Total Time 归一（存在并行重叠，用于负载构成排序而非串行时延）；负载类型为 kernel_details 计数器归一；Bound 按算子主导资源归类：矩阵乘→计算，量化/搬运/Cache 访问→访存，dispatch/combine→通信。</a:t>
            </a:r>
            <a:endParaRPr lang="en-US" sz="7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</Slides>
</Properties>
</file>

<file path=docProps/core.xml><?xml version="1.0" encoding="utf-8"?>
<cp:coreProperties xmlns:dc="http://purl.org/dc/elements/1.1/" xmlns:cp="http://schemas.openxmlformats.org/package/2006/metadata/core-properties">
  <dc:title>kimi_k3_pd_load_analysis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