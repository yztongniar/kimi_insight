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资料来源：REPORT_综合分析报告（2026-10-14/15）§2 / §5 / §6；P 通信为去重 a2a 双计后口径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总体负载形态：D 访存主导、P 通信主导，通信是全链路第一优化优先级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 · A5 EP32（decode）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：单次前向 53.6ms，</a:t>
            </a: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访存主导 53.4%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+ 计算 32.1% + 通信 14.5%——MoE 组矩阵乘 mac 仅 ~50%、搬运 170%+，Cube 未喂饱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 · A3 Prefill（PD 分离 40k）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：单次前向 1791ms，</a:t>
            </a: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通信主导 54.7%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（KV broadcast + a2a + send）；设备利用率 97.4%，但 KV 传输窗口内主流仅 51% 在算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形态对比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 = 访存主导 + 通信次之，P = 通信主导；通信占比随规模继续走高（ep32→ep64：14.6→15.5%），是全链路共性短板、第一优化优先级</a:t>
            </a:r>
            <a:endParaRPr lang="en-US" sz="900" noProof="1"/>
          </a:p>
        </p:txBody>
      </p:sp>
      <p:sp>
        <p:nvSpPr>
          <p:cNvPr id="8" name="load-label"/>
          <p:cNvSpPr txBox="1"/>
          <p:nvPr/>
        </p:nvSpPr>
        <p:spPr>
          <a:xfrm>
            <a:off x="558800" y="2260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部署负载画像（D · A5 EP32 / P · A3 Prefill）</a:t>
            </a:r>
            <a:endParaRPr lang="en-US" sz="1200" noProof="1"/>
          </a:p>
        </p:txBody>
      </p:sp>
      <p:graphicFrame>
        <p:nvGraphicFramePr>
          <p:cNvPr id="9" name="load-table"/>
          <p:cNvGraphicFramePr>
            <a:graphicFrameLocks noGrp="1"/>
          </p:cNvGraphicFramePr>
          <p:nvPr/>
        </p:nvGraphicFramePr>
        <p:xfrm>
          <a:off x="558800" y="2489200"/>
          <a:ext cx="11176000" cy="1397000"/>
        </p:xfrm>
        <a:graphic>
          <a:graphicData uri="http://schemas.openxmlformats.org/drawingml/2006/table">
            <a:tbl>
              <a:tblPr/>
              <a:tblGrid>
                <a:gridCol w="1899920"/>
                <a:gridCol w="3241040"/>
                <a:gridCol w="1564640"/>
                <a:gridCol w="4470400"/>
              </a:tblGrid>
              <a:tr h="3073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并行策略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耗时（单次前向）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负载占比（busy 归属）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· A5 EP32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BS32 / EP32 / DCP；DSpark 投机解码（draft 推 5 步）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53.6ms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 53.4%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（37.7ms） &gt; </a:t>
                      </a:r>
                      <a:r>
                        <a:rPr lang="en-US" sz="800" noProof="1" b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计算 32.1%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（22.7ms） &gt; </a:t>
                      </a:r>
                      <a:r>
                        <a:rPr lang="en-US" sz="800" noProof="1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通信 14.5%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（10.2ms）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 · A3 Prefill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PD 分离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random 40k tokens，6 chunk 前向；TP RS/AG 逐层 + EP alltoallv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1791ms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/前向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通信 54.7%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（≈1783ms） &gt; </a:t>
                      </a:r>
                      <a:r>
                        <a:rPr lang="en-US" sz="800" noProof="1" b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计算 19.1%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（623ms） ≈ </a:t>
                      </a:r>
                      <a:r>
                        <a:rPr lang="en-US" sz="8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 17.9%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（583ms）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bound-label"/>
          <p:cNvSpPr txBox="1"/>
          <p:nvPr/>
        </p:nvSpPr>
        <p:spPr>
          <a:xfrm>
            <a:off x="558800" y="4013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P/D 主要 bound 归因分析</a:t>
            </a:r>
            <a:endParaRPr lang="en-US" sz="1200" noProof="1"/>
          </a:p>
        </p:txBody>
      </p:sp>
      <p:graphicFrame>
        <p:nvGraphicFramePr>
          <p:cNvPr id="11" name="bound-table"/>
          <p:cNvGraphicFramePr>
            <a:graphicFrameLocks noGrp="1"/>
          </p:cNvGraphicFramePr>
          <p:nvPr/>
        </p:nvGraphicFramePr>
        <p:xfrm>
          <a:off x="558800" y="4241800"/>
          <a:ext cx="11176000" cy="1168400"/>
        </p:xfrm>
        <a:graphic>
          <a:graphicData uri="http://schemas.openxmlformats.org/drawingml/2006/table">
            <a:tbl>
              <a:tblPr/>
              <a:tblGrid>
                <a:gridCol w="1229360"/>
                <a:gridCol w="3464560"/>
                <a:gridCol w="3464560"/>
                <a:gridCol w="3017520"/>
              </a:tblGrid>
              <a:tr h="18694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· A5 EP32（bound 画像）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 · A3 Prefill（bound 画像）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归因与结论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271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Attention 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计算 bound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：流水 59% vs 访存 41%（FlashMla 计算 + RecurrentKda vec）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均衡偏计算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：51% vs 49%（ChunkKdaFwd 计算主导 + FIA 拉回访存）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两侧均非瓶颈主因，算子效率已较优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271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MoE 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 bound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+ 通信显著：mac ~50% / mte 170%+，dispatch/combine 4.3ms = MoE 的 14%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 bound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：48% vs 52%（a2a dispatch 记在通信桶未入组）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访存瓶颈核心（占 busy 43%）；P 侧第二大耗时块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271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RS/AG/a2a 细粒度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：10.2ms/步（14.5%），~380 次/步、单次 18–24µs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KV broadcast 0.92s + a2a 1.63s + send 1.01s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，去重后 54.7%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全链路第一优化优先级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：P 重叠不足、D 粒度太细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bound-note"/>
          <p:cNvSpPr txBox="1"/>
          <p:nvPr/>
        </p:nvSpPr>
        <p:spPr>
          <a:xfrm>
            <a:off x="558800" y="54610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归因小结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：D 侧 53.4% 访存中 MoE 权重搬运是主体（两个 GroupedMatmul 核合计 15.9ms/步）；P 侧 54.7% 通信中 KV 分发（broadcast + send ≈1.93s）与 MoE dispatch（a2a 1.63s）约各占一半——两侧瓶颈不同源，需分别施策。</a:t>
            </a:r>
            <a:endParaRPr lang="en-US" sz="800" noProof="1"/>
          </a:p>
        </p:txBody>
      </p:sp>
      <p:sp>
        <p:nvSpPr>
          <p:cNvPr id="13" name="view-label"/>
          <p:cNvSpPr txBox="1"/>
          <p:nvPr/>
        </p:nvSpPr>
        <p:spPr>
          <a:xfrm>
            <a:off x="558800" y="5867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专家观点</a:t>
            </a:r>
            <a:endParaRPr lang="en-US" sz="1200" noProof="1"/>
          </a:p>
        </p:txBody>
      </p:sp>
      <p:sp>
        <p:nvSpPr>
          <p:cNvPr id="14" name="view-bullets"/>
          <p:cNvSpPr txBox="1"/>
          <p:nvPr/>
        </p:nvSpPr>
        <p:spPr>
          <a:xfrm>
            <a:off x="558800" y="6096000"/>
            <a:ext cx="1112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「算得快」不再是主要矛盾，「传得动」才是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：通信在 P 侧占 54.7%、在 D 侧随规模 14.6→15.5% 持续走高——大模型推理的优化主战场正从单核算力转向数据搬运与互连效率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高利用率 ≠ 高效率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：P 侧设备利用率高达 97.4%，但 KV 传输窗口内主流仅 51% 在算，近一半时间算力被通信等待占据——流水掩盖能力比堆砌算力更能兑现硬件价值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Decode 的吞吐天花板由访存决定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：MoE 权重读取让组矩阵乘 mac 仅 ~50%，带宽而非算力构成瓶颈；但批量扩展性优秀——BS32→BS128 迭代仅 +9.8%、等效吞吐 ≈3.6×，规模红利依然丰厚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P/D 分离让两类矛盾可以分而治之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：P 侧集中解决通信重叠（存在 TTFT ≈ −30% 的压缩空间），D 侧集中精力喂饱 Cube，两条优化路径互不阻塞、可独立推进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资料来源：REPORT_综合分析报告 §3 / §6.2–6.3b；流水比率 mac/mte/vec 为 %（MIX 核双流水可 &gt;100%）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算子侧分析：TOP5 算子 bound 画像与融合算子优化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219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21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 侧 TOP5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：访存 3 席——GroupedMatmulSituQuant 10.39ms 居首（mte 185% vs mac 53%，Cube 未喂饱）；</a:t>
            </a: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 侧 TOP5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：通信占前两席（all2all 271.3ms + KV broadcast ~228ms×4）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融合算子是 A5 新栈的结构性收益来源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：MoE 量化融入组矩阵乘（每层专家核 4→3）、MLA 量化分段双核、attn-residual 原生融合（−38%）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融合的本质收益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：省核启动与显存往返，并为 Cube/Vector 流水掩盖（CV 掩盖）与通算融合释放调度空间</a:t>
            </a:r>
            <a:endParaRPr lang="en-US" sz="900" noProof="1"/>
          </a:p>
        </p:txBody>
      </p:sp>
      <p:sp>
        <p:nvSpPr>
          <p:cNvPr id="8" name="d-label"/>
          <p:cNvSpPr txBox="1"/>
          <p:nvPr/>
        </p:nvSpPr>
        <p:spPr>
          <a:xfrm>
            <a:off x="558800" y="2057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D 侧 TOP5（ep32，ms/步）</a:t>
            </a:r>
            <a:endParaRPr lang="en-US" sz="1200" noProof="1"/>
          </a:p>
        </p:txBody>
      </p:sp>
      <p:sp>
        <p:nvSpPr>
          <p:cNvPr id="9" name="p-label"/>
          <p:cNvSpPr txBox="1"/>
          <p:nvPr/>
        </p:nvSpPr>
        <p:spPr>
          <a:xfrm>
            <a:off x="6299200" y="2057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P 侧 TOP5（A3_p，ms/前向）</a:t>
            </a:r>
            <a:endParaRPr lang="en-US" sz="1200" noProof="1"/>
          </a:p>
        </p:txBody>
      </p:sp>
      <p:graphicFrame>
        <p:nvGraphicFramePr>
          <p:cNvPr id="10" name="d-table"/>
          <p:cNvGraphicFramePr>
            <a:graphicFrameLocks noGrp="1"/>
          </p:cNvGraphicFramePr>
          <p:nvPr/>
        </p:nvGraphicFramePr>
        <p:xfrm>
          <a:off x="558800" y="2311400"/>
          <a:ext cx="5435600" cy="1879600"/>
        </p:xfrm>
        <a:graphic>
          <a:graphicData uri="http://schemas.openxmlformats.org/drawingml/2006/table">
            <a:tbl>
              <a:tblPr/>
              <a:tblGrid>
                <a:gridCol w="380492"/>
                <a:gridCol w="2065528"/>
                <a:gridCol w="760984"/>
                <a:gridCol w="706628"/>
                <a:gridCol w="1521968"/>
              </a:tblGrid>
              <a:tr h="2255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ms/步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bound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mac/mte/vec 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GroupedMatmulSituQuant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10.39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53/185/68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MatMulV3Common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6.59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36/99/0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FlashMla big_quant + small_bf16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5.15+1.23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59/41（合计）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GroupedMatmulWeightNz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5.53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49/173/65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SituMxQuant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5.46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0/21/29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p-table"/>
          <p:cNvGraphicFramePr>
            <a:graphicFrameLocks noGrp="1"/>
          </p:cNvGraphicFramePr>
          <p:nvPr/>
        </p:nvGraphicFramePr>
        <p:xfrm>
          <a:off x="6299200" y="2311400"/>
          <a:ext cx="5435600" cy="1879600"/>
        </p:xfrm>
        <a:graphic>
          <a:graphicData uri="http://schemas.openxmlformats.org/drawingml/2006/table">
            <a:tbl>
              <a:tblPr/>
              <a:tblGrid>
                <a:gridCol w="380492"/>
                <a:gridCol w="2065528"/>
                <a:gridCol w="760984"/>
                <a:gridCol w="706628"/>
                <a:gridCol w="1521968"/>
              </a:tblGrid>
              <a:tr h="2255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ms/前向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bound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mac/mte/vec 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all2all（AivKernel ≡ alltoallv）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271.3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—/64/—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GroupedMatmulWeightNz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232.8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37/150/11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hcom_broadcast ×4（KV 广播）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~228 each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ChunkKdaFwd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222.2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1/16/16（vec）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308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QuantMatmulWeightNz V3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156.2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访存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50/125/23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usion-label"/>
          <p:cNvSpPr txBox="1"/>
          <p:nvPr/>
        </p:nvSpPr>
        <p:spPr>
          <a:xfrm>
            <a:off x="558800" y="4343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融合算子优化（dspark7 基线 → A5）</a:t>
            </a:r>
            <a:endParaRPr lang="en-US" sz="1200" noProof="1"/>
          </a:p>
        </p:txBody>
      </p:sp>
      <p:graphicFrame>
        <p:nvGraphicFramePr>
          <p:cNvPr id="13" name="fusion-table"/>
          <p:cNvGraphicFramePr>
            <a:graphicFrameLocks noGrp="1"/>
          </p:cNvGraphicFramePr>
          <p:nvPr/>
        </p:nvGraphicFramePr>
        <p:xfrm>
          <a:off x="558800" y="4597400"/>
          <a:ext cx="11176000" cy="1320800"/>
        </p:xfrm>
        <a:graphic>
          <a:graphicData uri="http://schemas.openxmlformats.org/drawingml/2006/table">
            <a:tbl>
              <a:tblPr/>
              <a:tblGrid>
                <a:gridCol w="2235200"/>
                <a:gridCol w="5811520"/>
                <a:gridCol w="3129280"/>
              </a:tblGrid>
              <a:tr h="1849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融合算子优化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基线 dspark7 → A5 ep32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收益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854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F1 MoE 激活量化融入组矩阵乘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SituMxQuant + GroupedMatmulWeightNz 分立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</a:t>
                      </a:r>
                      <a:r>
                        <a:rPr lang="en-US" sz="750" noProof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GroupedMatmulSituQuant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（Situ 量化融进组矩阵乘核）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每层专家核 4→3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；独立 Situ 量化 184→92 次/步（12.07→5.46ms）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854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F2 MLA 单核 → 量化分段双核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FusedInferAttentionScore 全 bf16 单核扫全量 KV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</a:t>
                      </a:r>
                      <a:r>
                        <a:rPr lang="en-US" sz="750" noProof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FlashMla big_quant + small_bf16 + LSE 合并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，KV 在线量化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「量化长历史 + bf16 近端」双段，长历史段走量化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880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F3 attn-residual 原生融合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>
                          <a:solidFill>
                            <a:srgbClr val="B91C1C"/>
                          </a:solidFill>
                          <a:latin typeface="微软雅黑"/>
                          <a:ea typeface="微软雅黑"/>
                        </a:rPr>
                        <a:t>_apply_attn_res_kernel（triton）</a:t>
                      </a:r>
                      <a:r>
                        <a:rPr lang="en-US" sz="75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</a:t>
                      </a:r>
                      <a:r>
                        <a:rPr lang="en-US" sz="750" noProof="1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AttnResFwdFused（CANN 原生）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75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2.70→1.66ms（−38%）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view-label"/>
          <p:cNvSpPr txBox="1"/>
          <p:nvPr/>
        </p:nvSpPr>
        <p:spPr>
          <a:xfrm>
            <a:off x="558800" y="6070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专家观点</a:t>
            </a:r>
            <a:endParaRPr lang="en-US" sz="1200" noProof="1"/>
          </a:p>
        </p:txBody>
      </p:sp>
      <p:sp>
        <p:nvSpPr>
          <p:cNvPr id="15" name="view-bullets"/>
          <p:cNvSpPr txBox="1"/>
          <p:nvPr/>
        </p:nvSpPr>
        <p:spPr>
          <a:xfrm>
            <a:off x="558800" y="6299200"/>
            <a:ext cx="1112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融合算子是推理性能的主战场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：单核算力见顶后，收益来自核间融合——F1 一处融合即省 25% 专家核数，同时省掉量化中间结果的显存往返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通算融合是下一个确定性方向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：通信已占 P 侧 55%、D 侧 15%，把 a2a/RS/AG 与计算算子融合编排、让通信藏在 Cube 计算背后，收益大于任何单算子调优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CV 掩盖决定算子利用上限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：FlashMla 小核 scalar 23.5% &gt; mac 21.2% 说明 Cube/Vector 双流水未打满——融合算子设计必须为 CV 掩盖预留流水空间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</Slides>
</Properties>
</file>

<file path=docProps/core.xml><?xml version="1.0" encoding="utf-8"?>
<cp:coreProperties xmlns:dc="http://purl.org/dc/elements/1.1/" xmlns:cp="http://schemas.openxmlformats.org/package/2006/metadata/core-properties">
  <dc:title>kimi_k3_infer_insight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