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1"/>
  </p:sldMasterIdLst>
  <p:notesMasterIdLst>
    <p:notesMasterId r:id="rId4"/>
  </p:notesMasterIdLst>
  <p:sldIdLst>
    <p:sldId id="261" r:id="rId2"/>
    <p:sldId id="259" r:id="rId3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gyuzhou" initials="t" lastIdx="12" clrIdx="0">
    <p:extLst>
      <p:ext uri="{19B8F6BF-5375-455C-9EA6-DF929625EA0E}">
        <p15:presenceInfo xmlns:p15="http://schemas.microsoft.com/office/powerpoint/2012/main" userId="S-1-5-21-147214757-305610072-1517763936-1079859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5858"/>
    <a:srgbClr val="F2A93B"/>
    <a:srgbClr val="4C78A8"/>
    <a:srgbClr val="C002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3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37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249-43D3-B7A7-2E1085F879B3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249-43D3-B7A7-2E1085F879B3}"/>
              </c:ext>
            </c:extLst>
          </c:dPt>
          <c:dPt>
            <c:idx val="2"/>
            <c:bubble3D val="0"/>
            <c:spPr>
              <a:solidFill>
                <a:srgbClr val="C9C9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249-43D3-B7A7-2E1085F879B3}"/>
              </c:ext>
            </c:extLst>
          </c:dPt>
          <c:dLbls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650" b="1" i="0" u="none" strike="noStrike" noProof="1">
                      <a:solidFill>
                        <a:srgbClr val="262626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6249-43D3-B7A7-2E1085F879B3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 noProof="1">
                    <a:solidFill>
                      <a:srgbClr val="262626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ChunkKdaFwd</c:v>
                </c:pt>
                <c:pt idx="1">
                  <c:v>FusedInferAttnScore</c:v>
                </c:pt>
                <c:pt idx="2">
                  <c:v>其他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66.5</c:v>
                </c:pt>
                <c:pt idx="1">
                  <c:v>24.3</c:v>
                </c:pt>
                <c:pt idx="2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249-43D3-B7A7-2E1085F87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35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0F6-4E29-9C9D-5D1F97331919}"/>
              </c:ext>
            </c:extLst>
          </c:dPt>
          <c:dPt>
            <c:idx val="1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0F6-4E29-9C9D-5D1F97331919}"/>
              </c:ext>
            </c:extLst>
          </c:dPt>
          <c:dPt>
            <c:idx val="2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0F6-4E29-9C9D-5D1F97331919}"/>
              </c:ext>
            </c:extLst>
          </c:dPt>
          <c:dPt>
            <c:idx val="3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0F6-4E29-9C9D-5D1F97331919}"/>
              </c:ext>
            </c:extLst>
          </c:dPt>
          <c:dPt>
            <c:idx val="4"/>
            <c:bubble3D val="0"/>
            <c:spPr>
              <a:solidFill>
                <a:srgbClr val="C9C9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D0F6-4E29-9C9D-5D1F97331919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 noProof="1">
                    <a:solidFill>
                      <a:srgbClr val="262626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GroupedMatmul</c:v>
                </c:pt>
                <c:pt idx="1">
                  <c:v>QuantBatchMatmulV3</c:v>
                </c:pt>
                <c:pt idx="2">
                  <c:v>DequantSituQuant</c:v>
                </c:pt>
                <c:pt idx="3">
                  <c:v>DynamicQuant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34.5</c:v>
                </c:pt>
                <c:pt idx="1">
                  <c:v>18.600000000000001</c:v>
                </c:pt>
                <c:pt idx="2">
                  <c:v>19.399999999999999</c:v>
                </c:pt>
                <c:pt idx="3">
                  <c:v>16.5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0F6-4E29-9C9D-5D1F973319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35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E32-46FA-A9A1-415F3F324614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E32-46FA-A9A1-415F3F324614}"/>
              </c:ext>
            </c:extLst>
          </c:dPt>
          <c:dPt>
            <c:idx val="2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E32-46FA-A9A1-415F3F324614}"/>
              </c:ext>
            </c:extLst>
          </c:dPt>
          <c:dPt>
            <c:idx val="3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E32-46FA-A9A1-415F3F324614}"/>
              </c:ext>
            </c:extLst>
          </c:dPt>
          <c:dPt>
            <c:idx val="4"/>
            <c:bubble3D val="0"/>
            <c:spPr>
              <a:solidFill>
                <a:srgbClr val="C9C9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2E32-46FA-A9A1-415F3F324614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 noProof="1">
                    <a:solidFill>
                      <a:srgbClr val="262626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FlashMlaWithKvcache</c:v>
                </c:pt>
                <c:pt idx="1">
                  <c:v>AttnResFwdFused</c:v>
                </c:pt>
                <c:pt idx="2">
                  <c:v>MlaPrologV3</c:v>
                </c:pt>
                <c:pt idx="3">
                  <c:v>RecurrentKda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51.5</c:v>
                </c:pt>
                <c:pt idx="1">
                  <c:v>13.4</c:v>
                </c:pt>
                <c:pt idx="2">
                  <c:v>7.9</c:v>
                </c:pt>
                <c:pt idx="3">
                  <c:v>14.7</c:v>
                </c:pt>
                <c:pt idx="4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32-46FA-A9A1-415F3F3246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35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0D1-40CA-AE76-025CDE55CDD6}"/>
              </c:ext>
            </c:extLst>
          </c:dPt>
          <c:dPt>
            <c:idx val="1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0D1-40CA-AE76-025CDE55CDD6}"/>
              </c:ext>
            </c:extLst>
          </c:dPt>
          <c:dPt>
            <c:idx val="2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0D1-40CA-AE76-025CDE55CDD6}"/>
              </c:ext>
            </c:extLst>
          </c:dPt>
          <c:dPt>
            <c:idx val="3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0D1-40CA-AE76-025CDE55CDD6}"/>
              </c:ext>
            </c:extLst>
          </c:dPt>
          <c:dPt>
            <c:idx val="4"/>
            <c:bubble3D val="0"/>
            <c:spPr>
              <a:solidFill>
                <a:srgbClr val="E4575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20D1-40CA-AE76-025CDE55CDD6}"/>
              </c:ext>
            </c:extLst>
          </c:dPt>
          <c:dPt>
            <c:idx val="5"/>
            <c:bubble3D val="0"/>
            <c:spPr>
              <a:solidFill>
                <a:srgbClr val="C9C9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20D1-40CA-AE76-025CDE55CDD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 noProof="1">
                    <a:solidFill>
                      <a:srgbClr val="262626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GroupedMatmulSituQuant</c:v>
                </c:pt>
                <c:pt idx="1">
                  <c:v>GroupedMatmul</c:v>
                </c:pt>
                <c:pt idx="2">
                  <c:v>QuantBatchMatmulV4</c:v>
                </c:pt>
                <c:pt idx="3">
                  <c:v>QuantBatchMatmulV3</c:v>
                </c:pt>
                <c:pt idx="4">
                  <c:v>Dispatch/Combine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18.600000000000001</c:v>
                </c:pt>
                <c:pt idx="2">
                  <c:v>14.3</c:v>
                </c:pt>
                <c:pt idx="3">
                  <c:v>13.6</c:v>
                </c:pt>
                <c:pt idx="4">
                  <c:v>14.3</c:v>
                </c:pt>
                <c:pt idx="5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0D1-40CA-AE76-025CDE55CD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35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1A721-7132-46C5-8066-8D54D06A46A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7559C-F66A-4D6F-AB8F-43E59203F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636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瓶颈压力减小</a:t>
            </a:r>
            <a:r>
              <a:rPr lang="en-US" altLang="zh-CN" b="1" dirty="0"/>
              <a:t>, </a:t>
            </a:r>
            <a:r>
              <a:rPr lang="zh-CN" altLang="en-US" b="1" dirty="0"/>
              <a:t>论文中是</a:t>
            </a:r>
            <a:r>
              <a:rPr lang="en-US" altLang="zh-CN" b="1" dirty="0"/>
              <a:t>NVFP4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21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瓶颈压力减小</a:t>
            </a:r>
            <a:r>
              <a:rPr lang="en-US" altLang="zh-CN" b="1" dirty="0"/>
              <a:t>, </a:t>
            </a:r>
            <a:r>
              <a:rPr lang="zh-CN" altLang="en-US" b="1" dirty="0"/>
              <a:t>论文中是</a:t>
            </a:r>
            <a:r>
              <a:rPr lang="en-US" altLang="zh-CN" b="1" dirty="0"/>
              <a:t>NVFP4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98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9"/>
            </a:lvl2pPr>
            <a:lvl3pPr marL="1186975" indent="0" algn="ctr">
              <a:buNone/>
              <a:defRPr sz="2339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6803" indent="0" algn="ctr">
              <a:buNone/>
              <a:defRPr sz="2079"/>
            </a:lvl6pPr>
            <a:lvl7pPr marL="3560925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633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 sz="1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7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52" algn="ctr"/>
              </a:tabLst>
              <a:defRPr sz="15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476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52" algn="ctr"/>
              </a:tabLst>
              <a:defRPr sz="12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570" indent="-171381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4pPr>
            <a:lvl5pPr marL="525570" indent="-171381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98" marR="0" lvl="1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815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2025" y="154459"/>
            <a:ext cx="11731745" cy="658342"/>
          </a:xfrm>
        </p:spPr>
        <p:txBody>
          <a:bodyPr>
            <a:noAutofit/>
          </a:bodyPr>
          <a:lstStyle>
            <a:lvl1pPr marL="0" marR="0" indent="0" algn="l" defTabSz="121744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799" b="1">
                <a:solidFill>
                  <a:srgbClr val="9F1010"/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165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17" indent="0" algn="ctr">
              <a:buNone/>
              <a:defRPr sz="1999"/>
            </a:lvl2pPr>
            <a:lvl3pPr marL="913399" indent="0" algn="ctr">
              <a:buNone/>
              <a:defRPr sz="1799"/>
            </a:lvl3pPr>
            <a:lvl4pPr marL="1370417" indent="0" algn="ctr">
              <a:buNone/>
              <a:defRPr sz="1599"/>
            </a:lvl4pPr>
            <a:lvl5pPr marL="1827434" indent="0" algn="ctr">
              <a:buNone/>
              <a:defRPr sz="1599"/>
            </a:lvl5pPr>
            <a:lvl6pPr marL="2284451" indent="0" algn="ctr">
              <a:buNone/>
              <a:defRPr sz="1599"/>
            </a:lvl6pPr>
            <a:lvl7pPr marL="2740833" indent="0" algn="ctr">
              <a:buNone/>
              <a:defRPr sz="1599"/>
            </a:lvl7pPr>
            <a:lvl8pPr marL="3197850" indent="0" algn="ctr">
              <a:buNone/>
              <a:defRPr sz="1599"/>
            </a:lvl8pPr>
            <a:lvl9pPr marL="3654867" indent="0" algn="ctr">
              <a:buNone/>
              <a:defRPr sz="1599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B2ABD-21E7-4AAB-A135-D24E38B430D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F64A-2BA7-4CA4-BFE1-201C73B0B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05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763" y="480685"/>
            <a:ext cx="10736446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2399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9"/>
            </a:lvl2pPr>
            <a:lvl3pPr marL="1186975" indent="0" algn="ctr">
              <a:buNone/>
              <a:defRPr sz="2339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6803" indent="0" algn="ctr">
              <a:buNone/>
              <a:defRPr sz="2079"/>
            </a:lvl6pPr>
            <a:lvl7pPr marL="3560925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9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899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6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9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899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9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9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9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9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hdr="0" ftr="0" dt="0"/>
  <p:txStyles>
    <p:titleStyle>
      <a:lvl1pPr algn="l" defTabSz="1186975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061" indent="-297061" algn="l" defTabSz="1186975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89914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9" kern="1200">
          <a:solidFill>
            <a:schemeClr val="tx1"/>
          </a:solidFill>
          <a:latin typeface="+mn-lt"/>
          <a:ea typeface="+mn-ea"/>
          <a:cs typeface="+mn-cs"/>
        </a:defRPr>
      </a:lvl2pPr>
      <a:lvl3pPr marL="1483401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9" kern="1200">
          <a:solidFill>
            <a:schemeClr val="tx1"/>
          </a:solidFill>
          <a:latin typeface="+mn-lt"/>
          <a:ea typeface="+mn-ea"/>
          <a:cs typeface="+mn-cs"/>
        </a:defRPr>
      </a:lvl3pPr>
      <a:lvl4pPr marL="2076889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670376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3263864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857351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450839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5044326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1pPr>
      <a:lvl2pPr marL="593488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2pPr>
      <a:lvl3pPr marL="1186975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780463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373950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2966803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560925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153778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5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>
            <a:extLst>
              <a:ext uri="{FF2B5EF4-FFF2-40B4-BE49-F238E27FC236}">
                <a16:creationId xmlns:a16="http://schemas.microsoft.com/office/drawing/2014/main" id="{54CD5F67-529B-4822-B1B5-D57D1731C1E8}"/>
              </a:ext>
            </a:extLst>
          </p:cNvPr>
          <p:cNvGrpSpPr/>
          <p:nvPr/>
        </p:nvGrpSpPr>
        <p:grpSpPr>
          <a:xfrm>
            <a:off x="231725" y="1205094"/>
            <a:ext cx="4830092" cy="966606"/>
            <a:chOff x="2359219" y="1643545"/>
            <a:chExt cx="4765479" cy="5043177"/>
          </a:xfrm>
        </p:grpSpPr>
        <p:sp>
          <p:nvSpPr>
            <p:cNvPr id="65" name="矩形 127">
              <a:extLst>
                <a:ext uri="{FF2B5EF4-FFF2-40B4-BE49-F238E27FC236}">
                  <a16:creationId xmlns:a16="http://schemas.microsoft.com/office/drawing/2014/main" id="{42144D6C-88AF-4A27-A2D5-A7261B851A2E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66" name="直接连接符 128">
              <a:extLst>
                <a:ext uri="{FF2B5EF4-FFF2-40B4-BE49-F238E27FC236}">
                  <a16:creationId xmlns:a16="http://schemas.microsoft.com/office/drawing/2014/main" id="{02FFA566-55A9-47B9-A866-678A1546815E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67" name="直接连接符 129">
              <a:extLst>
                <a:ext uri="{FF2B5EF4-FFF2-40B4-BE49-F238E27FC236}">
                  <a16:creationId xmlns:a16="http://schemas.microsoft.com/office/drawing/2014/main" id="{7D332B41-B79A-4913-B750-89D2DAA2A092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68" name="直接连接符 130">
              <a:extLst>
                <a:ext uri="{FF2B5EF4-FFF2-40B4-BE49-F238E27FC236}">
                  <a16:creationId xmlns:a16="http://schemas.microsoft.com/office/drawing/2014/main" id="{295E8BC6-9386-42AF-BD6C-71ABFBFC9DA4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69" name="直接连接符 131">
              <a:extLst>
                <a:ext uri="{FF2B5EF4-FFF2-40B4-BE49-F238E27FC236}">
                  <a16:creationId xmlns:a16="http://schemas.microsoft.com/office/drawing/2014/main" id="{0A76C760-F313-4FD6-ADBC-64BB4E11B0F3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0" name="直接连接符 132">
              <a:extLst>
                <a:ext uri="{FF2B5EF4-FFF2-40B4-BE49-F238E27FC236}">
                  <a16:creationId xmlns:a16="http://schemas.microsoft.com/office/drawing/2014/main" id="{837289FF-501E-4EB0-A196-51289E9FB675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1" name="直接连接符 133">
              <a:extLst>
                <a:ext uri="{FF2B5EF4-FFF2-40B4-BE49-F238E27FC236}">
                  <a16:creationId xmlns:a16="http://schemas.microsoft.com/office/drawing/2014/main" id="{E0E1A5B9-F70E-4556-86C5-BB439AD883C9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2" name="直接连接符 134">
              <a:extLst>
                <a:ext uri="{FF2B5EF4-FFF2-40B4-BE49-F238E27FC236}">
                  <a16:creationId xmlns:a16="http://schemas.microsoft.com/office/drawing/2014/main" id="{A2670FB8-57AA-4DEF-85C3-0B7B8CA53017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3" name="直接连接符 135">
              <a:extLst>
                <a:ext uri="{FF2B5EF4-FFF2-40B4-BE49-F238E27FC236}">
                  <a16:creationId xmlns:a16="http://schemas.microsoft.com/office/drawing/2014/main" id="{779726A0-69BC-41EA-8A99-E563FF277D6D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B25BEEFE-ACE7-4749-86B1-D4BFC192D41D}"/>
              </a:ext>
            </a:extLst>
          </p:cNvPr>
          <p:cNvGrpSpPr/>
          <p:nvPr/>
        </p:nvGrpSpPr>
        <p:grpSpPr>
          <a:xfrm>
            <a:off x="206167" y="2349775"/>
            <a:ext cx="4854645" cy="4317715"/>
            <a:chOff x="2359219" y="1643545"/>
            <a:chExt cx="4765479" cy="5043177"/>
          </a:xfrm>
        </p:grpSpPr>
        <p:sp>
          <p:nvSpPr>
            <p:cNvPr id="290" name="矩形 127">
              <a:extLst>
                <a:ext uri="{FF2B5EF4-FFF2-40B4-BE49-F238E27FC236}">
                  <a16:creationId xmlns:a16="http://schemas.microsoft.com/office/drawing/2014/main" id="{73501B13-BC7B-4FB4-B9F9-39AEDD1621EA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291" name="直接连接符 128">
              <a:extLst>
                <a:ext uri="{FF2B5EF4-FFF2-40B4-BE49-F238E27FC236}">
                  <a16:creationId xmlns:a16="http://schemas.microsoft.com/office/drawing/2014/main" id="{085A30EB-CCEB-4075-9C96-75819C52F686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2" name="直接连接符 129">
              <a:extLst>
                <a:ext uri="{FF2B5EF4-FFF2-40B4-BE49-F238E27FC236}">
                  <a16:creationId xmlns:a16="http://schemas.microsoft.com/office/drawing/2014/main" id="{1B1275A8-1409-4A7F-AD0A-9E2DE191C4F8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3" name="直接连接符 130">
              <a:extLst>
                <a:ext uri="{FF2B5EF4-FFF2-40B4-BE49-F238E27FC236}">
                  <a16:creationId xmlns:a16="http://schemas.microsoft.com/office/drawing/2014/main" id="{0085E02A-18C3-4268-9692-CF3A6A4EBDF4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4" name="直接连接符 131">
              <a:extLst>
                <a:ext uri="{FF2B5EF4-FFF2-40B4-BE49-F238E27FC236}">
                  <a16:creationId xmlns:a16="http://schemas.microsoft.com/office/drawing/2014/main" id="{E41EC8AB-3391-46FC-B6C2-7330D72DA0FE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5" name="直接连接符 132">
              <a:extLst>
                <a:ext uri="{FF2B5EF4-FFF2-40B4-BE49-F238E27FC236}">
                  <a16:creationId xmlns:a16="http://schemas.microsoft.com/office/drawing/2014/main" id="{FB0374A5-A0FE-4778-BABD-30E9BE35CE23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6" name="直接连接符 133">
              <a:extLst>
                <a:ext uri="{FF2B5EF4-FFF2-40B4-BE49-F238E27FC236}">
                  <a16:creationId xmlns:a16="http://schemas.microsoft.com/office/drawing/2014/main" id="{88C794AF-2C4D-45EE-832B-A8AC1B7EA3CE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7" name="直接连接符 134">
              <a:extLst>
                <a:ext uri="{FF2B5EF4-FFF2-40B4-BE49-F238E27FC236}">
                  <a16:creationId xmlns:a16="http://schemas.microsoft.com/office/drawing/2014/main" id="{7B9AE284-506C-4B2A-BE41-913DF36055B7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8" name="直接连接符 135">
              <a:extLst>
                <a:ext uri="{FF2B5EF4-FFF2-40B4-BE49-F238E27FC236}">
                  <a16:creationId xmlns:a16="http://schemas.microsoft.com/office/drawing/2014/main" id="{8CA1D751-2C3B-4C77-A2A3-1658439F1EF5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80" name="标题 1">
            <a:extLst>
              <a:ext uri="{FF2B5EF4-FFF2-40B4-BE49-F238E27FC236}">
                <a16:creationId xmlns:a16="http://schemas.microsoft.com/office/drawing/2014/main" id="{4FA8E6CE-540B-41A0-B921-FBFD267B2A0C}"/>
              </a:ext>
            </a:extLst>
          </p:cNvPr>
          <p:cNvSpPr txBox="1"/>
          <p:nvPr/>
        </p:nvSpPr>
        <p:spPr bwMode="auto">
          <a:xfrm>
            <a:off x="67966" y="80642"/>
            <a:ext cx="12056068" cy="55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008" tIns="39004" rIns="78008" bIns="39004" numCol="1" anchor="ctr" anchorCtr="0" compatLnSpc="1"/>
          <a:lstStyle>
            <a:lvl1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45593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91186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136842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182435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1185706" eaLnBrk="1" fontAlgn="auto" hangingPunct="1">
              <a:lnSpc>
                <a:spcPts val="342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lang="zh-CN" altLang="en-US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推理负载分析</a:t>
            </a: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A284DE64-C4E8-436B-B237-6309BFD759BA}"/>
              </a:ext>
            </a:extLst>
          </p:cNvPr>
          <p:cNvSpPr txBox="1"/>
          <p:nvPr/>
        </p:nvSpPr>
        <p:spPr>
          <a:xfrm>
            <a:off x="510415" y="1058630"/>
            <a:ext cx="4002854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noProof="1">
                <a:solidFill>
                  <a:srgbClr val="C00000"/>
                </a:solidFill>
                <a:latin typeface="微软雅黑"/>
                <a:ea typeface="微软雅黑"/>
              </a:rPr>
              <a:t>性能汇总</a:t>
            </a:r>
            <a:endParaRPr kumimoji="1"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9ACFBEFC-D4B7-4D24-97CB-0F88DB94B29F}"/>
              </a:ext>
            </a:extLst>
          </p:cNvPr>
          <p:cNvSpPr/>
          <p:nvPr/>
        </p:nvSpPr>
        <p:spPr>
          <a:xfrm>
            <a:off x="206167" y="599377"/>
            <a:ext cx="809292" cy="425186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9" tIns="35949" rIns="35949" bIns="35949" numCol="1" anchor="ctr">
            <a:noAutofit/>
          </a:bodyPr>
          <a:lstStyle/>
          <a:p>
            <a:pPr algn="ctr" defTabSz="1718257">
              <a:defRPr/>
            </a:pPr>
            <a:r>
              <a:rPr lang="zh-CN" altLang="en-US" sz="1599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en-US" altLang="zh-CN" sz="1599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3EE9DFE0-0180-4ACA-A7BD-2DCB70CC6411}"/>
              </a:ext>
            </a:extLst>
          </p:cNvPr>
          <p:cNvSpPr/>
          <p:nvPr/>
        </p:nvSpPr>
        <p:spPr>
          <a:xfrm>
            <a:off x="1015459" y="592972"/>
            <a:ext cx="10946129" cy="41075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3399">
              <a:lnSpc>
                <a:spcPct val="130000"/>
              </a:lnSpc>
              <a:defRPr/>
            </a:pP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lang="zh-CN" altLang="en-US" sz="1399" b="1" kern="0" noProof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采用混合线性注意力，</a:t>
            </a:r>
            <a:r>
              <a:rPr lang="en-US" altLang="zh-CN" sz="1399" b="1" kern="0" noProof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1399" b="1" kern="0" noProof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耗时占比下降，</a:t>
            </a:r>
            <a:r>
              <a:rPr lang="en-US" altLang="zh-CN" sz="1399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成为主要瓶颈，占比接近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；通过减小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缓解负载不均</a:t>
            </a:r>
            <a:endParaRPr lang="en-US" altLang="zh-CN" sz="1399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E73D52D7-068B-49E2-BA2D-93A1E192CEFE}"/>
              </a:ext>
            </a:extLst>
          </p:cNvPr>
          <p:cNvGrpSpPr/>
          <p:nvPr/>
        </p:nvGrpSpPr>
        <p:grpSpPr>
          <a:xfrm>
            <a:off x="9784326" y="-5978"/>
            <a:ext cx="2401200" cy="171354"/>
            <a:chOff x="9788148" y="-7320"/>
            <a:chExt cx="2402138" cy="171421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F69EC01-6455-48A7-A2E2-FF423C3340B6}"/>
                </a:ext>
              </a:extLst>
            </p:cNvPr>
            <p:cNvSpPr/>
            <p:nvPr/>
          </p:nvSpPr>
          <p:spPr bwMode="auto">
            <a:xfrm>
              <a:off x="11387668" y="-7320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EB313F5C-E160-477D-826B-D529D7DCB149}"/>
                </a:ext>
              </a:extLst>
            </p:cNvPr>
            <p:cNvSpPr/>
            <p:nvPr/>
          </p:nvSpPr>
          <p:spPr bwMode="auto">
            <a:xfrm>
              <a:off x="10595890" y="-7320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训练方案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38B82EB6-BFD5-4647-BB62-D56565F1879B}"/>
                </a:ext>
              </a:extLst>
            </p:cNvPr>
            <p:cNvSpPr/>
            <p:nvPr/>
          </p:nvSpPr>
          <p:spPr bwMode="auto">
            <a:xfrm>
              <a:off x="11401032" y="-2793"/>
              <a:ext cx="785036" cy="158806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昇腾适配</a:t>
              </a:r>
              <a:endParaRPr lang="en-US" altLang="zh-CN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9DB8C4C0-A3CA-4E15-A324-FD3BD5224ECC}"/>
                </a:ext>
              </a:extLst>
            </p:cNvPr>
            <p:cNvSpPr/>
            <p:nvPr/>
          </p:nvSpPr>
          <p:spPr bwMode="auto">
            <a:xfrm>
              <a:off x="9788148" y="-7031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模型结构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pie-legend">
            <a:extLst>
              <a:ext uri="{FF2B5EF4-FFF2-40B4-BE49-F238E27FC236}">
                <a16:creationId xmlns:a16="http://schemas.microsoft.com/office/drawing/2014/main" id="{4FA41C38-24E8-4C85-A05E-A244668AE097}"/>
              </a:ext>
            </a:extLst>
          </p:cNvPr>
          <p:cNvSpPr txBox="1"/>
          <p:nvPr/>
        </p:nvSpPr>
        <p:spPr>
          <a:xfrm>
            <a:off x="2831559" y="2486010"/>
            <a:ext cx="2082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750" noProof="1">
                <a:solidFill>
                  <a:srgbClr val="4C78A8"/>
                </a:solidFill>
                <a:latin typeface="微软雅黑"/>
                <a:ea typeface="微软雅黑"/>
              </a:rPr>
              <a:t>■ 计算</a:t>
            </a:r>
            <a:r>
              <a:rPr lang="en-US" sz="750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noProof="1">
                <a:solidFill>
                  <a:srgbClr val="F2A93B"/>
                </a:solidFill>
                <a:latin typeface="微软雅黑"/>
                <a:ea typeface="微软雅黑"/>
              </a:rPr>
              <a:t>■ 访存</a:t>
            </a:r>
            <a:r>
              <a:rPr lang="en-US" sz="750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noProof="1">
                <a:solidFill>
                  <a:srgbClr val="E45756"/>
                </a:solidFill>
                <a:latin typeface="微软雅黑"/>
                <a:ea typeface="微软雅黑"/>
              </a:rPr>
              <a:t>■ 通信</a:t>
            </a:r>
            <a:r>
              <a:rPr lang="en-US" sz="750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noProof="1">
                <a:solidFill>
                  <a:srgbClr val="C9C9C9"/>
                </a:solidFill>
                <a:latin typeface="微软雅黑"/>
                <a:ea typeface="微软雅黑"/>
              </a:rPr>
              <a:t>■ 其他</a:t>
            </a:r>
            <a:endParaRPr lang="en-US" sz="750" noProof="1"/>
          </a:p>
        </p:txBody>
      </p:sp>
      <p:sp>
        <p:nvSpPr>
          <p:cNvPr id="38" name="pie-title-p-attn">
            <a:extLst>
              <a:ext uri="{FF2B5EF4-FFF2-40B4-BE49-F238E27FC236}">
                <a16:creationId xmlns:a16="http://schemas.microsoft.com/office/drawing/2014/main" id="{31FBAFD3-A8AA-4031-A254-9A9B0D01D559}"/>
              </a:ext>
            </a:extLst>
          </p:cNvPr>
          <p:cNvSpPr txBox="1"/>
          <p:nvPr/>
        </p:nvSpPr>
        <p:spPr>
          <a:xfrm>
            <a:off x="-246060" y="2722792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262626"/>
                </a:solidFill>
                <a:latin typeface="微软雅黑"/>
                <a:ea typeface="微软雅黑"/>
              </a:rPr>
              <a:t>P · Attention（25.1%）</a:t>
            </a:r>
            <a:endParaRPr lang="en-US" sz="900" noProof="1"/>
          </a:p>
        </p:txBody>
      </p:sp>
      <p:graphicFrame>
        <p:nvGraphicFramePr>
          <p:cNvPr id="39" name="pie-p-attn">
            <a:extLst>
              <a:ext uri="{FF2B5EF4-FFF2-40B4-BE49-F238E27FC236}">
                <a16:creationId xmlns:a16="http://schemas.microsoft.com/office/drawing/2014/main" id="{502D24D4-EFC5-48A4-B6DC-437547264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6776378"/>
              </p:ext>
            </p:extLst>
          </p:nvPr>
        </p:nvGraphicFramePr>
        <p:xfrm>
          <a:off x="113759" y="2661692"/>
          <a:ext cx="1651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pie-p-attn-legend">
            <a:extLst>
              <a:ext uri="{FF2B5EF4-FFF2-40B4-BE49-F238E27FC236}">
                <a16:creationId xmlns:a16="http://schemas.microsoft.com/office/drawing/2014/main" id="{264E29C4-BC73-4488-A1CB-08F3036202D3}"/>
              </a:ext>
            </a:extLst>
          </p:cNvPr>
          <p:cNvSpPr txBox="1"/>
          <p:nvPr/>
        </p:nvSpPr>
        <p:spPr>
          <a:xfrm>
            <a:off x="1688559" y="2712492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ChunkKdaFwd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FL</a:t>
            </a:r>
            <a:r>
              <a:rPr lang="en-US" altLang="zh-CN" sz="600" noProof="1">
                <a:solidFill>
                  <a:srgbClr val="262626"/>
                </a:solidFill>
                <a:latin typeface="微软雅黑"/>
                <a:ea typeface="微软雅黑"/>
              </a:rPr>
              <a:t>ashMlaWithKvcache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41" name="pie-title-p-moe">
            <a:extLst>
              <a:ext uri="{FF2B5EF4-FFF2-40B4-BE49-F238E27FC236}">
                <a16:creationId xmlns:a16="http://schemas.microsoft.com/office/drawing/2014/main" id="{B7ECFC09-0B01-42DF-B84B-43669633CD51}"/>
              </a:ext>
            </a:extLst>
          </p:cNvPr>
          <p:cNvSpPr txBox="1"/>
          <p:nvPr/>
        </p:nvSpPr>
        <p:spPr>
          <a:xfrm>
            <a:off x="1988400" y="2746376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262626"/>
                </a:solidFill>
                <a:latin typeface="微软雅黑"/>
                <a:ea typeface="微软雅黑"/>
              </a:rPr>
              <a:t>P · MoE（50.6%）</a:t>
            </a:r>
            <a:endParaRPr lang="en-US" sz="900" noProof="1"/>
          </a:p>
        </p:txBody>
      </p:sp>
      <p:graphicFrame>
        <p:nvGraphicFramePr>
          <p:cNvPr id="42" name="pie-p-moe">
            <a:extLst>
              <a:ext uri="{FF2B5EF4-FFF2-40B4-BE49-F238E27FC236}">
                <a16:creationId xmlns:a16="http://schemas.microsoft.com/office/drawing/2014/main" id="{C8208E48-489F-456B-A4EA-B4348866E9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254908"/>
              </p:ext>
            </p:extLst>
          </p:nvPr>
        </p:nvGraphicFramePr>
        <p:xfrm>
          <a:off x="2397727" y="2661692"/>
          <a:ext cx="1651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pie-p-moe-legend">
            <a:extLst>
              <a:ext uri="{FF2B5EF4-FFF2-40B4-BE49-F238E27FC236}">
                <a16:creationId xmlns:a16="http://schemas.microsoft.com/office/drawing/2014/main" id="{2AF4EA27-E81E-4B0A-A212-793F266DCE6A}"/>
              </a:ext>
            </a:extLst>
          </p:cNvPr>
          <p:cNvSpPr txBox="1"/>
          <p:nvPr/>
        </p:nvSpPr>
        <p:spPr>
          <a:xfrm>
            <a:off x="3922014" y="2697563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DequantSituQuant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DynamicQuant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44" name="pie-title-d-attn">
            <a:extLst>
              <a:ext uri="{FF2B5EF4-FFF2-40B4-BE49-F238E27FC236}">
                <a16:creationId xmlns:a16="http://schemas.microsoft.com/office/drawing/2014/main" id="{EF42CF0D-2FCD-4F0D-9C00-E72CA5BF31EF}"/>
              </a:ext>
            </a:extLst>
          </p:cNvPr>
          <p:cNvSpPr txBox="1"/>
          <p:nvPr/>
        </p:nvSpPr>
        <p:spPr>
          <a:xfrm>
            <a:off x="-344992" y="4213093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262626"/>
                </a:solidFill>
                <a:latin typeface="微软雅黑"/>
                <a:ea typeface="微软雅黑"/>
              </a:rPr>
              <a:t>D · Attention（20.0%）</a:t>
            </a:r>
            <a:endParaRPr lang="en-US" sz="900" noProof="1"/>
          </a:p>
        </p:txBody>
      </p:sp>
      <p:graphicFrame>
        <p:nvGraphicFramePr>
          <p:cNvPr id="45" name="pie-d-attn">
            <a:extLst>
              <a:ext uri="{FF2B5EF4-FFF2-40B4-BE49-F238E27FC236}">
                <a16:creationId xmlns:a16="http://schemas.microsoft.com/office/drawing/2014/main" id="{AEB62C04-3C2E-4F2A-A273-A01DB5E61E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7117937"/>
              </p:ext>
            </p:extLst>
          </p:nvPr>
        </p:nvGraphicFramePr>
        <p:xfrm>
          <a:off x="97516" y="4104622"/>
          <a:ext cx="1651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6" name="pie-d-attn-legend">
            <a:extLst>
              <a:ext uri="{FF2B5EF4-FFF2-40B4-BE49-F238E27FC236}">
                <a16:creationId xmlns:a16="http://schemas.microsoft.com/office/drawing/2014/main" id="{035972B3-38DB-449F-B53E-5EE1945D9064}"/>
              </a:ext>
            </a:extLst>
          </p:cNvPr>
          <p:cNvSpPr txBox="1"/>
          <p:nvPr/>
        </p:nvSpPr>
        <p:spPr>
          <a:xfrm>
            <a:off x="1672316" y="4155422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AttnResFwdFu</a:t>
            </a:r>
          </a:p>
          <a:p>
            <a:pPr>
              <a:lnSpc>
                <a:spcPct val="180000"/>
              </a:lnSpc>
            </a:pPr>
            <a:r>
              <a:rPr lang="en-US" altLang="zh-CN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altLang="zh-CN" sz="600" noProof="1">
                <a:solidFill>
                  <a:srgbClr val="262626"/>
                </a:solidFill>
                <a:latin typeface="微软雅黑"/>
                <a:ea typeface="微软雅黑"/>
              </a:rPr>
              <a:t> FlashMlaWithKvcache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MlaPrologV3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RecurrentKda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47" name="pie-title-d-moe">
            <a:extLst>
              <a:ext uri="{FF2B5EF4-FFF2-40B4-BE49-F238E27FC236}">
                <a16:creationId xmlns:a16="http://schemas.microsoft.com/office/drawing/2014/main" id="{EF0DD825-8B2D-4152-A1D5-040CC4233478}"/>
              </a:ext>
            </a:extLst>
          </p:cNvPr>
          <p:cNvSpPr txBox="1"/>
          <p:nvPr/>
        </p:nvSpPr>
        <p:spPr>
          <a:xfrm>
            <a:off x="1926276" y="4206997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262626"/>
                </a:solidFill>
                <a:latin typeface="微软雅黑"/>
                <a:ea typeface="微软雅黑"/>
              </a:rPr>
              <a:t>D · MoE（47.9%）</a:t>
            </a:r>
            <a:endParaRPr lang="en-US" sz="900" noProof="1"/>
          </a:p>
        </p:txBody>
      </p:sp>
      <p:graphicFrame>
        <p:nvGraphicFramePr>
          <p:cNvPr id="48" name="pie-d-moe">
            <a:extLst>
              <a:ext uri="{FF2B5EF4-FFF2-40B4-BE49-F238E27FC236}">
                <a16:creationId xmlns:a16="http://schemas.microsoft.com/office/drawing/2014/main" id="{8A414A20-0FCE-4AD9-A987-E2A751CA15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920903"/>
              </p:ext>
            </p:extLst>
          </p:nvPr>
        </p:nvGraphicFramePr>
        <p:xfrm>
          <a:off x="2393676" y="4104622"/>
          <a:ext cx="1651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" name="文本框 89">
            <a:extLst>
              <a:ext uri="{FF2B5EF4-FFF2-40B4-BE49-F238E27FC236}">
                <a16:creationId xmlns:a16="http://schemas.microsoft.com/office/drawing/2014/main" id="{1F227E2E-CC65-4734-9981-F8367FB2A384}"/>
              </a:ext>
            </a:extLst>
          </p:cNvPr>
          <p:cNvSpPr txBox="1"/>
          <p:nvPr/>
        </p:nvSpPr>
        <p:spPr>
          <a:xfrm>
            <a:off x="1364451" y="2333948"/>
            <a:ext cx="2295575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en-US" altLang="zh-CN" sz="1200" b="1" noProof="1">
                <a:solidFill>
                  <a:srgbClr val="C00000"/>
                </a:solidFill>
                <a:latin typeface="微软雅黑"/>
                <a:ea typeface="微软雅黑"/>
              </a:rPr>
              <a:t>算子</a:t>
            </a:r>
            <a:r>
              <a:rPr lang="zh-CN" altLang="en-US" sz="1200" b="1" noProof="1">
                <a:solidFill>
                  <a:srgbClr val="C00000"/>
                </a:solidFill>
                <a:latin typeface="微软雅黑"/>
                <a:ea typeface="微软雅黑"/>
              </a:rPr>
              <a:t>拆解和瓶颈分析</a:t>
            </a:r>
            <a:endParaRPr kumimoji="1"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798DC44-87F2-40BB-913F-51F2484BD323}"/>
              </a:ext>
            </a:extLst>
          </p:cNvPr>
          <p:cNvSpPr txBox="1"/>
          <p:nvPr/>
        </p:nvSpPr>
        <p:spPr>
          <a:xfrm>
            <a:off x="335215" y="1329595"/>
            <a:ext cx="4663559" cy="715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A5 4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128K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1K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输出，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BS32: 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TTFT 3390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TPOT 42.1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ITL 55.7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626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tps</a:t>
            </a:r>
            <a:endParaRPr lang="en-US" altLang="zh-CN" sz="100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前向耗时：主模型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49.4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草稿模型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3ms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metadata build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1ms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6A677758-C1A4-4ED9-A90E-FA0799BF2307}"/>
              </a:ext>
            </a:extLst>
          </p:cNvPr>
          <p:cNvSpPr txBox="1"/>
          <p:nvPr/>
        </p:nvSpPr>
        <p:spPr>
          <a:xfrm>
            <a:off x="387481" y="5620310"/>
            <a:ext cx="2530292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pie-d-moe-legend">
            <a:extLst>
              <a:ext uri="{FF2B5EF4-FFF2-40B4-BE49-F238E27FC236}">
                <a16:creationId xmlns:a16="http://schemas.microsoft.com/office/drawing/2014/main" id="{AE64F56E-0F80-417C-ACB6-E598710E298D}"/>
              </a:ext>
            </a:extLst>
          </p:cNvPr>
          <p:cNvSpPr txBox="1"/>
          <p:nvPr/>
        </p:nvSpPr>
        <p:spPr>
          <a:xfrm>
            <a:off x="3905771" y="4159033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GroupedMatmulSituQuant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QuantBatchMatmulV4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E45756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Dispatch/Combine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B263EEA-4E2B-42D8-BFD9-D234973958E7}"/>
              </a:ext>
            </a:extLst>
          </p:cNvPr>
          <p:cNvGrpSpPr/>
          <p:nvPr/>
        </p:nvGrpSpPr>
        <p:grpSpPr>
          <a:xfrm>
            <a:off x="5213470" y="1196652"/>
            <a:ext cx="6748118" cy="2587250"/>
            <a:chOff x="2359219" y="1643545"/>
            <a:chExt cx="4765479" cy="5043177"/>
          </a:xfrm>
        </p:grpSpPr>
        <p:sp>
          <p:nvSpPr>
            <p:cNvPr id="86" name="矩形 127">
              <a:extLst>
                <a:ext uri="{FF2B5EF4-FFF2-40B4-BE49-F238E27FC236}">
                  <a16:creationId xmlns:a16="http://schemas.microsoft.com/office/drawing/2014/main" id="{94507420-6D7E-4292-B69B-BF8D4AC0F19F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87" name="直接连接符 128">
              <a:extLst>
                <a:ext uri="{FF2B5EF4-FFF2-40B4-BE49-F238E27FC236}">
                  <a16:creationId xmlns:a16="http://schemas.microsoft.com/office/drawing/2014/main" id="{3372014C-B8DB-4ACE-9379-6A302E5CD9A3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8" name="直接连接符 129">
              <a:extLst>
                <a:ext uri="{FF2B5EF4-FFF2-40B4-BE49-F238E27FC236}">
                  <a16:creationId xmlns:a16="http://schemas.microsoft.com/office/drawing/2014/main" id="{777FAEA6-B4B6-444B-9FDE-CA4255DDCC9B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9" name="直接连接符 130">
              <a:extLst>
                <a:ext uri="{FF2B5EF4-FFF2-40B4-BE49-F238E27FC236}">
                  <a16:creationId xmlns:a16="http://schemas.microsoft.com/office/drawing/2014/main" id="{51CAA8FA-9579-4635-BBBA-273A3DB1B809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2" name="直接连接符 131">
              <a:extLst>
                <a:ext uri="{FF2B5EF4-FFF2-40B4-BE49-F238E27FC236}">
                  <a16:creationId xmlns:a16="http://schemas.microsoft.com/office/drawing/2014/main" id="{552F628C-D5DE-454E-A0CD-0DF66E64FFA5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3" name="直接连接符 132">
              <a:extLst>
                <a:ext uri="{FF2B5EF4-FFF2-40B4-BE49-F238E27FC236}">
                  <a16:creationId xmlns:a16="http://schemas.microsoft.com/office/drawing/2014/main" id="{B633D183-DB0D-4B2B-9CC3-6845CBF05856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4" name="直接连接符 133">
              <a:extLst>
                <a:ext uri="{FF2B5EF4-FFF2-40B4-BE49-F238E27FC236}">
                  <a16:creationId xmlns:a16="http://schemas.microsoft.com/office/drawing/2014/main" id="{AAAC2F54-48A7-45AC-9A0E-74E6D3B4321E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5" name="直接连接符 134">
              <a:extLst>
                <a:ext uri="{FF2B5EF4-FFF2-40B4-BE49-F238E27FC236}">
                  <a16:creationId xmlns:a16="http://schemas.microsoft.com/office/drawing/2014/main" id="{A00AD41E-D65D-44D8-A883-64E131E2E670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6" name="直接连接符 135">
              <a:extLst>
                <a:ext uri="{FF2B5EF4-FFF2-40B4-BE49-F238E27FC236}">
                  <a16:creationId xmlns:a16="http://schemas.microsoft.com/office/drawing/2014/main" id="{0C2C42AE-867A-4CAA-89FE-BD5873EEFA3F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97" name="文本框 96">
            <a:extLst>
              <a:ext uri="{FF2B5EF4-FFF2-40B4-BE49-F238E27FC236}">
                <a16:creationId xmlns:a16="http://schemas.microsoft.com/office/drawing/2014/main" id="{4FF3A10C-C34C-4B18-A31A-7234D55C4C67}"/>
              </a:ext>
            </a:extLst>
          </p:cNvPr>
          <p:cNvSpPr txBox="1"/>
          <p:nvPr/>
        </p:nvSpPr>
        <p:spPr>
          <a:xfrm>
            <a:off x="7012905" y="1042751"/>
            <a:ext cx="3029027" cy="27689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en-US" altLang="zh-CN" sz="1200" b="1" noProof="1">
                <a:solidFill>
                  <a:srgbClr val="C00000"/>
                </a:solidFill>
                <a:latin typeface="微软雅黑"/>
                <a:ea typeface="微软雅黑"/>
              </a:rPr>
              <a:t>Attention / MoE 占比与负载</a:t>
            </a:r>
            <a:r>
              <a:rPr lang="zh-CN" altLang="en-US" sz="1200" b="1" noProof="1">
                <a:solidFill>
                  <a:srgbClr val="C00000"/>
                </a:solidFill>
                <a:latin typeface="微软雅黑"/>
                <a:ea typeface="微软雅黑"/>
              </a:rPr>
              <a:t>拆解</a:t>
            </a:r>
            <a:endParaRPr kumimoji="1"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7B411D8-45DF-4DCE-81E7-B358AAAD6755}"/>
              </a:ext>
            </a:extLst>
          </p:cNvPr>
          <p:cNvSpPr txBox="1"/>
          <p:nvPr/>
        </p:nvSpPr>
        <p:spPr>
          <a:xfrm>
            <a:off x="412530" y="5862818"/>
            <a:ext cx="4489942" cy="76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altLang="zh-CN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高度集中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：Preill 集中于 KDA 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，Decode 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阶段由于上下文较长，耗时主要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MLA 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endParaRPr lang="en-US" altLang="zh-CN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4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altLang="zh-CN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 </a:t>
            </a:r>
            <a:r>
              <a:rPr lang="zh-CN" altLang="en-US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</a:t>
            </a:r>
            <a:r>
              <a:rPr lang="en-US" altLang="zh-CN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以矩阵乘 + 量化为主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计算，访存占比都较高</a:t>
            </a:r>
            <a:endParaRPr lang="en-US" altLang="zh-CN" sz="1000" noProof="1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335C548-E719-4165-8A80-8F53AC80B46C}"/>
              </a:ext>
            </a:extLst>
          </p:cNvPr>
          <p:cNvSpPr txBox="1"/>
          <p:nvPr/>
        </p:nvSpPr>
        <p:spPr>
          <a:xfrm>
            <a:off x="5499275" y="1378309"/>
            <a:ext cx="764080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0" name="sum-table">
            <a:extLst>
              <a:ext uri="{FF2B5EF4-FFF2-40B4-BE49-F238E27FC236}">
                <a16:creationId xmlns:a16="http://schemas.microsoft.com/office/drawing/2014/main" id="{BBFA8F24-ED18-4281-9FB4-F90FA126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2222"/>
              </p:ext>
            </p:extLst>
          </p:nvPr>
        </p:nvGraphicFramePr>
        <p:xfrm>
          <a:off x="5461902" y="2009691"/>
          <a:ext cx="6221616" cy="1524000"/>
        </p:xfrm>
        <a:graphic>
          <a:graphicData uri="http://schemas.openxmlformats.org/drawingml/2006/table">
            <a:tbl>
              <a:tblPr/>
              <a:tblGrid>
                <a:gridCol w="972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Attention（us / 占比）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MoE（us / 占比）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4C78A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</a:t>
                      </a: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000" b="1" noProof="1">
                          <a:solidFill>
                            <a:srgbClr val="F2A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访存</a:t>
                      </a: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000" b="1" noProof="1">
                          <a:solidFill>
                            <a:srgbClr val="E358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 Prefill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2,005,161 / </a:t>
                      </a:r>
                      <a:r>
                        <a:rPr lang="en-US" sz="1000" b="1" noProof="1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4,043,506 / </a:t>
                      </a:r>
                      <a:r>
                        <a:rPr lang="en-US" sz="1000" b="1" noProof="1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endParaRPr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 Decode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483,203 / </a:t>
                      </a:r>
                      <a:r>
                        <a:rPr lang="en-US" sz="1000" b="1" noProof="1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1,159,345 / </a:t>
                      </a:r>
                      <a:r>
                        <a:rPr lang="en-US" sz="1000" b="1" noProof="1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endParaRPr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" name="bar-p-calc">
            <a:extLst>
              <a:ext uri="{FF2B5EF4-FFF2-40B4-BE49-F238E27FC236}">
                <a16:creationId xmlns:a16="http://schemas.microsoft.com/office/drawing/2014/main" id="{828D1D7D-9B72-4192-BC77-70B65C6EE804}"/>
              </a:ext>
            </a:extLst>
          </p:cNvPr>
          <p:cNvSpPr/>
          <p:nvPr/>
        </p:nvSpPr>
        <p:spPr>
          <a:xfrm>
            <a:off x="10196465" y="2568682"/>
            <a:ext cx="376542" cy="139700"/>
          </a:xfrm>
          <a:prstGeom prst="rect">
            <a:avLst/>
          </a:prstGeom>
          <a:solidFill>
            <a:srgbClr val="4C78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bar-p-mem">
            <a:extLst>
              <a:ext uri="{FF2B5EF4-FFF2-40B4-BE49-F238E27FC236}">
                <a16:creationId xmlns:a16="http://schemas.microsoft.com/office/drawing/2014/main" id="{48A83782-EE9B-47FC-9CBA-0B7A45E48A2A}"/>
              </a:ext>
            </a:extLst>
          </p:cNvPr>
          <p:cNvSpPr/>
          <p:nvPr/>
        </p:nvSpPr>
        <p:spPr>
          <a:xfrm>
            <a:off x="10500088" y="2568682"/>
            <a:ext cx="396769" cy="13970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bar-p-comm">
            <a:extLst>
              <a:ext uri="{FF2B5EF4-FFF2-40B4-BE49-F238E27FC236}">
                <a16:creationId xmlns:a16="http://schemas.microsoft.com/office/drawing/2014/main" id="{D097DF97-A9E7-429A-BC7D-DFE9E9324D54}"/>
              </a:ext>
            </a:extLst>
          </p:cNvPr>
          <p:cNvSpPr/>
          <p:nvPr/>
        </p:nvSpPr>
        <p:spPr>
          <a:xfrm>
            <a:off x="10733023" y="2568682"/>
            <a:ext cx="704849" cy="139700"/>
          </a:xfrm>
          <a:prstGeom prst="rect">
            <a:avLst/>
          </a:prstGeom>
          <a:solidFill>
            <a:srgbClr val="E4575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bar-pct-p">
            <a:extLst>
              <a:ext uri="{FF2B5EF4-FFF2-40B4-BE49-F238E27FC236}">
                <a16:creationId xmlns:a16="http://schemas.microsoft.com/office/drawing/2014/main" id="{5241D609-E7AD-4FEF-AF9B-B124ED142787}"/>
              </a:ext>
            </a:extLst>
          </p:cNvPr>
          <p:cNvSpPr txBox="1"/>
          <p:nvPr/>
        </p:nvSpPr>
        <p:spPr>
          <a:xfrm>
            <a:off x="9907058" y="2733782"/>
            <a:ext cx="1605749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50" b="1" noProof="1">
                <a:solidFill>
                  <a:srgbClr val="4C78A8"/>
                </a:solidFill>
                <a:latin typeface="微软雅黑"/>
                <a:ea typeface="微软雅黑"/>
              </a:rPr>
              <a:t>25.5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b="1" noProof="1">
                <a:solidFill>
                  <a:srgbClr val="F2A93B"/>
                </a:solidFill>
                <a:latin typeface="微软雅黑"/>
                <a:ea typeface="微软雅黑"/>
              </a:rPr>
              <a:t>26.8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b="1" noProof="1">
                <a:solidFill>
                  <a:srgbClr val="E45756"/>
                </a:solidFill>
                <a:latin typeface="微软雅黑"/>
                <a:ea typeface="微软雅黑"/>
              </a:rPr>
              <a:t>47.7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%</a:t>
            </a:r>
            <a:endParaRPr lang="en-US" sz="650" b="1" noProof="1"/>
          </a:p>
        </p:txBody>
      </p:sp>
      <p:sp>
        <p:nvSpPr>
          <p:cNvPr id="107" name="bar-d-calc">
            <a:extLst>
              <a:ext uri="{FF2B5EF4-FFF2-40B4-BE49-F238E27FC236}">
                <a16:creationId xmlns:a16="http://schemas.microsoft.com/office/drawing/2014/main" id="{4DDB4282-BDDA-4FA9-9ACF-5E697CB5AB96}"/>
              </a:ext>
            </a:extLst>
          </p:cNvPr>
          <p:cNvSpPr/>
          <p:nvPr/>
        </p:nvSpPr>
        <p:spPr>
          <a:xfrm>
            <a:off x="10184707" y="3140182"/>
            <a:ext cx="689290" cy="139700"/>
          </a:xfrm>
          <a:prstGeom prst="rect">
            <a:avLst/>
          </a:prstGeom>
          <a:solidFill>
            <a:srgbClr val="4C78A8"/>
          </a:solidFill>
          <a:ln w="12700">
            <a:solidFill>
              <a:srgbClr val="FFFFFF"/>
            </a:solidFill>
          </a:ln>
        </p:spPr>
      </p:sp>
      <p:sp>
        <p:nvSpPr>
          <p:cNvPr id="108" name="bar-d-mem">
            <a:extLst>
              <a:ext uri="{FF2B5EF4-FFF2-40B4-BE49-F238E27FC236}">
                <a16:creationId xmlns:a16="http://schemas.microsoft.com/office/drawing/2014/main" id="{2E161EDB-6184-4D95-AF87-C703E6193202}"/>
              </a:ext>
            </a:extLst>
          </p:cNvPr>
          <p:cNvSpPr/>
          <p:nvPr/>
        </p:nvSpPr>
        <p:spPr>
          <a:xfrm>
            <a:off x="10745316" y="3140182"/>
            <a:ext cx="700181" cy="13970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</a:ln>
        </p:spPr>
      </p:sp>
      <p:sp>
        <p:nvSpPr>
          <p:cNvPr id="109" name="bar-d-comm">
            <a:extLst>
              <a:ext uri="{FF2B5EF4-FFF2-40B4-BE49-F238E27FC236}">
                <a16:creationId xmlns:a16="http://schemas.microsoft.com/office/drawing/2014/main" id="{2406551D-9F09-4C1F-A8CC-18A31E0897E3}"/>
              </a:ext>
            </a:extLst>
          </p:cNvPr>
          <p:cNvSpPr/>
          <p:nvPr/>
        </p:nvSpPr>
        <p:spPr>
          <a:xfrm>
            <a:off x="11429197" y="3140182"/>
            <a:ext cx="88690" cy="139700"/>
          </a:xfrm>
          <a:prstGeom prst="rect">
            <a:avLst/>
          </a:prstGeom>
          <a:solidFill>
            <a:srgbClr val="E4575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bar-pct-d">
            <a:extLst>
              <a:ext uri="{FF2B5EF4-FFF2-40B4-BE49-F238E27FC236}">
                <a16:creationId xmlns:a16="http://schemas.microsoft.com/office/drawing/2014/main" id="{579CEB9D-AEBA-4D60-B11F-8C75377F14A3}"/>
              </a:ext>
            </a:extLst>
          </p:cNvPr>
          <p:cNvSpPr txBox="1"/>
          <p:nvPr/>
        </p:nvSpPr>
        <p:spPr>
          <a:xfrm>
            <a:off x="9952778" y="3305282"/>
            <a:ext cx="1605749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50" b="1" noProof="1">
                <a:solidFill>
                  <a:srgbClr val="4C78A8"/>
                </a:solidFill>
                <a:latin typeface="微软雅黑"/>
                <a:ea typeface="微软雅黑"/>
              </a:rPr>
              <a:t>46.6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b="1" noProof="1">
                <a:solidFill>
                  <a:srgbClr val="F2A93B"/>
                </a:solidFill>
                <a:latin typeface="微软雅黑"/>
                <a:ea typeface="微软雅黑"/>
              </a:rPr>
              <a:t>47.4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b="1" noProof="1">
                <a:solidFill>
                  <a:srgbClr val="E45756"/>
                </a:solidFill>
                <a:latin typeface="微软雅黑"/>
                <a:ea typeface="微软雅黑"/>
              </a:rPr>
              <a:t>6.0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%</a:t>
            </a:r>
            <a:endParaRPr lang="en-US" sz="650" b="1" noProof="1"/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2E54D939-A6C2-4FA4-962D-0CA0DCF46521}"/>
              </a:ext>
            </a:extLst>
          </p:cNvPr>
          <p:cNvGrpSpPr/>
          <p:nvPr/>
        </p:nvGrpSpPr>
        <p:grpSpPr>
          <a:xfrm>
            <a:off x="5216597" y="3975100"/>
            <a:ext cx="6737716" cy="2692390"/>
            <a:chOff x="2359219" y="1643545"/>
            <a:chExt cx="4765479" cy="5043177"/>
          </a:xfrm>
        </p:grpSpPr>
        <p:sp>
          <p:nvSpPr>
            <p:cNvPr id="112" name="矩形 127">
              <a:extLst>
                <a:ext uri="{FF2B5EF4-FFF2-40B4-BE49-F238E27FC236}">
                  <a16:creationId xmlns:a16="http://schemas.microsoft.com/office/drawing/2014/main" id="{C269188B-2E32-4F97-8000-4E69D8BF2480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13" name="直接连接符 128">
              <a:extLst>
                <a:ext uri="{FF2B5EF4-FFF2-40B4-BE49-F238E27FC236}">
                  <a16:creationId xmlns:a16="http://schemas.microsoft.com/office/drawing/2014/main" id="{2944B6FF-E827-4113-8BD7-0A7E26040B6E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14" name="直接连接符 129">
              <a:extLst>
                <a:ext uri="{FF2B5EF4-FFF2-40B4-BE49-F238E27FC236}">
                  <a16:creationId xmlns:a16="http://schemas.microsoft.com/office/drawing/2014/main" id="{5695F4FA-6A56-4CA5-8E38-EDA7B913302C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15" name="直接连接符 130">
              <a:extLst>
                <a:ext uri="{FF2B5EF4-FFF2-40B4-BE49-F238E27FC236}">
                  <a16:creationId xmlns:a16="http://schemas.microsoft.com/office/drawing/2014/main" id="{9D3A18CE-DA55-4414-B185-486411D8236A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18" name="直接连接符 131">
              <a:extLst>
                <a:ext uri="{FF2B5EF4-FFF2-40B4-BE49-F238E27FC236}">
                  <a16:creationId xmlns:a16="http://schemas.microsoft.com/office/drawing/2014/main" id="{5EC347F3-159D-4576-9FFC-DAC12C624004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19" name="直接连接符 132">
              <a:extLst>
                <a:ext uri="{FF2B5EF4-FFF2-40B4-BE49-F238E27FC236}">
                  <a16:creationId xmlns:a16="http://schemas.microsoft.com/office/drawing/2014/main" id="{F847332C-D56E-4655-BB7F-0E5DD4E40D42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21" name="直接连接符 133">
              <a:extLst>
                <a:ext uri="{FF2B5EF4-FFF2-40B4-BE49-F238E27FC236}">
                  <a16:creationId xmlns:a16="http://schemas.microsoft.com/office/drawing/2014/main" id="{DA52617C-F47C-4AEF-9991-9675E116D90D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22" name="直接连接符 134">
              <a:extLst>
                <a:ext uri="{FF2B5EF4-FFF2-40B4-BE49-F238E27FC236}">
                  <a16:creationId xmlns:a16="http://schemas.microsoft.com/office/drawing/2014/main" id="{1C4D025D-A457-4FEC-BDF8-0DD4283907C8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23" name="直接连接符 135">
              <a:extLst>
                <a:ext uri="{FF2B5EF4-FFF2-40B4-BE49-F238E27FC236}">
                  <a16:creationId xmlns:a16="http://schemas.microsoft.com/office/drawing/2014/main" id="{05DAF6B9-37A7-40CF-85DE-F9A7C803F707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125" name="文本框 124">
            <a:extLst>
              <a:ext uri="{FF2B5EF4-FFF2-40B4-BE49-F238E27FC236}">
                <a16:creationId xmlns:a16="http://schemas.microsoft.com/office/drawing/2014/main" id="{A5361BA6-984F-4869-9713-F21EA4629CB2}"/>
              </a:ext>
            </a:extLst>
          </p:cNvPr>
          <p:cNvSpPr txBox="1"/>
          <p:nvPr/>
        </p:nvSpPr>
        <p:spPr>
          <a:xfrm>
            <a:off x="5996647" y="3865024"/>
            <a:ext cx="4904153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noProof="1">
                <a:solidFill>
                  <a:srgbClr val="C00000"/>
                </a:solidFill>
                <a:latin typeface="微软雅黑"/>
                <a:ea typeface="微软雅黑"/>
              </a:rPr>
              <a:t>多卡负载分析</a:t>
            </a:r>
            <a:endParaRPr kumimoji="1"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8" name="图片 127">
            <a:extLst>
              <a:ext uri="{FF2B5EF4-FFF2-40B4-BE49-F238E27FC236}">
                <a16:creationId xmlns:a16="http://schemas.microsoft.com/office/drawing/2014/main" id="{BAA9EAB4-0E31-4A14-BEBB-9901588C91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4092" y="5006314"/>
            <a:ext cx="6262974" cy="1488768"/>
          </a:xfrm>
          <a:prstGeom prst="rect">
            <a:avLst/>
          </a:prstGeom>
        </p:spPr>
      </p:pic>
      <p:sp>
        <p:nvSpPr>
          <p:cNvPr id="141" name="文本框 140">
            <a:extLst>
              <a:ext uri="{FF2B5EF4-FFF2-40B4-BE49-F238E27FC236}">
                <a16:creationId xmlns:a16="http://schemas.microsoft.com/office/drawing/2014/main" id="{B5AE5722-7A05-44E9-9C0E-FF0795E47501}"/>
              </a:ext>
            </a:extLst>
          </p:cNvPr>
          <p:cNvSpPr txBox="1"/>
          <p:nvPr/>
        </p:nvSpPr>
        <p:spPr>
          <a:xfrm>
            <a:off x="6115581" y="4308946"/>
            <a:ext cx="5980744" cy="737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阶段：对于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128K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定长输入，在 </a:t>
            </a:r>
            <a:r>
              <a:rPr lang="en-US" altLang="zh-CN" sz="1000" b="1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PP4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部署下，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数减小，整体负载较为均衡</a:t>
            </a:r>
            <a:endParaRPr lang="en-US" altLang="zh-CN" sz="1000" noProof="1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阶段：测试发现 </a:t>
            </a:r>
            <a:r>
              <a:rPr lang="en-US" altLang="zh-CN" sz="1000" b="1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EP128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部署出现负载不均，</a:t>
            </a:r>
            <a:r>
              <a:rPr lang="en-US" altLang="zh-CN" sz="1050" b="1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EP32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，整体负载较为均衡</a:t>
            </a:r>
            <a:endParaRPr lang="en-US" altLang="zh-CN" sz="1000" noProof="1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40B5A57-8AA3-4E62-BA3F-D6F4354DD730}"/>
              </a:ext>
            </a:extLst>
          </p:cNvPr>
          <p:cNvSpPr txBox="1"/>
          <p:nvPr/>
        </p:nvSpPr>
        <p:spPr>
          <a:xfrm>
            <a:off x="5580502" y="4273426"/>
            <a:ext cx="2530292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CA3BFC4-04C2-4F2E-B9C3-66BCAE4CB397}"/>
              </a:ext>
            </a:extLst>
          </p:cNvPr>
          <p:cNvSpPr txBox="1"/>
          <p:nvPr/>
        </p:nvSpPr>
        <p:spPr>
          <a:xfrm>
            <a:off x="5930104" y="1392197"/>
            <a:ext cx="5525353" cy="49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在引入线性注意力后，</a:t>
            </a:r>
            <a:r>
              <a:rPr lang="en-US" altLang="zh-CN" sz="1000" b="1" noProof="1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耗时占比降低，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两阶段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都仅占</a:t>
            </a:r>
            <a:r>
              <a:rPr lang="en-US" altLang="zh-CN" sz="1000" b="1" noProof="1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~20%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00" b="1" noProof="1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成为耗时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主体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两阶段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接近 </a:t>
            </a:r>
            <a:r>
              <a:rPr lang="en-US" altLang="zh-CN" sz="1000" b="1" noProof="1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000" noProof="1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3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组合 317">
            <a:extLst>
              <a:ext uri="{FF2B5EF4-FFF2-40B4-BE49-F238E27FC236}">
                <a16:creationId xmlns:a16="http://schemas.microsoft.com/office/drawing/2014/main" id="{190DD926-055A-4C01-ACFF-D656B227D4CE}"/>
              </a:ext>
            </a:extLst>
          </p:cNvPr>
          <p:cNvGrpSpPr/>
          <p:nvPr/>
        </p:nvGrpSpPr>
        <p:grpSpPr>
          <a:xfrm>
            <a:off x="262529" y="1197212"/>
            <a:ext cx="4357646" cy="5361432"/>
            <a:chOff x="2359219" y="1643545"/>
            <a:chExt cx="4765479" cy="5043177"/>
          </a:xfrm>
        </p:grpSpPr>
        <p:sp>
          <p:nvSpPr>
            <p:cNvPr id="319" name="矩形 127">
              <a:extLst>
                <a:ext uri="{FF2B5EF4-FFF2-40B4-BE49-F238E27FC236}">
                  <a16:creationId xmlns:a16="http://schemas.microsoft.com/office/drawing/2014/main" id="{2F3EDAD2-D0A5-4A8A-AF1D-A8EEBAD275E6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320" name="直接连接符 128">
              <a:extLst>
                <a:ext uri="{FF2B5EF4-FFF2-40B4-BE49-F238E27FC236}">
                  <a16:creationId xmlns:a16="http://schemas.microsoft.com/office/drawing/2014/main" id="{7DC7112F-1717-4A86-9E5A-44120A143D28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1" name="直接连接符 129">
              <a:extLst>
                <a:ext uri="{FF2B5EF4-FFF2-40B4-BE49-F238E27FC236}">
                  <a16:creationId xmlns:a16="http://schemas.microsoft.com/office/drawing/2014/main" id="{56EB34C5-CD1C-44F6-9686-1657529DC43D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2" name="直接连接符 130">
              <a:extLst>
                <a:ext uri="{FF2B5EF4-FFF2-40B4-BE49-F238E27FC236}">
                  <a16:creationId xmlns:a16="http://schemas.microsoft.com/office/drawing/2014/main" id="{90144451-06E3-41A0-BA72-85173B815D78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3" name="直接连接符 131">
              <a:extLst>
                <a:ext uri="{FF2B5EF4-FFF2-40B4-BE49-F238E27FC236}">
                  <a16:creationId xmlns:a16="http://schemas.microsoft.com/office/drawing/2014/main" id="{CCDBBDB5-6E13-4555-916B-45BA18213275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4" name="直接连接符 132">
              <a:extLst>
                <a:ext uri="{FF2B5EF4-FFF2-40B4-BE49-F238E27FC236}">
                  <a16:creationId xmlns:a16="http://schemas.microsoft.com/office/drawing/2014/main" id="{CC398C22-5201-4525-86D4-7BA38E7D5B88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5" name="直接连接符 133">
              <a:extLst>
                <a:ext uri="{FF2B5EF4-FFF2-40B4-BE49-F238E27FC236}">
                  <a16:creationId xmlns:a16="http://schemas.microsoft.com/office/drawing/2014/main" id="{0946C49C-4CB9-45A4-9E6F-2AB54F613247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6" name="直接连接符 134">
              <a:extLst>
                <a:ext uri="{FF2B5EF4-FFF2-40B4-BE49-F238E27FC236}">
                  <a16:creationId xmlns:a16="http://schemas.microsoft.com/office/drawing/2014/main" id="{0F7365A3-6268-4D00-8FF5-20DD24158C9C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7" name="直接连接符 135">
              <a:extLst>
                <a:ext uri="{FF2B5EF4-FFF2-40B4-BE49-F238E27FC236}">
                  <a16:creationId xmlns:a16="http://schemas.microsoft.com/office/drawing/2014/main" id="{506FF6BF-6E40-4ACF-B34F-63D63A476FD3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B25BEEFE-ACE7-4749-86B1-D4BFC192D41D}"/>
              </a:ext>
            </a:extLst>
          </p:cNvPr>
          <p:cNvGrpSpPr/>
          <p:nvPr/>
        </p:nvGrpSpPr>
        <p:grpSpPr>
          <a:xfrm>
            <a:off x="4754880" y="1197212"/>
            <a:ext cx="7173120" cy="5370001"/>
            <a:chOff x="2359219" y="1643545"/>
            <a:chExt cx="4765479" cy="5043177"/>
          </a:xfrm>
        </p:grpSpPr>
        <p:sp>
          <p:nvSpPr>
            <p:cNvPr id="290" name="矩形 127">
              <a:extLst>
                <a:ext uri="{FF2B5EF4-FFF2-40B4-BE49-F238E27FC236}">
                  <a16:creationId xmlns:a16="http://schemas.microsoft.com/office/drawing/2014/main" id="{73501B13-BC7B-4FB4-B9F9-39AEDD1621EA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291" name="直接连接符 128">
              <a:extLst>
                <a:ext uri="{FF2B5EF4-FFF2-40B4-BE49-F238E27FC236}">
                  <a16:creationId xmlns:a16="http://schemas.microsoft.com/office/drawing/2014/main" id="{085A30EB-CCEB-4075-9C96-75819C52F686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2" name="直接连接符 129">
              <a:extLst>
                <a:ext uri="{FF2B5EF4-FFF2-40B4-BE49-F238E27FC236}">
                  <a16:creationId xmlns:a16="http://schemas.microsoft.com/office/drawing/2014/main" id="{1B1275A8-1409-4A7F-AD0A-9E2DE191C4F8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3" name="直接连接符 130">
              <a:extLst>
                <a:ext uri="{FF2B5EF4-FFF2-40B4-BE49-F238E27FC236}">
                  <a16:creationId xmlns:a16="http://schemas.microsoft.com/office/drawing/2014/main" id="{0085E02A-18C3-4268-9692-CF3A6A4EBDF4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4" name="直接连接符 131">
              <a:extLst>
                <a:ext uri="{FF2B5EF4-FFF2-40B4-BE49-F238E27FC236}">
                  <a16:creationId xmlns:a16="http://schemas.microsoft.com/office/drawing/2014/main" id="{E41EC8AB-3391-46FC-B6C2-7330D72DA0FE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5" name="直接连接符 132">
              <a:extLst>
                <a:ext uri="{FF2B5EF4-FFF2-40B4-BE49-F238E27FC236}">
                  <a16:creationId xmlns:a16="http://schemas.microsoft.com/office/drawing/2014/main" id="{FB0374A5-A0FE-4778-BABD-30E9BE35CE23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6" name="直接连接符 133">
              <a:extLst>
                <a:ext uri="{FF2B5EF4-FFF2-40B4-BE49-F238E27FC236}">
                  <a16:creationId xmlns:a16="http://schemas.microsoft.com/office/drawing/2014/main" id="{88C794AF-2C4D-45EE-832B-A8AC1B7EA3CE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7" name="直接连接符 134">
              <a:extLst>
                <a:ext uri="{FF2B5EF4-FFF2-40B4-BE49-F238E27FC236}">
                  <a16:creationId xmlns:a16="http://schemas.microsoft.com/office/drawing/2014/main" id="{7B9AE284-506C-4B2A-BE41-913DF36055B7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8" name="直接连接符 135">
              <a:extLst>
                <a:ext uri="{FF2B5EF4-FFF2-40B4-BE49-F238E27FC236}">
                  <a16:creationId xmlns:a16="http://schemas.microsoft.com/office/drawing/2014/main" id="{8CA1D751-2C3B-4C77-A2A3-1658439F1EF5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80" name="标题 1">
            <a:extLst>
              <a:ext uri="{FF2B5EF4-FFF2-40B4-BE49-F238E27FC236}">
                <a16:creationId xmlns:a16="http://schemas.microsoft.com/office/drawing/2014/main" id="{4FA8E6CE-540B-41A0-B921-FBFD267B2A0C}"/>
              </a:ext>
            </a:extLst>
          </p:cNvPr>
          <p:cNvSpPr txBox="1"/>
          <p:nvPr/>
        </p:nvSpPr>
        <p:spPr bwMode="auto">
          <a:xfrm>
            <a:off x="67966" y="80642"/>
            <a:ext cx="12056068" cy="55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008" tIns="39004" rIns="78008" bIns="39004" numCol="1" anchor="ctr" anchorCtr="0" compatLnSpc="1"/>
          <a:lstStyle>
            <a:lvl1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45593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91186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136842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182435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1185706" eaLnBrk="1" fontAlgn="auto" hangingPunct="1">
              <a:lnSpc>
                <a:spcPts val="342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lang="zh-CN" altLang="en-US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投机推理：</a:t>
            </a:r>
            <a:r>
              <a:rPr lang="en-US" altLang="zh-CN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KDA Decoding </a:t>
            </a:r>
            <a:r>
              <a:rPr lang="zh-CN" altLang="en-US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通过重计算，大幅节省</a:t>
            </a:r>
            <a:r>
              <a:rPr lang="en-US" altLang="zh-CN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endParaRPr lang="zh-CN" altLang="en-US" sz="1999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FE98DED3-C0C9-4A97-B0A3-EE3B55230EEE}"/>
              </a:ext>
            </a:extLst>
          </p:cNvPr>
          <p:cNvSpPr txBox="1"/>
          <p:nvPr/>
        </p:nvSpPr>
        <p:spPr>
          <a:xfrm>
            <a:off x="900616" y="1106640"/>
            <a:ext cx="3029027" cy="27689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 </a:t>
            </a: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 </a:t>
            </a: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A284DE64-C4E8-436B-B237-6309BFD759BA}"/>
              </a:ext>
            </a:extLst>
          </p:cNvPr>
          <p:cNvSpPr txBox="1"/>
          <p:nvPr/>
        </p:nvSpPr>
        <p:spPr>
          <a:xfrm>
            <a:off x="6420666" y="1045403"/>
            <a:ext cx="4002854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 </a:t>
            </a: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KDA 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回滚方案</a:t>
            </a: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8F7E9349-C10A-43E6-A53E-52619AF91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91850"/>
              </p:ext>
            </p:extLst>
          </p:nvPr>
        </p:nvGraphicFramePr>
        <p:xfrm>
          <a:off x="651940" y="4593298"/>
          <a:ext cx="3574201" cy="1714597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872935">
                  <a:extLst>
                    <a:ext uri="{9D8B030D-6E8A-4147-A177-3AD203B41FA5}">
                      <a16:colId xmlns:a16="http://schemas.microsoft.com/office/drawing/2014/main" val="303149072"/>
                    </a:ext>
                  </a:extLst>
                </a:gridCol>
                <a:gridCol w="900422">
                  <a:extLst>
                    <a:ext uri="{9D8B030D-6E8A-4147-A177-3AD203B41FA5}">
                      <a16:colId xmlns:a16="http://schemas.microsoft.com/office/drawing/2014/main" val="2416039323"/>
                    </a:ext>
                  </a:extLst>
                </a:gridCol>
                <a:gridCol w="900422">
                  <a:extLst>
                    <a:ext uri="{9D8B030D-6E8A-4147-A177-3AD203B41FA5}">
                      <a16:colId xmlns:a16="http://schemas.microsoft.com/office/drawing/2014/main" val="1476422933"/>
                    </a:ext>
                  </a:extLst>
                </a:gridCol>
                <a:gridCol w="900422">
                  <a:extLst>
                    <a:ext uri="{9D8B030D-6E8A-4147-A177-3AD203B41FA5}">
                      <a16:colId xmlns:a16="http://schemas.microsoft.com/office/drawing/2014/main" val="3755375723"/>
                    </a:ext>
                  </a:extLst>
                </a:gridCol>
              </a:tblGrid>
              <a:tr h="3734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分类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全量缓存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重计算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实际空间占比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086143"/>
                  </a:ext>
                </a:extLst>
              </a:tr>
              <a:tr h="3734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草稿 </a:t>
                      </a:r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MLA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kern="12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302126"/>
                  </a:ext>
                </a:extLst>
              </a:tr>
              <a:tr h="2561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主模型 </a:t>
                      </a:r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MLA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710607"/>
                  </a:ext>
                </a:extLst>
              </a:tr>
              <a:tr h="4155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主模型 </a:t>
                      </a:r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KDA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603550"/>
                  </a:ext>
                </a:extLst>
              </a:tr>
              <a:tr h="2960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合计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560783"/>
                  </a:ext>
                </a:extLst>
              </a:tr>
            </a:tbl>
          </a:graphicData>
        </a:graphic>
      </p:graphicFrame>
      <p:sp>
        <p:nvSpPr>
          <p:cNvPr id="307" name="矩形 306">
            <a:extLst>
              <a:ext uri="{FF2B5EF4-FFF2-40B4-BE49-F238E27FC236}">
                <a16:creationId xmlns:a16="http://schemas.microsoft.com/office/drawing/2014/main" id="{9ACFBEFC-D4B7-4D24-97CB-0F88DB94B29F}"/>
              </a:ext>
            </a:extLst>
          </p:cNvPr>
          <p:cNvSpPr/>
          <p:nvPr/>
        </p:nvSpPr>
        <p:spPr>
          <a:xfrm>
            <a:off x="206167" y="599377"/>
            <a:ext cx="809292" cy="425186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9" tIns="35949" rIns="35949" bIns="35949" numCol="1" anchor="ctr">
            <a:noAutofit/>
          </a:bodyPr>
          <a:lstStyle/>
          <a:p>
            <a:pPr algn="ctr" defTabSz="1718257">
              <a:defRPr/>
            </a:pPr>
            <a:r>
              <a:rPr lang="zh-CN" altLang="en-US" sz="1599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en-US" altLang="zh-CN" sz="1599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3EE9DFE0-0180-4ACA-A7BD-2DCB70CC6411}"/>
              </a:ext>
            </a:extLst>
          </p:cNvPr>
          <p:cNvSpPr/>
          <p:nvPr/>
        </p:nvSpPr>
        <p:spPr>
          <a:xfrm>
            <a:off x="1015459" y="592972"/>
            <a:ext cx="10946129" cy="41075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3399">
              <a:lnSpc>
                <a:spcPct val="130000"/>
              </a:lnSpc>
              <a:defRPr/>
            </a:pP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对于混合线性模型的投机推理，拒绝采样后通过重计算恢复线性层 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State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，减少 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 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冗余缓存，显著降低显存压力</a:t>
            </a:r>
            <a:endParaRPr lang="en-US" altLang="zh-CN" sz="1399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BFDC104D-4657-401A-B8E8-2CC2505BB51A}"/>
              </a:ext>
            </a:extLst>
          </p:cNvPr>
          <p:cNvSpPr txBox="1"/>
          <p:nvPr/>
        </p:nvSpPr>
        <p:spPr>
          <a:xfrm>
            <a:off x="285236" y="1507545"/>
            <a:ext cx="4155700" cy="2604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投机推理，显存占用 </a:t>
            </a:r>
            <a:r>
              <a:rPr lang="en-US" altLang="zh-CN" sz="1000" b="1" dirty="0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442MB/token</a:t>
            </a:r>
          </a:p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造成该现状的主要原因是：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28600" defTabSz="914034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拒绝采样后，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KDA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State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需要回滚到 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位置，但在主模型验证后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Recurrent State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已更新到最后一个草稿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</a:p>
          <a:p>
            <a:pPr marL="540000" lvl="1" indent="-228600" defTabSz="914034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为恢复正确的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KDA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状态，当前 </a:t>
            </a:r>
            <a:r>
              <a:rPr lang="en-US" altLang="zh-CN" sz="1000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-ascend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，需要缓存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所有草稿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State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；在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步投机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BS32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场景下，需要额外 </a:t>
            </a:r>
            <a:r>
              <a:rPr lang="en-US" altLang="zh-CN" sz="1000" b="1" dirty="0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18.8 GB</a:t>
            </a:r>
            <a:r>
              <a:rPr lang="en-US" altLang="zh-CN" sz="1000" dirty="0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显存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技术报告中，提出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KDA Decoding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重计算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，重建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State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，避免全量缓存；</a:t>
            </a:r>
            <a:r>
              <a:rPr lang="en-US" altLang="zh-CN" sz="1000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000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-ascend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已提出类似方案，理论分析可降低 </a:t>
            </a:r>
            <a:r>
              <a:rPr lang="en-US" altLang="zh-CN" sz="1000" b="1" dirty="0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冗余缓存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22FD27F3-94B8-48EA-9F36-03B1C782D3C8}"/>
              </a:ext>
            </a:extLst>
          </p:cNvPr>
          <p:cNvSpPr txBox="1"/>
          <p:nvPr/>
        </p:nvSpPr>
        <p:spPr>
          <a:xfrm>
            <a:off x="287071" y="1242259"/>
            <a:ext cx="764080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15967011-B4AB-427F-BB80-09CBF941734F}"/>
              </a:ext>
            </a:extLst>
          </p:cNvPr>
          <p:cNvSpPr txBox="1"/>
          <p:nvPr/>
        </p:nvSpPr>
        <p:spPr>
          <a:xfrm>
            <a:off x="2023950" y="4209200"/>
            <a:ext cx="1036559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显存占用表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E73D52D7-068B-49E2-BA2D-93A1E192CEFE}"/>
              </a:ext>
            </a:extLst>
          </p:cNvPr>
          <p:cNvGrpSpPr/>
          <p:nvPr/>
        </p:nvGrpSpPr>
        <p:grpSpPr>
          <a:xfrm>
            <a:off x="9784326" y="-5978"/>
            <a:ext cx="2401200" cy="171354"/>
            <a:chOff x="9788148" y="-7320"/>
            <a:chExt cx="2402138" cy="171421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F69EC01-6455-48A7-A2E2-FF423C3340B6}"/>
                </a:ext>
              </a:extLst>
            </p:cNvPr>
            <p:cNvSpPr/>
            <p:nvPr/>
          </p:nvSpPr>
          <p:spPr bwMode="auto">
            <a:xfrm>
              <a:off x="11387668" y="-7320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EB313F5C-E160-477D-826B-D529D7DCB149}"/>
                </a:ext>
              </a:extLst>
            </p:cNvPr>
            <p:cNvSpPr/>
            <p:nvPr/>
          </p:nvSpPr>
          <p:spPr bwMode="auto">
            <a:xfrm>
              <a:off x="10595890" y="-7320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训练方案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38B82EB6-BFD5-4647-BB62-D56565F1879B}"/>
                </a:ext>
              </a:extLst>
            </p:cNvPr>
            <p:cNvSpPr/>
            <p:nvPr/>
          </p:nvSpPr>
          <p:spPr bwMode="auto">
            <a:xfrm>
              <a:off x="11401032" y="-2793"/>
              <a:ext cx="785036" cy="158806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昇腾适配</a:t>
              </a:r>
              <a:endParaRPr lang="en-US" altLang="zh-CN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9DB8C4C0-A3CA-4E15-A324-FD3BD5224ECC}"/>
                </a:ext>
              </a:extLst>
            </p:cNvPr>
            <p:cNvSpPr/>
            <p:nvPr/>
          </p:nvSpPr>
          <p:spPr bwMode="auto">
            <a:xfrm>
              <a:off x="9788148" y="-7031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模型结构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5E6B4290-8D16-4497-8D08-07AB5F4D2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203" y="1478497"/>
            <a:ext cx="4926385" cy="4866440"/>
          </a:xfrm>
          <a:prstGeom prst="rect">
            <a:avLst/>
          </a:prstGeom>
        </p:spPr>
      </p:pic>
      <p:sp>
        <p:nvSpPr>
          <p:cNvPr id="164" name="文本框 163">
            <a:extLst>
              <a:ext uri="{FF2B5EF4-FFF2-40B4-BE49-F238E27FC236}">
                <a16:creationId xmlns:a16="http://schemas.microsoft.com/office/drawing/2014/main" id="{81032A33-0537-4C37-8840-FE1A669BB1C8}"/>
              </a:ext>
            </a:extLst>
          </p:cNvPr>
          <p:cNvSpPr txBox="1"/>
          <p:nvPr/>
        </p:nvSpPr>
        <p:spPr>
          <a:xfrm>
            <a:off x="4855102" y="1588405"/>
            <a:ext cx="2264919" cy="757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技术报告方案：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en-US" altLang="zh-CN" sz="1000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-ascend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当前方案：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en-US" altLang="zh-CN" sz="1000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-ascend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方案演进：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606C98D6-6F22-46BA-B392-05728507A584}"/>
              </a:ext>
            </a:extLst>
          </p:cNvPr>
          <p:cNvSpPr txBox="1"/>
          <p:nvPr/>
        </p:nvSpPr>
        <p:spPr>
          <a:xfrm>
            <a:off x="4940411" y="1325470"/>
            <a:ext cx="764080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4299056"/>
      </p:ext>
    </p:extLst>
  </p:cSld>
  <p:clrMapOvr>
    <a:masterClrMapping/>
  </p:clrMapOvr>
</p:sld>
</file>

<file path=ppt/theme/theme1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588</Words>
  <Application>Microsoft Office PowerPoint</Application>
  <PresentationFormat>宽屏</PresentationFormat>
  <Paragraphs>87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.AppleSystemUIFont</vt:lpstr>
      <vt:lpstr>等线</vt:lpstr>
      <vt:lpstr>等线 Light</vt:lpstr>
      <vt:lpstr>微软雅黑</vt:lpstr>
      <vt:lpstr>Arial</vt:lpstr>
      <vt:lpstr>Calibri</vt:lpstr>
      <vt:lpstr>Calibri Light</vt:lpstr>
      <vt:lpstr>4_章节页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kimi_k3_infer_insight</dc:title>
  <cp:lastModifiedBy>tongyuzhou</cp:lastModifiedBy>
  <cp:revision>118</cp:revision>
  <dcterms:modified xsi:type="dcterms:W3CDTF">2026-10-20T15:42:32Z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