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-note"/>
          <p:cNvSpPr txBox="1"/>
          <p:nvPr/>
        </p:nvSpPr>
        <p:spPr>
          <a:xfrm>
            <a:off x="4826000" y="177800"/>
            <a:ext cx="690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资料来源：kimi_k3_kernel_analysis.md（7 个高性能算子源码分析）；REPORT_综合分析报告.md（4 份 profiling，2026-10-14/15）</a:t>
            </a:r>
            <a:endParaRPr lang="en-US" sz="800" noProof="1"/>
          </a:p>
        </p:txBody>
      </p:sp>
      <p:sp>
        <p:nvSpPr>
          <p:cNvPr id="3" name="title"/>
          <p:cNvSpPr txBox="1"/>
          <p:nvPr/>
        </p:nvSpPr>
        <p:spPr>
          <a:xfrm>
            <a:off x="558800" y="228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C00000"/>
                </a:solidFill>
                <a:latin typeface="微软雅黑"/>
                <a:ea typeface="微软雅黑"/>
              </a:rPr>
              <a:t>Kimi K3 推理高性能算子技术洞察：融合 × 分段量化 × 双阶段分解</a:t>
            </a:r>
            <a:endParaRPr lang="en-US" sz="1800" noProof="1"/>
          </a:p>
        </p:txBody>
      </p:sp>
      <p:sp>
        <p:nvSpPr>
          <p:cNvPr id="4" name="concl-label-bg"/>
          <p:cNvSpPr/>
          <p:nvPr/>
        </p:nvSpPr>
        <p:spPr>
          <a:xfrm>
            <a:off x="558800" y="711200"/>
            <a:ext cx="1117600" cy="14732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concl-label"/>
          <p:cNvSpPr txBox="1"/>
          <p:nvPr/>
        </p:nvSpPr>
        <p:spPr>
          <a:xfrm>
            <a:off x="558800" y="711200"/>
            <a:ext cx="1117600" cy="147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分析</a:t>
            </a:r>
            <a:endParaRPr lang="en-US" sz="1400" noProof="1"/>
          </a:p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结论</a:t>
            </a:r>
            <a:endParaRPr lang="en-US" sz="1400" noProof="1"/>
          </a:p>
        </p:txBody>
      </p:sp>
      <p:sp>
        <p:nvSpPr>
          <p:cNvPr id="6" name="concl-body-bg"/>
          <p:cNvSpPr/>
          <p:nvPr/>
        </p:nvSpPr>
        <p:spPr>
          <a:xfrm>
            <a:off x="1778000" y="711200"/>
            <a:ext cx="9956800" cy="147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" name="concl-bullets"/>
          <p:cNvSpPr txBox="1"/>
          <p:nvPr/>
        </p:nvSpPr>
        <p:spPr>
          <a:xfrm>
            <a:off x="1955800" y="774700"/>
            <a:ext cx="9601200" cy="1346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体系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：三条算子链支撑 </a:t>
            </a:r>
            <a:r>
              <a:rPr lang="en-US" sz="900" noProof="1" b="1">
                <a:solidFill>
                  <a:srgbClr val="C00000"/>
                </a:solidFill>
                <a:latin typeface="微软雅黑"/>
                <a:ea typeface="微软雅黑"/>
              </a:rPr>
              <a:t>93 层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混合架构（69 KDA + 24 MLA + 92 MoE），统一两段式接口与 Cube/Vector 异构流水</a:t>
            </a:r>
            <a:endParaRPr lang="en-US" sz="900" noProof="1"/>
          </a:p>
          <a:p>
            <a:pPr algn="l">
              <a:lnSpc>
                <a:spcPct val="140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瓶颈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：Decode 访存占 </a:t>
            </a:r>
            <a:r>
              <a:rPr lang="en-US" sz="900" noProof="1" b="1">
                <a:solidFill>
                  <a:srgbClr val="C00000"/>
                </a:solidFill>
                <a:latin typeface="微软雅黑"/>
                <a:ea typeface="微软雅黑"/>
              </a:rPr>
              <a:t>53.4%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、通信 </a:t>
            </a:r>
            <a:r>
              <a:rPr lang="en-US" sz="900" noProof="1" b="1">
                <a:solidFill>
                  <a:srgbClr val="C00000"/>
                </a:solidFill>
                <a:latin typeface="微软雅黑"/>
                <a:ea typeface="微软雅黑"/>
              </a:rPr>
              <a:t>14.5%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；MoE 组矩阵乘 Cube 利用率仅 53% —— 算力不是瓶颈，访存与通信才是</a:t>
            </a:r>
            <a:endParaRPr lang="en-US" sz="900" noProof="1"/>
          </a:p>
          <a:p>
            <a:pPr algn="l">
              <a:lnSpc>
                <a:spcPct val="140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融合收益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：MoE 每层专家核 4 减至 3；AttnRes 原生融合提速 </a:t>
            </a:r>
            <a:r>
              <a:rPr lang="en-US" sz="900" noProof="1" b="1">
                <a:solidFill>
                  <a:srgbClr val="C00000"/>
                </a:solidFill>
                <a:latin typeface="微软雅黑"/>
                <a:ea typeface="微软雅黑"/>
              </a:rPr>
              <a:t>38%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；批量 ×4 迭代仅 +9.8%，吞吐 </a:t>
            </a:r>
            <a:r>
              <a:rPr lang="en-US" sz="900" noProof="1" b="1">
                <a:solidFill>
                  <a:srgbClr val="C00000"/>
                </a:solidFill>
                <a:latin typeface="微软雅黑"/>
                <a:ea typeface="微软雅黑"/>
              </a:rPr>
              <a:t>≈3.6×</a:t>
            </a:r>
            <a:endParaRPr lang="en-US" sz="900" noProof="1"/>
          </a:p>
          <a:p>
            <a:pPr algn="l">
              <a:lnSpc>
                <a:spcPct val="140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微软雅黑"/>
                <a:ea typeface="微软雅黑"/>
              </a:rPr>
              <a:t>主攻方向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：FlashMla scalar 占 </a:t>
            </a:r>
            <a:r>
              <a:rPr lang="en-US" sz="900" noProof="1" b="1">
                <a:solidFill>
                  <a:srgbClr val="C00000"/>
                </a:solidFill>
                <a:latin typeface="微软雅黑"/>
                <a:ea typeface="微软雅黑"/>
              </a:rPr>
              <a:t>28.8%</a:t>
            </a:r>
            <a:r>
              <a:rPr lang="en-US" sz="900" noProof="1">
                <a:solidFill>
                  <a:srgbClr val="262626"/>
                </a:solidFill>
                <a:latin typeface="微软雅黑"/>
                <a:ea typeface="微软雅黑"/>
              </a:rPr>
              <a:t>（KV 分页非连续）；通信占比随规模由 14.5% 升至 15.5%，为第一优化优先级</a:t>
            </a:r>
            <a:endParaRPr lang="en-US" sz="900" noProof="1"/>
          </a:p>
        </p:txBody>
      </p:sp>
      <p:sp>
        <p:nvSpPr>
          <p:cNvPr id="8" name="chain-label"/>
          <p:cNvSpPr txBox="1"/>
          <p:nvPr/>
        </p:nvSpPr>
        <p:spPr>
          <a:xfrm>
            <a:off x="558800" y="2336800"/>
            <a:ext cx="3302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算子执行链与三大融合点（A5）</a:t>
            </a:r>
            <a:endParaRPr lang="en-US" sz="1200" noProof="1"/>
          </a:p>
        </p:txBody>
      </p:sp>
      <p:sp>
        <p:nvSpPr>
          <p:cNvPr id="9" name="legend-box"/>
          <p:cNvSpPr/>
          <p:nvPr/>
        </p:nvSpPr>
        <p:spPr>
          <a:xfrm>
            <a:off x="4013200" y="2374900"/>
            <a:ext cx="127000" cy="12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dash"/>
          </a:ln>
        </p:spPr>
      </p:sp>
      <p:sp>
        <p:nvSpPr>
          <p:cNvPr id="10" name="legend-text"/>
          <p:cNvSpPr txBox="1"/>
          <p:nvPr/>
        </p:nvSpPr>
        <p:spPr>
          <a:xfrm>
            <a:off x="4191000" y="2336800"/>
            <a:ext cx="1701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红虚线 = A5 融合点</a:t>
            </a:r>
            <a:endParaRPr lang="en-US" sz="800" noProof="1"/>
          </a:p>
        </p:txBody>
      </p:sp>
      <p:sp>
        <p:nvSpPr>
          <p:cNvPr id="11" name="moe-label"/>
          <p:cNvSpPr txBox="1"/>
          <p:nvPr/>
        </p:nvSpPr>
        <p:spPr>
          <a:xfrm>
            <a:off x="558800" y="2743200"/>
            <a:ext cx="711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 b="1">
                <a:solidFill>
                  <a:srgbClr val="000000"/>
                </a:solidFill>
                <a:latin typeface="黑体"/>
                <a:ea typeface="黑体"/>
              </a:rPr>
              <a:t>MoE ×92</a:t>
            </a:r>
            <a:endParaRPr lang="en-US" sz="700" noProof="1"/>
          </a:p>
        </p:txBody>
      </p:sp>
      <p:sp>
        <p:nvSpPr>
          <p:cNvPr id="12" name="moe-b1"/>
          <p:cNvSpPr/>
          <p:nvPr/>
        </p:nvSpPr>
        <p:spPr>
          <a:xfrm>
            <a:off x="1320800" y="2692400"/>
            <a:ext cx="990600" cy="203200"/>
          </a:xfrm>
          <a:prstGeom prst="roundRect">
            <a:avLst/>
          </a:prstGeom>
          <a:solidFill>
            <a:srgbClr val="F6D2CE"/>
          </a:solidFill>
          <a:ln w="6350">
            <a:solidFill>
              <a:srgbClr val="1B1B1E"/>
            </a:solidFill>
          </a:ln>
        </p:spPr>
      </p:sp>
      <p:sp>
        <p:nvSpPr>
          <p:cNvPr id="13" name="moe-t1"/>
          <p:cNvSpPr txBox="1"/>
          <p:nvPr/>
        </p:nvSpPr>
        <p:spPr>
          <a:xfrm>
            <a:off x="1320800" y="2692400"/>
            <a:ext cx="990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450" noProof="1">
                <a:solidFill>
                  <a:srgbClr val="000000"/>
                </a:solidFill>
                <a:latin typeface="Times New Roman"/>
                <a:ea typeface="Times New Roman"/>
              </a:rPr>
              <a:t>SituMxQuant</a:t>
            </a:r>
            <a:endParaRPr lang="en-US" sz="450" noProof="1"/>
          </a:p>
        </p:txBody>
      </p:sp>
      <p:sp>
        <p:nvSpPr>
          <p:cNvPr id="14" name="moe-plus"/>
          <p:cNvSpPr txBox="1"/>
          <p:nvPr/>
        </p:nvSpPr>
        <p:spPr>
          <a:xfrm>
            <a:off x="2336800" y="2692400"/>
            <a:ext cx="152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 b="1">
                <a:solidFill>
                  <a:srgbClr val="000000"/>
                </a:solidFill>
                <a:latin typeface="黑体"/>
                <a:ea typeface="黑体"/>
              </a:rPr>
              <a:t>+</a:t>
            </a:r>
            <a:endParaRPr lang="en-US" sz="700" noProof="1"/>
          </a:p>
        </p:txBody>
      </p:sp>
      <p:sp>
        <p:nvSpPr>
          <p:cNvPr id="15" name="moe-b2"/>
          <p:cNvSpPr/>
          <p:nvPr/>
        </p:nvSpPr>
        <p:spPr>
          <a:xfrm>
            <a:off x="2514600" y="2692400"/>
            <a:ext cx="1473200" cy="203200"/>
          </a:xfrm>
          <a:prstGeom prst="roundRect">
            <a:avLst/>
          </a:prstGeom>
          <a:solidFill>
            <a:srgbClr val="F6D2CE"/>
          </a:solidFill>
          <a:ln w="6350">
            <a:solidFill>
              <a:srgbClr val="1B1B1E"/>
            </a:solidFill>
          </a:ln>
        </p:spPr>
      </p:sp>
      <p:sp>
        <p:nvSpPr>
          <p:cNvPr id="16" name="moe-t2"/>
          <p:cNvSpPr txBox="1"/>
          <p:nvPr/>
        </p:nvSpPr>
        <p:spPr>
          <a:xfrm>
            <a:off x="2514600" y="2692400"/>
            <a:ext cx="1473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450" noProof="1">
                <a:solidFill>
                  <a:srgbClr val="000000"/>
                </a:solidFill>
                <a:latin typeface="Times New Roman"/>
                <a:ea typeface="Times New Roman"/>
              </a:rPr>
              <a:t>GroupedMatmulWeightNz</a:t>
            </a:r>
            <a:endParaRPr lang="en-US" sz="450" noProof="1"/>
          </a:p>
        </p:txBody>
      </p:sp>
      <p:sp>
        <p:nvSpPr>
          <p:cNvPr id="17" name="moe-a1"/>
          <p:cNvSpPr/>
          <p:nvPr>
            <p:extLst>
              <p:ext uri="{F5677B7D-0D2A-4D9B-9A5C-6D8D7D0E5A5D}">
                <pptd:line encoding="base64url">eyJ2aWV3Qm94IjpbMTYsNF0sInBvaW50cyI6IjEsMiAxNSwyIiwiY3VydmUiOiJzaGFycCJ9</pptd:line>
              </p:ext>
            </p:extLst>
          </p:nvPr>
        </p:nvSpPr>
        <p:spPr>
          <a:xfrm>
            <a:off x="4013200" y="2768600"/>
            <a:ext cx="203200" cy="50800"/>
          </a:xfrm>
          <a:custGeom>
            <a:avLst/>
            <a:gdLst/>
            <a:ahLst/>
            <a:cxnLst/>
            <a:rect l="l" t="t" r="r" b="b"/>
            <a:pathLst>
              <a:path w="16" h="4">
                <a:moveTo>
                  <a:pt x="1" y="2"/>
                </a:moveTo>
                <a:lnTo>
                  <a:pt x="15" y="2"/>
                </a:lnTo>
              </a:path>
            </a:pathLst>
          </a:custGeom>
          <a:noFill/>
          <a:ln w="9525">
            <a:solidFill>
              <a:srgbClr val="1B1B1E"/>
            </a:solidFill>
            <a:tailEnd type="arrow"/>
          </a:ln>
        </p:spPr>
      </p:sp>
      <p:sp>
        <p:nvSpPr>
          <p:cNvPr id="18" name="moe-b3"/>
          <p:cNvSpPr/>
          <p:nvPr/>
        </p:nvSpPr>
        <p:spPr>
          <a:xfrm>
            <a:off x="4241800" y="2692400"/>
            <a:ext cx="1498600" cy="203200"/>
          </a:xfrm>
          <a:prstGeom prst="roundRect">
            <a:avLst/>
          </a:prstGeom>
          <a:solidFill>
            <a:srgbClr val="C8DCF4"/>
          </a:solidFill>
          <a:ln w="6350">
            <a:solidFill>
              <a:srgbClr val="1B1B1E"/>
            </a:solidFill>
          </a:ln>
        </p:spPr>
      </p:sp>
      <p:sp>
        <p:nvSpPr>
          <p:cNvPr id="19" name="moe-t3"/>
          <p:cNvSpPr txBox="1"/>
          <p:nvPr/>
        </p:nvSpPr>
        <p:spPr>
          <a:xfrm>
            <a:off x="4241800" y="2692400"/>
            <a:ext cx="1498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450" noProof="1">
                <a:solidFill>
                  <a:srgbClr val="000000"/>
                </a:solidFill>
                <a:latin typeface="Times New Roman"/>
                <a:ea typeface="Times New Roman"/>
              </a:rPr>
              <a:t>GroupedMatmulSituQuant</a:t>
            </a:r>
            <a:endParaRPr lang="en-US" sz="450" noProof="1"/>
          </a:p>
        </p:txBody>
      </p:sp>
      <p:sp>
        <p:nvSpPr>
          <p:cNvPr id="20" name="moe-fusion-box"/>
          <p:cNvSpPr/>
          <p:nvPr/>
        </p:nvSpPr>
        <p:spPr>
          <a:xfrm>
            <a:off x="1244600" y="2616200"/>
            <a:ext cx="4572000" cy="355600"/>
          </a:xfrm>
          <a:prstGeom prst="roundRect">
            <a:avLst/>
          </a:prstGeom>
          <a:noFill/>
          <a:ln w="10160">
            <a:solidFill>
              <a:srgbClr val="C00000"/>
            </a:solidFill>
            <a:prstDash val="dash"/>
          </a:ln>
        </p:spPr>
      </p:sp>
      <p:sp>
        <p:nvSpPr>
          <p:cNvPr id="21" name="moe-fusion-tag"/>
          <p:cNvSpPr txBox="1"/>
          <p:nvPr/>
        </p:nvSpPr>
        <p:spPr>
          <a:xfrm>
            <a:off x="5842000" y="2667000"/>
            <a:ext cx="1016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500" noProof="1" b="1">
                <a:solidFill>
                  <a:srgbClr val="C00000"/>
                </a:solidFill>
                <a:latin typeface="黑体"/>
                <a:ea typeface="黑体"/>
              </a:rPr>
              <a:t>①</a:t>
            </a:r>
            <a:endParaRPr lang="en-US" sz="500" noProof="1"/>
          </a:p>
        </p:txBody>
      </p:sp>
      <p:sp>
        <p:nvSpPr>
          <p:cNvPr id="22" name="moe-caption"/>
          <p:cNvSpPr txBox="1"/>
          <p:nvPr/>
        </p:nvSpPr>
        <p:spPr>
          <a:xfrm>
            <a:off x="1320800" y="3022600"/>
            <a:ext cx="4572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① 激活量化融入组矩阵乘：独立量化 184→92 次/步，每层专家核 4→3，10.39ms/步（访存 bound）</a:t>
            </a:r>
            <a:endParaRPr lang="en-US" sz="800" noProof="1"/>
          </a:p>
        </p:txBody>
      </p:sp>
      <p:sp>
        <p:nvSpPr>
          <p:cNvPr id="23" name="mla-label"/>
          <p:cNvSpPr txBox="1"/>
          <p:nvPr/>
        </p:nvSpPr>
        <p:spPr>
          <a:xfrm>
            <a:off x="558800" y="3403600"/>
            <a:ext cx="711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 b="1">
                <a:solidFill>
                  <a:srgbClr val="000000"/>
                </a:solidFill>
                <a:latin typeface="黑体"/>
                <a:ea typeface="黑体"/>
              </a:rPr>
              <a:t>MLA ×24</a:t>
            </a:r>
            <a:endParaRPr lang="en-US" sz="700" noProof="1"/>
          </a:p>
        </p:txBody>
      </p:sp>
      <p:sp>
        <p:nvSpPr>
          <p:cNvPr id="24" name="mla-b1"/>
          <p:cNvSpPr/>
          <p:nvPr/>
        </p:nvSpPr>
        <p:spPr>
          <a:xfrm>
            <a:off x="1320800" y="3327400"/>
            <a:ext cx="1066800" cy="203200"/>
          </a:xfrm>
          <a:prstGeom prst="roundRect">
            <a:avLst/>
          </a:prstGeom>
          <a:solidFill>
            <a:srgbClr val="C8DCF4"/>
          </a:solidFill>
          <a:ln w="6350">
            <a:solidFill>
              <a:srgbClr val="1B1B1E"/>
            </a:solidFill>
          </a:ln>
        </p:spPr>
      </p:sp>
      <p:sp>
        <p:nvSpPr>
          <p:cNvPr id="25" name="mla-t1"/>
          <p:cNvSpPr txBox="1"/>
          <p:nvPr/>
        </p:nvSpPr>
        <p:spPr>
          <a:xfrm>
            <a:off x="1320800" y="3327400"/>
            <a:ext cx="1066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450" noProof="1">
                <a:solidFill>
                  <a:srgbClr val="000000"/>
                </a:solidFill>
                <a:latin typeface="Times New Roman"/>
                <a:ea typeface="Times New Roman"/>
              </a:rPr>
              <a:t>MlaPrologV3</a:t>
            </a:r>
            <a:endParaRPr lang="en-US" sz="450" noProof="1"/>
          </a:p>
        </p:txBody>
      </p:sp>
      <p:sp>
        <p:nvSpPr>
          <p:cNvPr id="26" name="mla-a1"/>
          <p:cNvSpPr/>
          <p:nvPr>
            <p:extLst>
              <p:ext uri="{F5677B7D-0D2A-4D9B-9A5C-6D8D7D0E5A5D}">
                <pptd:line encoding="base64url">eyJ2aWV3Qm94IjpbMTQsNF0sInBvaW50cyI6IjEsMiAxMywyIiwiY3VydmUiOiJzaGFycCJ9</pptd:line>
              </p:ext>
            </p:extLst>
          </p:nvPr>
        </p:nvSpPr>
        <p:spPr>
          <a:xfrm>
            <a:off x="2413000" y="3403600"/>
            <a:ext cx="177800" cy="50800"/>
          </a:xfrm>
          <a:custGeom>
            <a:avLst/>
            <a:gdLst/>
            <a:ahLst/>
            <a:cxnLst/>
            <a:rect l="l" t="t" r="r" b="b"/>
            <a:pathLst>
              <a:path w="14" h="4">
                <a:moveTo>
                  <a:pt x="1" y="2"/>
                </a:moveTo>
                <a:lnTo>
                  <a:pt x="13" y="2"/>
                </a:lnTo>
              </a:path>
            </a:pathLst>
          </a:custGeom>
          <a:noFill/>
          <a:ln w="9525">
            <a:solidFill>
              <a:srgbClr val="1B1B1E"/>
            </a:solidFill>
            <a:tailEnd type="arrow"/>
          </a:ln>
        </p:spPr>
      </p:sp>
      <p:sp>
        <p:nvSpPr>
          <p:cNvPr id="27" name="mla-b2"/>
          <p:cNvSpPr/>
          <p:nvPr/>
        </p:nvSpPr>
        <p:spPr>
          <a:xfrm>
            <a:off x="2616200" y="3327400"/>
            <a:ext cx="1346200" cy="203200"/>
          </a:xfrm>
          <a:prstGeom prst="roundRect">
            <a:avLst/>
          </a:prstGeom>
          <a:solidFill>
            <a:srgbClr val="F0F0F4"/>
          </a:solidFill>
          <a:ln w="6350">
            <a:solidFill>
              <a:srgbClr val="1B1B1E"/>
            </a:solidFill>
          </a:ln>
        </p:spPr>
      </p:sp>
      <p:sp>
        <p:nvSpPr>
          <p:cNvPr id="28" name="mla-t2"/>
          <p:cNvSpPr txBox="1"/>
          <p:nvPr/>
        </p:nvSpPr>
        <p:spPr>
          <a:xfrm>
            <a:off x="2616200" y="3327400"/>
            <a:ext cx="1346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450" noProof="1">
                <a:solidFill>
                  <a:srgbClr val="000000"/>
                </a:solidFill>
                <a:latin typeface="Times New Roman"/>
                <a:ea typeface="Times New Roman"/>
              </a:rPr>
              <a:t>FlashMlaMetadata（AICPU）</a:t>
            </a:r>
            <a:endParaRPr lang="en-US" sz="450" noProof="1"/>
          </a:p>
        </p:txBody>
      </p:sp>
      <p:sp>
        <p:nvSpPr>
          <p:cNvPr id="29" name="mla-a2"/>
          <p:cNvSpPr/>
          <p:nvPr>
            <p:extLst>
              <p:ext uri="{F5677B7D-0D2A-4D9B-9A5C-6D8D7D0E5A5D}">
                <pptd:line encoding="base64url">eyJ2aWV3Qm94IjpbMTQsNF0sInBvaW50cyI6IjEsMiAxMywyIiwiY3VydmUiOiJzaGFycCJ9</pptd:line>
              </p:ext>
            </p:extLst>
          </p:nvPr>
        </p:nvSpPr>
        <p:spPr>
          <a:xfrm>
            <a:off x="3987800" y="3403600"/>
            <a:ext cx="177800" cy="50800"/>
          </a:xfrm>
          <a:custGeom>
            <a:avLst/>
            <a:gdLst/>
            <a:ahLst/>
            <a:cxnLst/>
            <a:rect l="l" t="t" r="r" b="b"/>
            <a:pathLst>
              <a:path w="14" h="4">
                <a:moveTo>
                  <a:pt x="1" y="2"/>
                </a:moveTo>
                <a:lnTo>
                  <a:pt x="13" y="2"/>
                </a:lnTo>
              </a:path>
            </a:pathLst>
          </a:custGeom>
          <a:noFill/>
          <a:ln w="9525">
            <a:solidFill>
              <a:srgbClr val="1B1B1E"/>
            </a:solidFill>
            <a:tailEnd type="arrow"/>
          </a:ln>
        </p:spPr>
      </p:sp>
      <p:sp>
        <p:nvSpPr>
          <p:cNvPr id="30" name="mla-b3"/>
          <p:cNvSpPr/>
          <p:nvPr/>
        </p:nvSpPr>
        <p:spPr>
          <a:xfrm>
            <a:off x="4191000" y="3200400"/>
            <a:ext cx="1549400" cy="190500"/>
          </a:xfrm>
          <a:prstGeom prst="roundRect">
            <a:avLst/>
          </a:prstGeom>
          <a:solidFill>
            <a:srgbClr val="F6D2CE"/>
          </a:solidFill>
          <a:ln w="6350">
            <a:solidFill>
              <a:srgbClr val="1B1B1E"/>
            </a:solidFill>
          </a:ln>
        </p:spPr>
      </p:sp>
      <p:sp>
        <p:nvSpPr>
          <p:cNvPr id="31" name="mla-t3"/>
          <p:cNvSpPr txBox="1"/>
          <p:nvPr/>
        </p:nvSpPr>
        <p:spPr>
          <a:xfrm>
            <a:off x="4191000" y="3200400"/>
            <a:ext cx="1549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450" noProof="1">
                <a:solidFill>
                  <a:srgbClr val="000000"/>
                </a:solidFill>
                <a:latin typeface="Times New Roman"/>
                <a:ea typeface="Times New Roman"/>
              </a:rPr>
              <a:t>FlashMla · big_quant</a:t>
            </a:r>
            <a:endParaRPr lang="en-US" sz="450" noProof="1"/>
          </a:p>
        </p:txBody>
      </p:sp>
      <p:sp>
        <p:nvSpPr>
          <p:cNvPr id="32" name="mla-b4"/>
          <p:cNvSpPr/>
          <p:nvPr/>
        </p:nvSpPr>
        <p:spPr>
          <a:xfrm>
            <a:off x="4191000" y="3454400"/>
            <a:ext cx="1549400" cy="190500"/>
          </a:xfrm>
          <a:prstGeom prst="roundRect">
            <a:avLst/>
          </a:prstGeom>
          <a:solidFill>
            <a:srgbClr val="F6D2CE"/>
          </a:solidFill>
          <a:ln w="6350">
            <a:solidFill>
              <a:srgbClr val="1B1B1E"/>
            </a:solidFill>
          </a:ln>
        </p:spPr>
      </p:sp>
      <p:sp>
        <p:nvSpPr>
          <p:cNvPr id="33" name="mla-t4"/>
          <p:cNvSpPr txBox="1"/>
          <p:nvPr/>
        </p:nvSpPr>
        <p:spPr>
          <a:xfrm>
            <a:off x="4191000" y="3454400"/>
            <a:ext cx="1549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450" noProof="1">
                <a:solidFill>
                  <a:srgbClr val="000000"/>
                </a:solidFill>
                <a:latin typeface="Times New Roman"/>
                <a:ea typeface="Times New Roman"/>
              </a:rPr>
              <a:t>FlashMla · small_bf16</a:t>
            </a:r>
            <a:endParaRPr lang="en-US" sz="450" noProof="1"/>
          </a:p>
        </p:txBody>
      </p:sp>
      <p:sp>
        <p:nvSpPr>
          <p:cNvPr id="34" name="mla-fusion-box"/>
          <p:cNvSpPr/>
          <p:nvPr/>
        </p:nvSpPr>
        <p:spPr>
          <a:xfrm>
            <a:off x="4114800" y="3124200"/>
            <a:ext cx="1701800" cy="596900"/>
          </a:xfrm>
          <a:prstGeom prst="roundRect">
            <a:avLst/>
          </a:prstGeom>
          <a:noFill/>
          <a:ln w="10160">
            <a:solidFill>
              <a:srgbClr val="C00000"/>
            </a:solidFill>
            <a:prstDash val="dash"/>
          </a:ln>
        </p:spPr>
      </p:sp>
      <p:sp>
        <p:nvSpPr>
          <p:cNvPr id="35" name="mla-fusion-tag"/>
          <p:cNvSpPr txBox="1"/>
          <p:nvPr/>
        </p:nvSpPr>
        <p:spPr>
          <a:xfrm>
            <a:off x="5842000" y="3175000"/>
            <a:ext cx="1016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500" noProof="1" b="1">
                <a:solidFill>
                  <a:srgbClr val="C00000"/>
                </a:solidFill>
                <a:latin typeface="黑体"/>
                <a:ea typeface="黑体"/>
              </a:rPr>
              <a:t>②</a:t>
            </a:r>
            <a:endParaRPr lang="en-US" sz="500" noProof="1"/>
          </a:p>
        </p:txBody>
      </p:sp>
      <p:sp>
        <p:nvSpPr>
          <p:cNvPr id="36" name="mla-caption"/>
          <p:cNvSpPr txBox="1"/>
          <p:nvPr/>
        </p:nvSpPr>
        <p:spPr>
          <a:xfrm>
            <a:off x="1320800" y="3759200"/>
            <a:ext cx="4572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② 单核全 bf16 →「量化长历史 + bf16 近端」双段：26.4 → 6.4ms/步（跨配置，结构参考）</a:t>
            </a:r>
            <a:endParaRPr lang="en-US" sz="800" noProof="1"/>
          </a:p>
        </p:txBody>
      </p:sp>
      <p:sp>
        <p:nvSpPr>
          <p:cNvPr id="37" name="kda-label"/>
          <p:cNvSpPr txBox="1"/>
          <p:nvPr/>
        </p:nvSpPr>
        <p:spPr>
          <a:xfrm>
            <a:off x="558800" y="4140200"/>
            <a:ext cx="711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 b="1">
                <a:solidFill>
                  <a:srgbClr val="000000"/>
                </a:solidFill>
                <a:latin typeface="黑体"/>
                <a:ea typeface="黑体"/>
              </a:rPr>
              <a:t>KDA ×69</a:t>
            </a:r>
            <a:endParaRPr lang="en-US" sz="700" noProof="1"/>
          </a:p>
        </p:txBody>
      </p:sp>
      <p:sp>
        <p:nvSpPr>
          <p:cNvPr id="38" name="kda-b1"/>
          <p:cNvSpPr/>
          <p:nvPr/>
        </p:nvSpPr>
        <p:spPr>
          <a:xfrm>
            <a:off x="1320800" y="3987800"/>
            <a:ext cx="1498600" cy="203200"/>
          </a:xfrm>
          <a:prstGeom prst="roundRect">
            <a:avLst/>
          </a:prstGeom>
          <a:solidFill>
            <a:srgbClr val="CBE6CF"/>
          </a:solidFill>
          <a:ln w="6350">
            <a:solidFill>
              <a:srgbClr val="1B1B1E"/>
            </a:solidFill>
          </a:ln>
        </p:spPr>
      </p:sp>
      <p:sp>
        <p:nvSpPr>
          <p:cNvPr id="39" name="kda-t1"/>
          <p:cNvSpPr txBox="1"/>
          <p:nvPr/>
        </p:nvSpPr>
        <p:spPr>
          <a:xfrm>
            <a:off x="1320800" y="3987800"/>
            <a:ext cx="1498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450" noProof="1">
                <a:solidFill>
                  <a:srgbClr val="000000"/>
                </a:solidFill>
                <a:latin typeface="Times New Roman"/>
                <a:ea typeface="Times New Roman"/>
              </a:rPr>
              <a:t>ChunkKdaFwd（prefill）</a:t>
            </a:r>
            <a:endParaRPr lang="en-US" sz="450" noProof="1"/>
          </a:p>
        </p:txBody>
      </p:sp>
      <p:sp>
        <p:nvSpPr>
          <p:cNvPr id="40" name="kda-b2"/>
          <p:cNvSpPr/>
          <p:nvPr/>
        </p:nvSpPr>
        <p:spPr>
          <a:xfrm>
            <a:off x="1320800" y="4267200"/>
            <a:ext cx="1498600" cy="203200"/>
          </a:xfrm>
          <a:prstGeom prst="roundRect">
            <a:avLst/>
          </a:prstGeom>
          <a:solidFill>
            <a:srgbClr val="CBE6CF"/>
          </a:solidFill>
          <a:ln w="6350">
            <a:solidFill>
              <a:srgbClr val="1B1B1E"/>
            </a:solidFill>
          </a:ln>
        </p:spPr>
      </p:sp>
      <p:sp>
        <p:nvSpPr>
          <p:cNvPr id="41" name="kda-t2"/>
          <p:cNvSpPr txBox="1"/>
          <p:nvPr/>
        </p:nvSpPr>
        <p:spPr>
          <a:xfrm>
            <a:off x="1320800" y="4267200"/>
            <a:ext cx="1498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450" noProof="1">
                <a:solidFill>
                  <a:srgbClr val="000000"/>
                </a:solidFill>
                <a:latin typeface="Times New Roman"/>
                <a:ea typeface="Times New Roman"/>
              </a:rPr>
              <a:t>RecurrentKda（decode/MTP）</a:t>
            </a:r>
            <a:endParaRPr lang="en-US" sz="450" noProof="1"/>
          </a:p>
        </p:txBody>
      </p:sp>
      <p:sp>
        <p:nvSpPr>
          <p:cNvPr id="42" name="kda-note"/>
          <p:cNvSpPr txBox="1"/>
          <p:nvPr/>
        </p:nvSpPr>
        <p:spPr>
          <a:xfrm>
            <a:off x="2946400" y="3962400"/>
            <a:ext cx="2997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600" noProof="1">
                <a:solidFill>
                  <a:srgbClr val="404040"/>
                </a:solidFill>
                <a:latin typeface="微软雅黑"/>
                <a:ea typeface="微软雅黑"/>
              </a:rPr>
              <a:t>• chunk=64 块内稠密 matmul 上 Cube，块间串行传状态</a:t>
            </a:r>
            <a:endParaRPr lang="en-US" sz="600" noProof="1"/>
          </a:p>
          <a:p>
            <a:pPr algn="l">
              <a:lnSpc>
                <a:spcPct val="140000"/>
              </a:lnSpc>
            </a:pPr>
            <a:r>
              <a:rPr lang="en-US" sz="600" noProof="1">
                <a:solidFill>
                  <a:srgbClr val="404040"/>
                </a:solidFill>
                <a:latin typeface="微软雅黑"/>
                <a:ea typeface="微软雅黑"/>
              </a:rPr>
              <a:t>• decode 状态原地更新：1.82ms/步，vec 70% 计算主导</a:t>
            </a:r>
            <a:endParaRPr lang="en-US" sz="600" noProof="1"/>
          </a:p>
          <a:p>
            <a:pPr algn="l">
              <a:lnSpc>
                <a:spcPct val="140000"/>
              </a:lnSpc>
            </a:pPr>
            <a:r>
              <a:rPr lang="en-US" sz="600" noProof="1">
                <a:solidFill>
                  <a:srgbClr val="404040"/>
                </a:solidFill>
                <a:latin typeface="微软雅黑"/>
                <a:ea typeface="微软雅黑"/>
              </a:rPr>
              <a:t>• state pool + ssm_state_indices 支持 MTP 槽位复用</a:t>
            </a:r>
            <a:endParaRPr lang="en-US" sz="600" noProof="1"/>
          </a:p>
        </p:txBody>
      </p:sp>
      <p:sp>
        <p:nvSpPr>
          <p:cNvPr id="43" name="res-label"/>
          <p:cNvSpPr txBox="1"/>
          <p:nvPr/>
        </p:nvSpPr>
        <p:spPr>
          <a:xfrm>
            <a:off x="558800" y="4851400"/>
            <a:ext cx="711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 b="1">
                <a:solidFill>
                  <a:srgbClr val="000000"/>
                </a:solidFill>
                <a:latin typeface="黑体"/>
                <a:ea typeface="黑体"/>
              </a:rPr>
              <a:t>AttnRes</a:t>
            </a:r>
            <a:endParaRPr lang="en-US" sz="700" noProof="1"/>
          </a:p>
        </p:txBody>
      </p:sp>
      <p:sp>
        <p:nvSpPr>
          <p:cNvPr id="44" name="res-b1"/>
          <p:cNvSpPr/>
          <p:nvPr/>
        </p:nvSpPr>
        <p:spPr>
          <a:xfrm>
            <a:off x="1320800" y="4749800"/>
            <a:ext cx="1320800" cy="203200"/>
          </a:xfrm>
          <a:prstGeom prst="roundRect">
            <a:avLst/>
          </a:prstGeom>
          <a:solidFill>
            <a:srgbClr val="F0F0F4"/>
          </a:solidFill>
          <a:ln w="6350">
            <a:solidFill>
              <a:srgbClr val="1B1B1E"/>
            </a:solidFill>
          </a:ln>
        </p:spPr>
      </p:sp>
      <p:sp>
        <p:nvSpPr>
          <p:cNvPr id="45" name="res-t1"/>
          <p:cNvSpPr txBox="1"/>
          <p:nvPr/>
        </p:nvSpPr>
        <p:spPr>
          <a:xfrm>
            <a:off x="1320800" y="4749800"/>
            <a:ext cx="1320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450" noProof="1">
                <a:solidFill>
                  <a:srgbClr val="000000"/>
                </a:solidFill>
                <a:latin typeface="Times New Roman"/>
                <a:ea typeface="Times New Roman"/>
              </a:rPr>
              <a:t>BlockAttnResPrepare</a:t>
            </a:r>
            <a:endParaRPr lang="en-US" sz="450" noProof="1"/>
          </a:p>
        </p:txBody>
      </p:sp>
      <p:sp>
        <p:nvSpPr>
          <p:cNvPr id="46" name="res-a1"/>
          <p:cNvSpPr/>
          <p:nvPr>
            <p:extLst>
              <p:ext uri="{F5677B7D-0D2A-4D9B-9A5C-6D8D7D0E5A5D}">
                <pptd:line encoding="base64url">eyJ2aWV3Qm94IjpbMTQsNF0sInBvaW50cyI6IjEsMiAxMywyIiwiY3VydmUiOiJzaGFycCJ9</pptd:line>
              </p:ext>
            </p:extLst>
          </p:nvPr>
        </p:nvSpPr>
        <p:spPr>
          <a:xfrm>
            <a:off x="2667000" y="4826000"/>
            <a:ext cx="177800" cy="50800"/>
          </a:xfrm>
          <a:custGeom>
            <a:avLst/>
            <a:gdLst/>
            <a:ahLst/>
            <a:cxnLst/>
            <a:rect l="l" t="t" r="r" b="b"/>
            <a:pathLst>
              <a:path w="14" h="4">
                <a:moveTo>
                  <a:pt x="1" y="2"/>
                </a:moveTo>
                <a:lnTo>
                  <a:pt x="13" y="2"/>
                </a:lnTo>
              </a:path>
            </a:pathLst>
          </a:custGeom>
          <a:noFill/>
          <a:ln w="9525">
            <a:solidFill>
              <a:srgbClr val="1B1B1E"/>
            </a:solidFill>
            <a:tailEnd type="arrow"/>
          </a:ln>
        </p:spPr>
      </p:sp>
      <p:sp>
        <p:nvSpPr>
          <p:cNvPr id="47" name="res-b2"/>
          <p:cNvSpPr/>
          <p:nvPr/>
        </p:nvSpPr>
        <p:spPr>
          <a:xfrm>
            <a:off x="2870200" y="4749800"/>
            <a:ext cx="1320800" cy="203200"/>
          </a:xfrm>
          <a:prstGeom prst="roundRect">
            <a:avLst/>
          </a:prstGeom>
          <a:solidFill>
            <a:srgbClr val="F0F0F4"/>
          </a:solidFill>
          <a:ln w="6350">
            <a:solidFill>
              <a:srgbClr val="1B1B1E"/>
            </a:solidFill>
          </a:ln>
        </p:spPr>
      </p:sp>
      <p:sp>
        <p:nvSpPr>
          <p:cNvPr id="48" name="res-t2"/>
          <p:cNvSpPr txBox="1"/>
          <p:nvPr/>
        </p:nvSpPr>
        <p:spPr>
          <a:xfrm>
            <a:off x="2870200" y="4749800"/>
            <a:ext cx="1320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450" noProof="1">
                <a:solidFill>
                  <a:srgbClr val="000000"/>
                </a:solidFill>
                <a:latin typeface="Times New Roman"/>
                <a:ea typeface="Times New Roman"/>
              </a:rPr>
              <a:t>BlockAttnResUpdate</a:t>
            </a:r>
            <a:endParaRPr lang="en-US" sz="450" noProof="1"/>
          </a:p>
        </p:txBody>
      </p:sp>
      <p:sp>
        <p:nvSpPr>
          <p:cNvPr id="49" name="res-fusion-box"/>
          <p:cNvSpPr/>
          <p:nvPr/>
        </p:nvSpPr>
        <p:spPr>
          <a:xfrm>
            <a:off x="1244600" y="4673600"/>
            <a:ext cx="3022600" cy="355600"/>
          </a:xfrm>
          <a:prstGeom prst="roundRect">
            <a:avLst/>
          </a:prstGeom>
          <a:noFill/>
          <a:ln w="10160">
            <a:solidFill>
              <a:srgbClr val="C00000"/>
            </a:solidFill>
            <a:prstDash val="dash"/>
          </a:ln>
        </p:spPr>
      </p:sp>
      <p:sp>
        <p:nvSpPr>
          <p:cNvPr id="50" name="res-fusion-tag"/>
          <p:cNvSpPr txBox="1"/>
          <p:nvPr/>
        </p:nvSpPr>
        <p:spPr>
          <a:xfrm>
            <a:off x="4292600" y="4724400"/>
            <a:ext cx="1016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500" noProof="1" b="1">
                <a:solidFill>
                  <a:srgbClr val="C00000"/>
                </a:solidFill>
                <a:latin typeface="黑体"/>
                <a:ea typeface="黑体"/>
              </a:rPr>
              <a:t>③</a:t>
            </a:r>
            <a:endParaRPr lang="en-US" sz="500" noProof="1"/>
          </a:p>
        </p:txBody>
      </p:sp>
      <p:sp>
        <p:nvSpPr>
          <p:cNvPr id="51" name="res-caption"/>
          <p:cNvSpPr txBox="1"/>
          <p:nvPr/>
        </p:nvSpPr>
        <p:spPr>
          <a:xfrm>
            <a:off x="1320800" y="5080000"/>
            <a:ext cx="4572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微软雅黑"/>
                <a:ea typeface="微软雅黑"/>
              </a:rPr>
              <a:t>③ triton → CANN 原生 AttnResFwdFused：2.70 → 1.66ms/步（−38%）</a:t>
            </a:r>
            <a:endParaRPr lang="en-US" sz="800" noProof="1"/>
          </a:p>
        </p:txBody>
      </p:sp>
      <p:sp>
        <p:nvSpPr>
          <p:cNvPr id="52" name="fig-note"/>
          <p:cNvSpPr txBox="1"/>
          <p:nvPr/>
        </p:nvSpPr>
        <p:spPr>
          <a:xfrm>
            <a:off x="558800" y="5384800"/>
            <a:ext cx="5384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共用软件分层：OpDef/InferShape → aclnn 两段式 → L0/launcher → AscendC kernel；调度元数据在 AICPU 生成（BalanceSchedule），与 kernel 间为固定 ABI。</a:t>
            </a:r>
            <a:endParaRPr lang="en-US" sz="750" noProof="1"/>
          </a:p>
        </p:txBody>
      </p:sp>
      <p:sp>
        <p:nvSpPr>
          <p:cNvPr id="53" name="param-label"/>
          <p:cNvSpPr txBox="1"/>
          <p:nvPr/>
        </p:nvSpPr>
        <p:spPr>
          <a:xfrm>
            <a:off x="6197600" y="2336800"/>
            <a:ext cx="508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实测耗时与 bound（A5 ep32 Decode，每步）</a:t>
            </a:r>
            <a:endParaRPr lang="en-US" sz="1200" noProof="1"/>
          </a:p>
        </p:txBody>
      </p:sp>
      <p:graphicFrame>
        <p:nvGraphicFramePr>
          <p:cNvPr id="54" name="param-table"/>
          <p:cNvGraphicFramePr>
            <a:graphicFrameLocks noGrp="1"/>
          </p:cNvGraphicFramePr>
          <p:nvPr/>
        </p:nvGraphicFramePr>
        <p:xfrm>
          <a:off x="6197600" y="2641600"/>
          <a:ext cx="5537200" cy="2641600"/>
        </p:xfrm>
        <a:graphic>
          <a:graphicData uri="http://schemas.openxmlformats.org/drawingml/2006/table">
            <a:tbl>
              <a:tblPr/>
              <a:tblGrid>
                <a:gridCol w="1661160"/>
                <a:gridCol w="498348"/>
                <a:gridCol w="609092"/>
                <a:gridCol w="2768600"/>
              </a:tblGrid>
              <a:tr h="26416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算子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n/步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ms/步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bound 与流水特征（mac/mte/vec %）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9624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GroupedMatmulSituQuant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92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10.39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访存：53/185/68 —— Cube 未喂饱，专家独立成流以访存并行度换吞吐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9624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SituMxQuant（up 已融合）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92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5.46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计算：0/21/29；独立量化由 184→92 次/步，剩余一半待融入 down 方向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9624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FlashMla · big_quant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5.15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计算：mac 59/mte 41；scalar 28.8% ← block_table 逐页间接寻址 + KV 非连续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9624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FlashMla · small_bf16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24+5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1.23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计算：bf16 近端段 14.8µs/次；DSpark draft 175.5µs/层扫全量 KV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9624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RecurrentKda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69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1.82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计算：0/19/70；状态原地更新，访存占比低，两代同构未变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9624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AttnResFwdFused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</a:rPr>
                        <a:t>③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187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1.66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triton 版 2.70ms → 原生融合 −38%；FP32 O/M/L 两段在线合并保数值稳定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5" name="param-note"/>
          <p:cNvSpPr txBox="1"/>
          <p:nvPr/>
        </p:nvSpPr>
        <p:spPr>
          <a:xfrm>
            <a:off x="6197600" y="53594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微软雅黑"/>
                <a:ea typeface="微软雅黑"/>
              </a:rPr>
              <a:t>注：A5 ep32 decode（BS32）rank0 每步均值，多流按 busy 归属求和；①②③ 对应左图融合点。P 侧（A3 40k prefill）：ChunkKdaFwd 222ms/前向（vec 主导），量化/反量化 ≈ 主计算 25%+，通信去重后 ≈55%。</a:t>
            </a:r>
            <a:endParaRPr lang="en-US" sz="750" noProof="1"/>
          </a:p>
        </p:txBody>
      </p:sp>
      <p:sp>
        <p:nvSpPr>
          <p:cNvPr id="56" name="dev-label"/>
          <p:cNvSpPr txBox="1"/>
          <p:nvPr/>
        </p:nvSpPr>
        <p:spPr>
          <a:xfrm>
            <a:off x="558800" y="57404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微软雅黑"/>
                <a:ea typeface="微软雅黑"/>
              </a:rPr>
              <a:t>演进方向与趋势判断</a:t>
            </a:r>
            <a:endParaRPr lang="en-US" sz="1200" noProof="1"/>
          </a:p>
        </p:txBody>
      </p:sp>
      <p:sp>
        <p:nvSpPr>
          <p:cNvPr id="57" name="dev-bullets"/>
          <p:cNvSpPr txBox="1"/>
          <p:nvPr/>
        </p:nvSpPr>
        <p:spPr>
          <a:xfrm>
            <a:off x="558800" y="5969000"/>
            <a:ext cx="11125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通信大粒度化（P0）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：逐层 RS/AG 380 次/步、占比 7%→15.5% 随规模上升 → 层间通信合并、TP→SP 重切；P 侧 KV broadcast 分层流水 + KV 压缩（预期 TTFT ~−30%）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量化融合向 P 侧迁移（P1）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：prefill 量化/反量化占主计算 25%+ → GroupedMatmulSituQuant 模式迁移至 ChunkKdaFwd 路径（预期主计算 −20%±）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FlashMla 访存连续化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：component-major 页内交错（stride = 2×page）→ KV 布局重构、逐页间接寻址开销下沉，量化分段比例随序列长度自适应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微软雅黑"/>
                <a:ea typeface="微软雅黑"/>
              </a:rPr>
              <a:t>状态管理深化</a:t>
            </a:r>
            <a:r>
              <a:rPr lang="en-US" sz="800" noProof="1">
                <a:solidFill>
                  <a:srgbClr val="262626"/>
                </a:solidFill>
                <a:latin typeface="微软雅黑"/>
                <a:ea typeface="微软雅黑"/>
              </a:rPr>
              <a:t>：RecurrentKda state pool + MTP 回滚（只缓存投影输入、片上重建）、KDA/MLA 统一分页 prefix cache —— 竞争点从算力转向「状态 × 访存 × 通信」协同</a:t>
            </a:r>
            <a:endParaRPr lang="en-US" sz="8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</Slides>
</Properties>
</file>

<file path=docProps/core.xml><?xml version="1.0" encoding="utf-8"?>
<cp:coreProperties xmlns:dc="http://purl.org/dc/elements/1.1/" xmlns:cp="http://schemas.openxmlformats.org/package/2006/metadata/core-properties">
  <dc:title>presentation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