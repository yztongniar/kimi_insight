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50" r:id="rId1"/>
  </p:sldMasterIdLst>
  <p:notesMasterIdLst>
    <p:notesMasterId r:id="rId4"/>
  </p:notesMasterIdLst>
  <p:sldIdLst>
    <p:sldId id="261" r:id="rId2"/>
    <p:sldId id="259" r:id="rId3"/>
  </p:sldIdLst>
  <p:sldSz cx="12192000" cy="6858000"/>
  <p:notesSz cx="12192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ongyuzhou" initials="t" lastIdx="18" clrIdx="0">
    <p:extLst>
      <p:ext uri="{19B8F6BF-5375-455C-9EA6-DF929625EA0E}">
        <p15:presenceInfo xmlns:p15="http://schemas.microsoft.com/office/powerpoint/2012/main" userId="S-1-5-21-147214757-305610072-1517763936-107985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580D"/>
    <a:srgbClr val="0A91B3"/>
    <a:srgbClr val="2764EB"/>
    <a:srgbClr val="E9590F"/>
    <a:srgbClr val="2CA0BE"/>
    <a:srgbClr val="2563EB"/>
    <a:srgbClr val="0C91B4"/>
    <a:srgbClr val="E9590E"/>
    <a:srgbClr val="E35858"/>
    <a:srgbClr val="F2A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10" autoAdjust="0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48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01A721-7132-46C5-8066-8D54D06A46A9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7559C-F66A-4D6F-AB8F-43E59203F6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663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b="1" dirty="0"/>
              <a:t>瓶颈压力减小</a:t>
            </a:r>
            <a:r>
              <a:rPr lang="en-US" altLang="zh-CN" b="1" dirty="0"/>
              <a:t>, </a:t>
            </a:r>
            <a:r>
              <a:rPr lang="zh-CN" altLang="en-US" b="1" dirty="0"/>
              <a:t>论文中是</a:t>
            </a:r>
            <a:r>
              <a:rPr lang="en-US" altLang="zh-CN" b="1" dirty="0"/>
              <a:t>NVFP4</a:t>
            </a:r>
            <a:endParaRPr lang="zh-CN" altLang="en-US" b="1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6217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b="1" dirty="0"/>
              <a:t>瓶颈压力减小</a:t>
            </a:r>
            <a:r>
              <a:rPr lang="en-US" altLang="zh-CN" b="1" dirty="0"/>
              <a:t>, </a:t>
            </a:r>
            <a:r>
              <a:rPr lang="zh-CN" altLang="en-US" b="1" dirty="0"/>
              <a:t>论文中是</a:t>
            </a:r>
            <a:r>
              <a:rPr lang="en-US" altLang="zh-CN" b="1" dirty="0"/>
              <a:t>NVFP4</a:t>
            </a:r>
            <a:endParaRPr lang="zh-CN" altLang="en-US" b="1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7988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9"/>
              </a:lnSpc>
              <a:spcBef>
                <a:spcPts val="0"/>
              </a:spcBef>
              <a:buNone/>
              <a:defRPr sz="3199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488" indent="0" algn="ctr">
              <a:buNone/>
              <a:defRPr sz="2599"/>
            </a:lvl2pPr>
            <a:lvl3pPr marL="1186975" indent="0" algn="ctr">
              <a:buNone/>
              <a:defRPr sz="2339"/>
            </a:lvl3pPr>
            <a:lvl4pPr marL="1780463" indent="0" algn="ctr">
              <a:buNone/>
              <a:defRPr sz="2079"/>
            </a:lvl4pPr>
            <a:lvl5pPr marL="2373950" indent="0" algn="ctr">
              <a:buNone/>
              <a:defRPr sz="2079"/>
            </a:lvl5pPr>
            <a:lvl6pPr marL="2966803" indent="0" algn="ctr">
              <a:buNone/>
              <a:defRPr sz="2079"/>
            </a:lvl6pPr>
            <a:lvl7pPr marL="3560925" indent="0" algn="ctr">
              <a:buNone/>
              <a:defRPr sz="2079"/>
            </a:lvl7pPr>
            <a:lvl8pPr marL="4153778" indent="0" algn="ctr">
              <a:buNone/>
              <a:defRPr sz="2079"/>
            </a:lvl8pPr>
            <a:lvl9pPr marL="474726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5739" y="1512878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79633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 sz="1799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798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652" algn="ctr"/>
              </a:tabLst>
              <a:defRPr sz="15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7476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652" algn="ctr"/>
              </a:tabLst>
              <a:defRPr sz="12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570" indent="-171381">
              <a:buFont typeface="Arial" panose="020B0604020202020204" pitchFamily="34" charset="0"/>
              <a:buChar char="•"/>
              <a:tabLst>
                <a:tab pos="1207287" algn="ctr"/>
              </a:tabLst>
              <a:defRPr sz="1299" baseline="0"/>
            </a:lvl4pPr>
            <a:lvl5pPr marL="525570" indent="-171381">
              <a:buFont typeface="Arial" panose="020B0604020202020204" pitchFamily="34" charset="0"/>
              <a:buChar char="•"/>
              <a:tabLst>
                <a:tab pos="1207287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98" marR="0" lvl="1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476" marR="0" lvl="2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476" marR="0" lvl="2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88158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92025" y="154459"/>
            <a:ext cx="11731745" cy="658342"/>
          </a:xfrm>
        </p:spPr>
        <p:txBody>
          <a:bodyPr>
            <a:noAutofit/>
          </a:bodyPr>
          <a:lstStyle>
            <a:lvl1pPr marL="0" marR="0" indent="0" algn="l" defTabSz="121744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2799" b="1">
                <a:solidFill>
                  <a:srgbClr val="9F1010"/>
                </a:solidFill>
                <a:latin typeface="+mj-ea"/>
                <a:ea typeface="+mj-ea"/>
              </a:defRPr>
            </a:lvl1pPr>
          </a:lstStyle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216506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17" indent="0" algn="ctr">
              <a:buNone/>
              <a:defRPr sz="1999"/>
            </a:lvl2pPr>
            <a:lvl3pPr marL="913399" indent="0" algn="ctr">
              <a:buNone/>
              <a:defRPr sz="1799"/>
            </a:lvl3pPr>
            <a:lvl4pPr marL="1370417" indent="0" algn="ctr">
              <a:buNone/>
              <a:defRPr sz="1599"/>
            </a:lvl4pPr>
            <a:lvl5pPr marL="1827434" indent="0" algn="ctr">
              <a:buNone/>
              <a:defRPr sz="1599"/>
            </a:lvl5pPr>
            <a:lvl6pPr marL="2284451" indent="0" algn="ctr">
              <a:buNone/>
              <a:defRPr sz="1599"/>
            </a:lvl6pPr>
            <a:lvl7pPr marL="2740833" indent="0" algn="ctr">
              <a:buNone/>
              <a:defRPr sz="1599"/>
            </a:lvl7pPr>
            <a:lvl8pPr marL="3197850" indent="0" algn="ctr">
              <a:buNone/>
              <a:defRPr sz="1599"/>
            </a:lvl8pPr>
            <a:lvl9pPr marL="3654867" indent="0" algn="ctr">
              <a:buNone/>
              <a:defRPr sz="1599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B2ABD-21E7-4AAB-A135-D24E38B430DE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3F64A-2BA7-4CA4-BFE1-201C73B0BB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7058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763" y="480685"/>
            <a:ext cx="10736446" cy="4644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9"/>
              </a:lnSpc>
              <a:spcBef>
                <a:spcPts val="0"/>
              </a:spcBef>
              <a:buFont typeface="Arial" panose="020B0604020202020204" pitchFamily="34" charset="0"/>
              <a:buNone/>
              <a:defRPr sz="2399" b="1" baseline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488" indent="0" algn="ctr">
              <a:buNone/>
              <a:defRPr sz="2599"/>
            </a:lvl2pPr>
            <a:lvl3pPr marL="1186975" indent="0" algn="ctr">
              <a:buNone/>
              <a:defRPr sz="2339"/>
            </a:lvl3pPr>
            <a:lvl4pPr marL="1780463" indent="0" algn="ctr">
              <a:buNone/>
              <a:defRPr sz="2079"/>
            </a:lvl4pPr>
            <a:lvl5pPr marL="2373950" indent="0" algn="ctr">
              <a:buNone/>
              <a:defRPr sz="2079"/>
            </a:lvl5pPr>
            <a:lvl6pPr marL="2966803" indent="0" algn="ctr">
              <a:buNone/>
              <a:defRPr sz="2079"/>
            </a:lvl6pPr>
            <a:lvl7pPr marL="3560925" indent="0" algn="ctr">
              <a:buNone/>
              <a:defRPr sz="2079"/>
            </a:lvl7pPr>
            <a:lvl8pPr marL="4153778" indent="0" algn="ctr">
              <a:buNone/>
              <a:defRPr sz="2079"/>
            </a:lvl8pPr>
            <a:lvl9pPr marL="474726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Box 3"/>
          <p:cNvSpPr txBox="1"/>
          <p:nvPr userDrawn="1"/>
        </p:nvSpPr>
        <p:spPr>
          <a:xfrm>
            <a:off x="733846" y="6402809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899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8991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262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tif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041" y="6356939"/>
            <a:ext cx="3502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733846" y="6402809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899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8991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85671" y="2625392"/>
            <a:ext cx="1967204" cy="4233515"/>
            <a:chOff x="5343885" y="-48857"/>
            <a:chExt cx="327131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399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399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399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190/233/238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194" y="6323416"/>
            <a:ext cx="1270304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290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</p:sldLayoutIdLst>
  <p:hf hdr="0" ftr="0" dt="0"/>
  <p:txStyles>
    <p:titleStyle>
      <a:lvl1pPr algn="l" defTabSz="1186975" rtl="0" eaLnBrk="1" latinLnBrk="0" hangingPunct="1">
        <a:lnSpc>
          <a:spcPct val="90000"/>
        </a:lnSpc>
        <a:spcBef>
          <a:spcPct val="0"/>
        </a:spcBef>
        <a:buNone/>
        <a:defRPr sz="57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061" indent="-297061" algn="l" defTabSz="1186975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4" kern="1200">
          <a:solidFill>
            <a:schemeClr val="tx1"/>
          </a:solidFill>
          <a:latin typeface="+mn-lt"/>
          <a:ea typeface="+mn-ea"/>
          <a:cs typeface="+mn-cs"/>
        </a:defRPr>
      </a:lvl1pPr>
      <a:lvl2pPr marL="889914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9" kern="1200">
          <a:solidFill>
            <a:schemeClr val="tx1"/>
          </a:solidFill>
          <a:latin typeface="+mn-lt"/>
          <a:ea typeface="+mn-ea"/>
          <a:cs typeface="+mn-cs"/>
        </a:defRPr>
      </a:lvl2pPr>
      <a:lvl3pPr marL="1483401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9" kern="1200">
          <a:solidFill>
            <a:schemeClr val="tx1"/>
          </a:solidFill>
          <a:latin typeface="+mn-lt"/>
          <a:ea typeface="+mn-ea"/>
          <a:cs typeface="+mn-cs"/>
        </a:defRPr>
      </a:lvl3pPr>
      <a:lvl4pPr marL="2076889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670376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3263864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857351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450839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5044326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1pPr>
      <a:lvl2pPr marL="593488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2pPr>
      <a:lvl3pPr marL="1186975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780463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373950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2966803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560925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153778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4747265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组合 63">
            <a:extLst>
              <a:ext uri="{FF2B5EF4-FFF2-40B4-BE49-F238E27FC236}">
                <a16:creationId xmlns:a16="http://schemas.microsoft.com/office/drawing/2014/main" id="{54CD5F67-529B-4822-B1B5-D57D1731C1E8}"/>
              </a:ext>
            </a:extLst>
          </p:cNvPr>
          <p:cNvGrpSpPr/>
          <p:nvPr/>
        </p:nvGrpSpPr>
        <p:grpSpPr>
          <a:xfrm>
            <a:off x="231724" y="1205094"/>
            <a:ext cx="4950253" cy="978204"/>
            <a:chOff x="2359219" y="1643545"/>
            <a:chExt cx="4765479" cy="5043177"/>
          </a:xfrm>
        </p:grpSpPr>
        <p:sp>
          <p:nvSpPr>
            <p:cNvPr id="65" name="矩形 127">
              <a:extLst>
                <a:ext uri="{FF2B5EF4-FFF2-40B4-BE49-F238E27FC236}">
                  <a16:creationId xmlns:a16="http://schemas.microsoft.com/office/drawing/2014/main" id="{42144D6C-88AF-4A27-A2D5-A7261B851A2E}"/>
                </a:ext>
              </a:extLst>
            </p:cNvPr>
            <p:cNvSpPr/>
            <p:nvPr/>
          </p:nvSpPr>
          <p:spPr>
            <a:xfrm>
              <a:off x="2359219" y="1647570"/>
              <a:ext cx="4761052" cy="5035128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66" name="直接连接符 128">
              <a:extLst>
                <a:ext uri="{FF2B5EF4-FFF2-40B4-BE49-F238E27FC236}">
                  <a16:creationId xmlns:a16="http://schemas.microsoft.com/office/drawing/2014/main" id="{02FFA566-55A9-47B9-A866-678A1546815E}"/>
                </a:ext>
              </a:extLst>
            </p:cNvPr>
            <p:cNvCxnSpPr/>
            <p:nvPr/>
          </p:nvCxnSpPr>
          <p:spPr>
            <a:xfrm>
              <a:off x="2359219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67" name="直接连接符 129">
              <a:extLst>
                <a:ext uri="{FF2B5EF4-FFF2-40B4-BE49-F238E27FC236}">
                  <a16:creationId xmlns:a16="http://schemas.microsoft.com/office/drawing/2014/main" id="{7D332B41-B79A-4913-B750-89D2DAA2A092}"/>
                </a:ext>
              </a:extLst>
            </p:cNvPr>
            <p:cNvCxnSpPr/>
            <p:nvPr/>
          </p:nvCxnSpPr>
          <p:spPr>
            <a:xfrm>
              <a:off x="2359219" y="6678673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68" name="直接连接符 130">
              <a:extLst>
                <a:ext uri="{FF2B5EF4-FFF2-40B4-BE49-F238E27FC236}">
                  <a16:creationId xmlns:a16="http://schemas.microsoft.com/office/drawing/2014/main" id="{295E8BC6-9386-42AF-BD6C-71ABFBFC9DA4}"/>
                </a:ext>
              </a:extLst>
            </p:cNvPr>
            <p:cNvCxnSpPr/>
            <p:nvPr/>
          </p:nvCxnSpPr>
          <p:spPr>
            <a:xfrm>
              <a:off x="6929674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69" name="直接连接符 131">
              <a:extLst>
                <a:ext uri="{FF2B5EF4-FFF2-40B4-BE49-F238E27FC236}">
                  <a16:creationId xmlns:a16="http://schemas.microsoft.com/office/drawing/2014/main" id="{0A76C760-F313-4FD6-ADBC-64BB4E11B0F3}"/>
                </a:ext>
              </a:extLst>
            </p:cNvPr>
            <p:cNvCxnSpPr/>
            <p:nvPr/>
          </p:nvCxnSpPr>
          <p:spPr>
            <a:xfrm flipH="1">
              <a:off x="7119869" y="1643545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70" name="直接连接符 132">
              <a:extLst>
                <a:ext uri="{FF2B5EF4-FFF2-40B4-BE49-F238E27FC236}">
                  <a16:creationId xmlns:a16="http://schemas.microsoft.com/office/drawing/2014/main" id="{837289FF-501E-4EB0-A196-51289E9FB675}"/>
                </a:ext>
              </a:extLst>
            </p:cNvPr>
            <p:cNvCxnSpPr/>
            <p:nvPr/>
          </p:nvCxnSpPr>
          <p:spPr>
            <a:xfrm flipH="1">
              <a:off x="2360159" y="1643545"/>
              <a:ext cx="668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71" name="直接连接符 133">
              <a:extLst>
                <a:ext uri="{FF2B5EF4-FFF2-40B4-BE49-F238E27FC236}">
                  <a16:creationId xmlns:a16="http://schemas.microsoft.com/office/drawing/2014/main" id="{E0E1A5B9-F70E-4556-86C5-BB439AD883C9}"/>
                </a:ext>
              </a:extLst>
            </p:cNvPr>
            <p:cNvCxnSpPr/>
            <p:nvPr/>
          </p:nvCxnSpPr>
          <p:spPr>
            <a:xfrm flipH="1">
              <a:off x="2360826" y="5892869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72" name="直接连接符 134">
              <a:extLst>
                <a:ext uri="{FF2B5EF4-FFF2-40B4-BE49-F238E27FC236}">
                  <a16:creationId xmlns:a16="http://schemas.microsoft.com/office/drawing/2014/main" id="{A2670FB8-57AA-4DEF-85C3-0B7B8CA53017}"/>
                </a:ext>
              </a:extLst>
            </p:cNvPr>
            <p:cNvCxnSpPr/>
            <p:nvPr/>
          </p:nvCxnSpPr>
          <p:spPr>
            <a:xfrm flipH="1">
              <a:off x="7119642" y="5905090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73" name="直接连接符 135">
              <a:extLst>
                <a:ext uri="{FF2B5EF4-FFF2-40B4-BE49-F238E27FC236}">
                  <a16:creationId xmlns:a16="http://schemas.microsoft.com/office/drawing/2014/main" id="{779726A0-69BC-41EA-8A99-E563FF277D6D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grpSp>
        <p:nvGrpSpPr>
          <p:cNvPr id="289" name="组合 288">
            <a:extLst>
              <a:ext uri="{FF2B5EF4-FFF2-40B4-BE49-F238E27FC236}">
                <a16:creationId xmlns:a16="http://schemas.microsoft.com/office/drawing/2014/main" id="{B25BEEFE-ACE7-4749-86B1-D4BFC192D41D}"/>
              </a:ext>
            </a:extLst>
          </p:cNvPr>
          <p:cNvGrpSpPr/>
          <p:nvPr/>
        </p:nvGrpSpPr>
        <p:grpSpPr>
          <a:xfrm>
            <a:off x="206167" y="2226915"/>
            <a:ext cx="4981102" cy="5402462"/>
            <a:chOff x="2359220" y="1407121"/>
            <a:chExt cx="4765481" cy="5279601"/>
          </a:xfrm>
        </p:grpSpPr>
        <p:sp>
          <p:nvSpPr>
            <p:cNvPr id="290" name="矩形 127">
              <a:extLst>
                <a:ext uri="{FF2B5EF4-FFF2-40B4-BE49-F238E27FC236}">
                  <a16:creationId xmlns:a16="http://schemas.microsoft.com/office/drawing/2014/main" id="{73501B13-BC7B-4FB4-B9F9-39AEDD1621EA}"/>
                </a:ext>
              </a:extLst>
            </p:cNvPr>
            <p:cNvSpPr/>
            <p:nvPr/>
          </p:nvSpPr>
          <p:spPr>
            <a:xfrm>
              <a:off x="2359220" y="1410567"/>
              <a:ext cx="4761053" cy="4382419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291" name="直接连接符 128">
              <a:extLst>
                <a:ext uri="{FF2B5EF4-FFF2-40B4-BE49-F238E27FC236}">
                  <a16:creationId xmlns:a16="http://schemas.microsoft.com/office/drawing/2014/main" id="{085A30EB-CCEB-4075-9C96-75819C52F686}"/>
                </a:ext>
              </a:extLst>
            </p:cNvPr>
            <p:cNvCxnSpPr/>
            <p:nvPr/>
          </p:nvCxnSpPr>
          <p:spPr>
            <a:xfrm>
              <a:off x="2359220" y="1410567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2" name="直接连接符 129">
              <a:extLst>
                <a:ext uri="{FF2B5EF4-FFF2-40B4-BE49-F238E27FC236}">
                  <a16:creationId xmlns:a16="http://schemas.microsoft.com/office/drawing/2014/main" id="{1B1275A8-1409-4A7F-AD0A-9E2DE191C4F8}"/>
                </a:ext>
              </a:extLst>
            </p:cNvPr>
            <p:cNvCxnSpPr/>
            <p:nvPr/>
          </p:nvCxnSpPr>
          <p:spPr>
            <a:xfrm>
              <a:off x="2359221" y="5717945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3" name="直接连接符 130">
              <a:extLst>
                <a:ext uri="{FF2B5EF4-FFF2-40B4-BE49-F238E27FC236}">
                  <a16:creationId xmlns:a16="http://schemas.microsoft.com/office/drawing/2014/main" id="{0085E02A-18C3-4268-9692-CF3A6A4EBDF4}"/>
                </a:ext>
              </a:extLst>
            </p:cNvPr>
            <p:cNvCxnSpPr/>
            <p:nvPr/>
          </p:nvCxnSpPr>
          <p:spPr>
            <a:xfrm>
              <a:off x="6929677" y="1410567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5" name="直接连接符 132">
              <a:extLst>
                <a:ext uri="{FF2B5EF4-FFF2-40B4-BE49-F238E27FC236}">
                  <a16:creationId xmlns:a16="http://schemas.microsoft.com/office/drawing/2014/main" id="{FB0374A5-A0FE-4778-BABD-30E9BE35CE23}"/>
                </a:ext>
              </a:extLst>
            </p:cNvPr>
            <p:cNvCxnSpPr/>
            <p:nvPr/>
          </p:nvCxnSpPr>
          <p:spPr>
            <a:xfrm flipH="1">
              <a:off x="2360160" y="1407121"/>
              <a:ext cx="668" cy="669194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4" name="直接连接符 131">
              <a:extLst>
                <a:ext uri="{FF2B5EF4-FFF2-40B4-BE49-F238E27FC236}">
                  <a16:creationId xmlns:a16="http://schemas.microsoft.com/office/drawing/2014/main" id="{E41EC8AB-3391-46FC-B6C2-7330D72DA0FE}"/>
                </a:ext>
              </a:extLst>
            </p:cNvPr>
            <p:cNvCxnSpPr/>
            <p:nvPr/>
          </p:nvCxnSpPr>
          <p:spPr>
            <a:xfrm flipH="1">
              <a:off x="7119872" y="1407121"/>
              <a:ext cx="1" cy="669194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6" name="直接连接符 133">
              <a:extLst>
                <a:ext uri="{FF2B5EF4-FFF2-40B4-BE49-F238E27FC236}">
                  <a16:creationId xmlns:a16="http://schemas.microsoft.com/office/drawing/2014/main" id="{88C794AF-2C4D-45EE-832B-A8AC1B7EA3CE}"/>
                </a:ext>
              </a:extLst>
            </p:cNvPr>
            <p:cNvCxnSpPr/>
            <p:nvPr/>
          </p:nvCxnSpPr>
          <p:spPr>
            <a:xfrm flipH="1">
              <a:off x="2360827" y="5045179"/>
              <a:ext cx="1" cy="669194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7" name="直接连接符 134">
              <a:extLst>
                <a:ext uri="{FF2B5EF4-FFF2-40B4-BE49-F238E27FC236}">
                  <a16:creationId xmlns:a16="http://schemas.microsoft.com/office/drawing/2014/main" id="{7B9AE284-506C-4B2A-BE41-913DF36055B7}"/>
                </a:ext>
              </a:extLst>
            </p:cNvPr>
            <p:cNvCxnSpPr/>
            <p:nvPr/>
          </p:nvCxnSpPr>
          <p:spPr>
            <a:xfrm flipH="1">
              <a:off x="7119644" y="5055642"/>
              <a:ext cx="1" cy="669194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8" name="直接连接符 135">
              <a:extLst>
                <a:ext uri="{FF2B5EF4-FFF2-40B4-BE49-F238E27FC236}">
                  <a16:creationId xmlns:a16="http://schemas.microsoft.com/office/drawing/2014/main" id="{8CA1D751-2C3B-4C77-A2A3-1658439F1EF5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sp>
        <p:nvSpPr>
          <p:cNvPr id="80" name="标题 1">
            <a:extLst>
              <a:ext uri="{FF2B5EF4-FFF2-40B4-BE49-F238E27FC236}">
                <a16:creationId xmlns:a16="http://schemas.microsoft.com/office/drawing/2014/main" id="{4FA8E6CE-540B-41A0-B921-FBFD267B2A0C}"/>
              </a:ext>
            </a:extLst>
          </p:cNvPr>
          <p:cNvSpPr txBox="1"/>
          <p:nvPr/>
        </p:nvSpPr>
        <p:spPr bwMode="auto">
          <a:xfrm>
            <a:off x="67966" y="80642"/>
            <a:ext cx="12056068" cy="550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8008" tIns="39004" rIns="78008" bIns="39004" numCol="1" anchor="ctr" anchorCtr="0" compatLnSpc="1"/>
          <a:lstStyle>
            <a:lvl1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  <a:lvl2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2pPr>
            <a:lvl3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3pPr>
            <a:lvl4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4pPr>
            <a:lvl5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5pPr>
            <a:lvl6pPr marL="455930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6pPr>
            <a:lvl7pPr marL="911860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7pPr>
            <a:lvl8pPr marL="1368425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8pPr>
            <a:lvl9pPr marL="1824355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9pPr>
          </a:lstStyle>
          <a:p>
            <a:pPr defTabSz="1185706" eaLnBrk="1" fontAlgn="auto" hangingPunct="1">
              <a:lnSpc>
                <a:spcPts val="3429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 </a:t>
            </a:r>
            <a:r>
              <a:rPr lang="zh-CN" altLang="en-US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推理负载分析</a:t>
            </a:r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A284DE64-C4E8-436B-B237-6309BFD759BA}"/>
              </a:ext>
            </a:extLst>
          </p:cNvPr>
          <p:cNvSpPr txBox="1"/>
          <p:nvPr/>
        </p:nvSpPr>
        <p:spPr>
          <a:xfrm>
            <a:off x="510415" y="1038923"/>
            <a:ext cx="4002854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noProof="1">
                <a:solidFill>
                  <a:srgbClr val="C00000"/>
                </a:solidFill>
                <a:latin typeface="微软雅黑"/>
                <a:ea typeface="微软雅黑"/>
              </a:rPr>
              <a:t>性能汇总</a:t>
            </a:r>
            <a:endParaRPr kumimoji="1"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矩形 306">
            <a:extLst>
              <a:ext uri="{FF2B5EF4-FFF2-40B4-BE49-F238E27FC236}">
                <a16:creationId xmlns:a16="http://schemas.microsoft.com/office/drawing/2014/main" id="{9ACFBEFC-D4B7-4D24-97CB-0F88DB94B29F}"/>
              </a:ext>
            </a:extLst>
          </p:cNvPr>
          <p:cNvSpPr/>
          <p:nvPr/>
        </p:nvSpPr>
        <p:spPr>
          <a:xfrm>
            <a:off x="206167" y="599377"/>
            <a:ext cx="809292" cy="425186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9" tIns="35949" rIns="35949" bIns="35949" numCol="1" anchor="ctr">
            <a:noAutofit/>
          </a:bodyPr>
          <a:lstStyle/>
          <a:p>
            <a:pPr algn="ctr" defTabSz="1718257"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启发</a:t>
            </a:r>
            <a:endParaRPr lang="en-US" altLang="zh-CN" sz="1599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矩形 307">
            <a:extLst>
              <a:ext uri="{FF2B5EF4-FFF2-40B4-BE49-F238E27FC236}">
                <a16:creationId xmlns:a16="http://schemas.microsoft.com/office/drawing/2014/main" id="{3EE9DFE0-0180-4ACA-A7BD-2DCB70CC6411}"/>
              </a:ext>
            </a:extLst>
          </p:cNvPr>
          <p:cNvSpPr/>
          <p:nvPr/>
        </p:nvSpPr>
        <p:spPr>
          <a:xfrm>
            <a:off x="1015459" y="592972"/>
            <a:ext cx="10946129" cy="410752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913399">
              <a:lnSpc>
                <a:spcPct val="130000"/>
              </a:lnSpc>
              <a:defRPr/>
            </a:pPr>
            <a:r>
              <a:rPr lang="en-US" altLang="zh-CN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 </a:t>
            </a:r>
            <a:r>
              <a:rPr lang="zh-CN" altLang="en-US" sz="1399" b="1" kern="0" noProof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采用混合线性注意力，</a:t>
            </a:r>
            <a:r>
              <a:rPr lang="en-US" altLang="zh-CN" sz="1399" b="1" kern="0" noProof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Attention</a:t>
            </a:r>
            <a:r>
              <a:rPr lang="zh-CN" altLang="en-US" sz="1399" b="1" kern="0" noProof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耗时占比下降，</a:t>
            </a:r>
            <a:r>
              <a:rPr lang="en-US" altLang="zh-CN" sz="1399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MoE</a:t>
            </a:r>
            <a:r>
              <a:rPr lang="en-US" altLang="zh-CN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成为主要瓶颈，占比接近</a:t>
            </a:r>
            <a:r>
              <a:rPr lang="en-US" altLang="zh-CN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50%</a:t>
            </a: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，大</a:t>
            </a:r>
            <a:r>
              <a:rPr lang="en-US" altLang="zh-CN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EP</a:t>
            </a: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受限于负载不均</a:t>
            </a:r>
            <a:endParaRPr lang="en-US" altLang="zh-CN" sz="1399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16" name="组合 115">
            <a:extLst>
              <a:ext uri="{FF2B5EF4-FFF2-40B4-BE49-F238E27FC236}">
                <a16:creationId xmlns:a16="http://schemas.microsoft.com/office/drawing/2014/main" id="{E73D52D7-068B-49E2-BA2D-93A1E192CEFE}"/>
              </a:ext>
            </a:extLst>
          </p:cNvPr>
          <p:cNvGrpSpPr/>
          <p:nvPr/>
        </p:nvGrpSpPr>
        <p:grpSpPr>
          <a:xfrm>
            <a:off x="9784326" y="-5978"/>
            <a:ext cx="2401200" cy="171354"/>
            <a:chOff x="9788148" y="-7320"/>
            <a:chExt cx="2402138" cy="171421"/>
          </a:xfrm>
        </p:grpSpPr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1F69EC01-6455-48A7-A2E2-FF423C3340B6}"/>
                </a:ext>
              </a:extLst>
            </p:cNvPr>
            <p:cNvSpPr/>
            <p:nvPr/>
          </p:nvSpPr>
          <p:spPr bwMode="auto">
            <a:xfrm>
              <a:off x="11387668" y="-7320"/>
              <a:ext cx="802618" cy="171132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EB313F5C-E160-477D-826B-D529D7DCB149}"/>
                </a:ext>
              </a:extLst>
            </p:cNvPr>
            <p:cNvSpPr/>
            <p:nvPr/>
          </p:nvSpPr>
          <p:spPr bwMode="auto">
            <a:xfrm>
              <a:off x="10595890" y="-7320"/>
              <a:ext cx="802618" cy="171132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训练方案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矩形 123">
              <a:extLst>
                <a:ext uri="{FF2B5EF4-FFF2-40B4-BE49-F238E27FC236}">
                  <a16:creationId xmlns:a16="http://schemas.microsoft.com/office/drawing/2014/main" id="{38B82EB6-BFD5-4647-BB62-D56565F1879B}"/>
                </a:ext>
              </a:extLst>
            </p:cNvPr>
            <p:cNvSpPr/>
            <p:nvPr/>
          </p:nvSpPr>
          <p:spPr bwMode="auto">
            <a:xfrm>
              <a:off x="11401032" y="-2793"/>
              <a:ext cx="785036" cy="158806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昇腾适配</a:t>
              </a:r>
              <a:endParaRPr lang="en-US" altLang="zh-CN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9DB8C4C0-A3CA-4E15-A324-FD3BD5224ECC}"/>
                </a:ext>
              </a:extLst>
            </p:cNvPr>
            <p:cNvSpPr/>
            <p:nvPr/>
          </p:nvSpPr>
          <p:spPr bwMode="auto">
            <a:xfrm>
              <a:off x="9788148" y="-7031"/>
              <a:ext cx="802618" cy="171132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模型结构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8" name="pie-title-p-attn">
            <a:extLst>
              <a:ext uri="{FF2B5EF4-FFF2-40B4-BE49-F238E27FC236}">
                <a16:creationId xmlns:a16="http://schemas.microsoft.com/office/drawing/2014/main" id="{31FBAFD3-A8AA-4031-A254-9A9B0D01D559}"/>
              </a:ext>
            </a:extLst>
          </p:cNvPr>
          <p:cNvSpPr txBox="1"/>
          <p:nvPr/>
        </p:nvSpPr>
        <p:spPr>
          <a:xfrm>
            <a:off x="-269069" y="2518097"/>
            <a:ext cx="271780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b="1" noProof="1">
                <a:solidFill>
                  <a:srgbClr val="262626"/>
                </a:solidFill>
                <a:latin typeface="微软雅黑"/>
                <a:ea typeface="微软雅黑"/>
              </a:rPr>
              <a:t>P · Attention（25.1%）</a:t>
            </a:r>
            <a:endParaRPr lang="en-US" sz="900" noProof="1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1F227E2E-CC65-4734-9981-F8367FB2A384}"/>
              </a:ext>
            </a:extLst>
          </p:cNvPr>
          <p:cNvSpPr txBox="1"/>
          <p:nvPr/>
        </p:nvSpPr>
        <p:spPr>
          <a:xfrm>
            <a:off x="1484651" y="2128718"/>
            <a:ext cx="2295575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lang="en-US" altLang="zh-CN" sz="1200" b="1" noProof="1">
                <a:solidFill>
                  <a:srgbClr val="C00000"/>
                </a:solidFill>
                <a:latin typeface="微软雅黑"/>
                <a:ea typeface="微软雅黑"/>
              </a:rPr>
              <a:t>算子</a:t>
            </a:r>
            <a:r>
              <a:rPr lang="zh-CN" altLang="en-US" sz="1200" b="1" noProof="1">
                <a:solidFill>
                  <a:srgbClr val="C00000"/>
                </a:solidFill>
                <a:latin typeface="微软雅黑"/>
                <a:ea typeface="微软雅黑"/>
              </a:rPr>
              <a:t>拆解和瓶颈分析</a:t>
            </a:r>
            <a:endParaRPr kumimoji="1"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798DC44-87F2-40BB-913F-51F2484BD323}"/>
              </a:ext>
            </a:extLst>
          </p:cNvPr>
          <p:cNvSpPr txBox="1"/>
          <p:nvPr/>
        </p:nvSpPr>
        <p:spPr>
          <a:xfrm>
            <a:off x="328709" y="1238073"/>
            <a:ext cx="4663559" cy="930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40000"/>
              </a:lnSpc>
              <a:spcBef>
                <a:spcPts val="10"/>
              </a:spcBef>
              <a:buFont typeface="+mj-lt"/>
              <a:buAutoNum type="arabicPeriod"/>
            </a:pP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A5 4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128K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1K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输出，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Chunk 8K, BS32: 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TTFT 10s, TPOT 42.1 </a:t>
            </a:r>
            <a:r>
              <a:rPr lang="en-US" altLang="zh-CN" sz="1000" b="1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zh-CN" altLang="en-US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ITL 55.7 </a:t>
            </a:r>
            <a:r>
              <a:rPr lang="en-US" altLang="zh-CN" sz="1000" b="1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626 </a:t>
            </a:r>
            <a:r>
              <a:rPr lang="en-US" altLang="zh-CN" sz="1000" b="1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tps</a:t>
            </a:r>
            <a:endParaRPr lang="en-US" altLang="zh-CN" sz="1000" b="1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40000"/>
              </a:lnSpc>
              <a:spcBef>
                <a:spcPts val="10"/>
              </a:spcBef>
              <a:buFont typeface="+mj-lt"/>
              <a:buAutoNum type="arabicPeriod"/>
            </a:pP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Prefill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chunk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耗时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400 </a:t>
            </a:r>
            <a:r>
              <a:rPr lang="en-US" altLang="zh-CN" sz="1000" b="1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zh-CN" altLang="en-US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单次耗时：主模型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49.4 </a:t>
            </a:r>
            <a:r>
              <a:rPr lang="en-US" altLang="zh-CN" sz="1000" b="1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草稿模型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3ms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;  metadata build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1ms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6A677758-C1A4-4ED9-A90E-FA0799BF2307}"/>
              </a:ext>
            </a:extLst>
          </p:cNvPr>
          <p:cNvSpPr txBox="1"/>
          <p:nvPr/>
        </p:nvSpPr>
        <p:spPr>
          <a:xfrm>
            <a:off x="308091" y="5122183"/>
            <a:ext cx="2530292" cy="306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lnSpc>
                <a:spcPct val="150000"/>
              </a:lnSpc>
              <a:defRPr/>
            </a:pPr>
            <a:r>
              <a:rPr lang="zh-CN" altLang="en-US" sz="105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结论：</a:t>
            </a:r>
            <a:endParaRPr lang="en-US" altLang="zh-CN" sz="1050" b="1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6B263EEA-4E2B-42D8-BFD9-D234973958E7}"/>
              </a:ext>
            </a:extLst>
          </p:cNvPr>
          <p:cNvGrpSpPr/>
          <p:nvPr/>
        </p:nvGrpSpPr>
        <p:grpSpPr>
          <a:xfrm>
            <a:off x="5268482" y="1196652"/>
            <a:ext cx="6693105" cy="2564509"/>
            <a:chOff x="2359219" y="1643545"/>
            <a:chExt cx="4765479" cy="5043177"/>
          </a:xfrm>
        </p:grpSpPr>
        <p:sp>
          <p:nvSpPr>
            <p:cNvPr id="86" name="矩形 127">
              <a:extLst>
                <a:ext uri="{FF2B5EF4-FFF2-40B4-BE49-F238E27FC236}">
                  <a16:creationId xmlns:a16="http://schemas.microsoft.com/office/drawing/2014/main" id="{94507420-6D7E-4292-B69B-BF8D4AC0F19F}"/>
                </a:ext>
              </a:extLst>
            </p:cNvPr>
            <p:cNvSpPr/>
            <p:nvPr/>
          </p:nvSpPr>
          <p:spPr>
            <a:xfrm>
              <a:off x="2359219" y="1647570"/>
              <a:ext cx="4761052" cy="5035128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87" name="直接连接符 128">
              <a:extLst>
                <a:ext uri="{FF2B5EF4-FFF2-40B4-BE49-F238E27FC236}">
                  <a16:creationId xmlns:a16="http://schemas.microsoft.com/office/drawing/2014/main" id="{3372014C-B8DB-4ACE-9379-6A302E5CD9A3}"/>
                </a:ext>
              </a:extLst>
            </p:cNvPr>
            <p:cNvCxnSpPr/>
            <p:nvPr/>
          </p:nvCxnSpPr>
          <p:spPr>
            <a:xfrm>
              <a:off x="2359219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88" name="直接连接符 129">
              <a:extLst>
                <a:ext uri="{FF2B5EF4-FFF2-40B4-BE49-F238E27FC236}">
                  <a16:creationId xmlns:a16="http://schemas.microsoft.com/office/drawing/2014/main" id="{777FAEA6-B4B6-444B-9FDE-CA4255DDCC9B}"/>
                </a:ext>
              </a:extLst>
            </p:cNvPr>
            <p:cNvCxnSpPr/>
            <p:nvPr/>
          </p:nvCxnSpPr>
          <p:spPr>
            <a:xfrm>
              <a:off x="2359219" y="6678673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89" name="直接连接符 130">
              <a:extLst>
                <a:ext uri="{FF2B5EF4-FFF2-40B4-BE49-F238E27FC236}">
                  <a16:creationId xmlns:a16="http://schemas.microsoft.com/office/drawing/2014/main" id="{51CAA8FA-9579-4635-BBBA-273A3DB1B809}"/>
                </a:ext>
              </a:extLst>
            </p:cNvPr>
            <p:cNvCxnSpPr/>
            <p:nvPr/>
          </p:nvCxnSpPr>
          <p:spPr>
            <a:xfrm>
              <a:off x="6929674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92" name="直接连接符 131">
              <a:extLst>
                <a:ext uri="{FF2B5EF4-FFF2-40B4-BE49-F238E27FC236}">
                  <a16:creationId xmlns:a16="http://schemas.microsoft.com/office/drawing/2014/main" id="{552F628C-D5DE-454E-A0CD-0DF66E64FFA5}"/>
                </a:ext>
              </a:extLst>
            </p:cNvPr>
            <p:cNvCxnSpPr/>
            <p:nvPr/>
          </p:nvCxnSpPr>
          <p:spPr>
            <a:xfrm flipH="1">
              <a:off x="7119869" y="1643545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93" name="直接连接符 132">
              <a:extLst>
                <a:ext uri="{FF2B5EF4-FFF2-40B4-BE49-F238E27FC236}">
                  <a16:creationId xmlns:a16="http://schemas.microsoft.com/office/drawing/2014/main" id="{B633D183-DB0D-4B2B-9CC3-6845CBF05856}"/>
                </a:ext>
              </a:extLst>
            </p:cNvPr>
            <p:cNvCxnSpPr/>
            <p:nvPr/>
          </p:nvCxnSpPr>
          <p:spPr>
            <a:xfrm flipH="1">
              <a:off x="2360159" y="1643545"/>
              <a:ext cx="668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94" name="直接连接符 133">
              <a:extLst>
                <a:ext uri="{FF2B5EF4-FFF2-40B4-BE49-F238E27FC236}">
                  <a16:creationId xmlns:a16="http://schemas.microsoft.com/office/drawing/2014/main" id="{AAAC2F54-48A7-45AC-9A0E-74E6D3B4321E}"/>
                </a:ext>
              </a:extLst>
            </p:cNvPr>
            <p:cNvCxnSpPr/>
            <p:nvPr/>
          </p:nvCxnSpPr>
          <p:spPr>
            <a:xfrm flipH="1">
              <a:off x="2360826" y="5892869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95" name="直接连接符 134">
              <a:extLst>
                <a:ext uri="{FF2B5EF4-FFF2-40B4-BE49-F238E27FC236}">
                  <a16:creationId xmlns:a16="http://schemas.microsoft.com/office/drawing/2014/main" id="{A00AD41E-D65D-44D8-A883-64E131E2E670}"/>
                </a:ext>
              </a:extLst>
            </p:cNvPr>
            <p:cNvCxnSpPr/>
            <p:nvPr/>
          </p:nvCxnSpPr>
          <p:spPr>
            <a:xfrm flipH="1">
              <a:off x="7119642" y="5905090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96" name="直接连接符 135">
              <a:extLst>
                <a:ext uri="{FF2B5EF4-FFF2-40B4-BE49-F238E27FC236}">
                  <a16:creationId xmlns:a16="http://schemas.microsoft.com/office/drawing/2014/main" id="{0C2C42AE-867A-4CAA-89FE-BD5873EEFA3F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sp>
        <p:nvSpPr>
          <p:cNvPr id="97" name="文本框 96">
            <a:extLst>
              <a:ext uri="{FF2B5EF4-FFF2-40B4-BE49-F238E27FC236}">
                <a16:creationId xmlns:a16="http://schemas.microsoft.com/office/drawing/2014/main" id="{4FF3A10C-C34C-4B18-A31A-7234D55C4C67}"/>
              </a:ext>
            </a:extLst>
          </p:cNvPr>
          <p:cNvSpPr txBox="1"/>
          <p:nvPr/>
        </p:nvSpPr>
        <p:spPr>
          <a:xfrm>
            <a:off x="7012905" y="1042751"/>
            <a:ext cx="3029027" cy="276891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lang="en-US" altLang="zh-CN" sz="1200" b="1" noProof="1">
                <a:solidFill>
                  <a:srgbClr val="C00000"/>
                </a:solidFill>
                <a:latin typeface="微软雅黑"/>
                <a:ea typeface="微软雅黑"/>
              </a:rPr>
              <a:t>Attention / MoE 占比与负载</a:t>
            </a:r>
            <a:r>
              <a:rPr lang="zh-CN" altLang="en-US" sz="1200" b="1" noProof="1">
                <a:solidFill>
                  <a:srgbClr val="C00000"/>
                </a:solidFill>
                <a:latin typeface="微软雅黑"/>
                <a:ea typeface="微软雅黑"/>
              </a:rPr>
              <a:t>拆解</a:t>
            </a:r>
            <a:endParaRPr kumimoji="1"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B7B411D8-45DF-4DCE-81E7-B358AAAD6755}"/>
              </a:ext>
            </a:extLst>
          </p:cNvPr>
          <p:cNvSpPr txBox="1"/>
          <p:nvPr/>
        </p:nvSpPr>
        <p:spPr>
          <a:xfrm>
            <a:off x="721023" y="5144969"/>
            <a:ext cx="4320562" cy="1515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4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zh-CN" altLang="en-US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</a:t>
            </a: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b="1" noProof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占比较高，主要原因：</a:t>
            </a:r>
            <a:endParaRPr lang="en-US" altLang="zh-CN" sz="1000" noProof="1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11400" lvl="1">
              <a:lnSpc>
                <a:spcPct val="140000"/>
              </a:lnSpc>
              <a:spcBef>
                <a:spcPts val="400"/>
              </a:spcBef>
            </a:pP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Attenton: 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长序列无命中，计算占比高符合预期；</a:t>
            </a: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Sequnce Parallel 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使得通信占比较高</a:t>
            </a: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MoE: 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长序列无命中，通信量较高</a:t>
            </a:r>
            <a:endParaRPr lang="en-US" altLang="zh-CN" sz="1000" noProof="1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4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lang="zh-CN" altLang="en-US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阶段：</a:t>
            </a:r>
            <a:r>
              <a:rPr lang="zh-CN" altLang="en-US" sz="1000" b="1" noProof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</a:t>
            </a:r>
            <a:r>
              <a:rPr lang="en-US" altLang="zh-CN" sz="1000" b="1" noProof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noProof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访存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占比较高，主要原因：</a:t>
            </a:r>
            <a:endParaRPr lang="en-US" altLang="zh-CN" sz="1000" noProof="1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11400" lvl="1">
              <a:lnSpc>
                <a:spcPct val="140000"/>
              </a:lnSpc>
              <a:spcBef>
                <a:spcPts val="400"/>
              </a:spcBef>
            </a:pP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Attention</a:t>
            </a:r>
            <a:r>
              <a:rPr lang="zh-CN" altLang="en-US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高吞吐</a:t>
            </a:r>
            <a:r>
              <a:rPr lang="zh-CN" altLang="en-US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大并发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场景，计算占比高符合预期；</a:t>
            </a: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DCP</a:t>
            </a:r>
            <a:r>
              <a:rPr lang="en-US" altLang="zh-CN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allGather KV 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导致通信量较高；</a:t>
            </a: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MoE: 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权重搬运导致访存占比高</a:t>
            </a:r>
            <a:endParaRPr lang="en-US" altLang="zh-CN" sz="1000" noProof="1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335C548-E719-4165-8A80-8F53AC80B46C}"/>
              </a:ext>
            </a:extLst>
          </p:cNvPr>
          <p:cNvSpPr txBox="1"/>
          <p:nvPr/>
        </p:nvSpPr>
        <p:spPr>
          <a:xfrm>
            <a:off x="5499275" y="1378309"/>
            <a:ext cx="764080" cy="306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lnSpc>
                <a:spcPct val="150000"/>
              </a:lnSpc>
              <a:defRPr/>
            </a:pPr>
            <a:r>
              <a:rPr lang="zh-CN" altLang="en-US" sz="105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结论：</a:t>
            </a:r>
            <a:endParaRPr lang="en-US" altLang="zh-CN" sz="1050" b="1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00" name="sum-table">
            <a:extLst>
              <a:ext uri="{FF2B5EF4-FFF2-40B4-BE49-F238E27FC236}">
                <a16:creationId xmlns:a16="http://schemas.microsoft.com/office/drawing/2014/main" id="{BBFA8F24-ED18-4281-9FB4-F90FA1267B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926647"/>
              </p:ext>
            </p:extLst>
          </p:nvPr>
        </p:nvGraphicFramePr>
        <p:xfrm>
          <a:off x="5461902" y="2009691"/>
          <a:ext cx="6221616" cy="1524000"/>
        </p:xfrm>
        <a:graphic>
          <a:graphicData uri="http://schemas.openxmlformats.org/drawingml/2006/table">
            <a:tbl>
              <a:tblPr/>
              <a:tblGrid>
                <a:gridCol w="1098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29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76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阶段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Attention </a:t>
                      </a:r>
                      <a:r>
                        <a:rPr lang="en-US" altLang="zh-CN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占比</a:t>
                      </a:r>
                      <a:endParaRPr lang="en-US" sz="1000" b="1" noProof="1">
                        <a:solidFill>
                          <a:srgbClr val="262626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MoE 占比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2563E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计算</a:t>
                      </a:r>
                      <a:r>
                        <a:rPr lang="en-US" sz="1000" b="1" noProof="1">
                          <a:solidFill>
                            <a:srgbClr val="4C78A8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en-US" sz="1000" b="1" noProof="1">
                          <a:solidFill>
                            <a:srgbClr val="2CA0B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访存</a:t>
                      </a:r>
                      <a:r>
                        <a:rPr lang="en-US" sz="1000" b="1" noProof="1">
                          <a:solidFill>
                            <a:srgbClr val="F2A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en-US" sz="1000" b="1" noProof="1">
                          <a:solidFill>
                            <a:srgbClr val="E9590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通信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 Prefill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25.1%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C0020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50.6%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endParaRPr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 Decode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20.0%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C0020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47.9%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endParaRPr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1" name="bar-p-calc">
            <a:extLst>
              <a:ext uri="{FF2B5EF4-FFF2-40B4-BE49-F238E27FC236}">
                <a16:creationId xmlns:a16="http://schemas.microsoft.com/office/drawing/2014/main" id="{828D1D7D-9B72-4192-BC77-70B65C6EE804}"/>
              </a:ext>
            </a:extLst>
          </p:cNvPr>
          <p:cNvSpPr/>
          <p:nvPr/>
        </p:nvSpPr>
        <p:spPr>
          <a:xfrm>
            <a:off x="10196465" y="2568682"/>
            <a:ext cx="376542" cy="139700"/>
          </a:xfrm>
          <a:prstGeom prst="rect">
            <a:avLst/>
          </a:prstGeom>
          <a:solidFill>
            <a:srgbClr val="2764EB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bar-p-mem">
            <a:extLst>
              <a:ext uri="{FF2B5EF4-FFF2-40B4-BE49-F238E27FC236}">
                <a16:creationId xmlns:a16="http://schemas.microsoft.com/office/drawing/2014/main" id="{48A83782-EE9B-47FC-9CBA-0B7A45E48A2A}"/>
              </a:ext>
            </a:extLst>
          </p:cNvPr>
          <p:cNvSpPr/>
          <p:nvPr/>
        </p:nvSpPr>
        <p:spPr>
          <a:xfrm>
            <a:off x="10500088" y="2568682"/>
            <a:ext cx="396769" cy="139700"/>
          </a:xfrm>
          <a:prstGeom prst="rect">
            <a:avLst/>
          </a:prstGeom>
          <a:solidFill>
            <a:srgbClr val="0A91B3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bar-p-comm">
            <a:extLst>
              <a:ext uri="{FF2B5EF4-FFF2-40B4-BE49-F238E27FC236}">
                <a16:creationId xmlns:a16="http://schemas.microsoft.com/office/drawing/2014/main" id="{D097DF97-A9E7-429A-BC7D-DFE9E9324D54}"/>
              </a:ext>
            </a:extLst>
          </p:cNvPr>
          <p:cNvSpPr/>
          <p:nvPr/>
        </p:nvSpPr>
        <p:spPr>
          <a:xfrm>
            <a:off x="10733023" y="2568682"/>
            <a:ext cx="704849" cy="139700"/>
          </a:xfrm>
          <a:prstGeom prst="rect">
            <a:avLst/>
          </a:prstGeom>
          <a:solidFill>
            <a:srgbClr val="EA580D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bar-pct-p">
            <a:extLst>
              <a:ext uri="{FF2B5EF4-FFF2-40B4-BE49-F238E27FC236}">
                <a16:creationId xmlns:a16="http://schemas.microsoft.com/office/drawing/2014/main" id="{5241D609-E7AD-4FEF-AF9B-B124ED142787}"/>
              </a:ext>
            </a:extLst>
          </p:cNvPr>
          <p:cNvSpPr txBox="1"/>
          <p:nvPr/>
        </p:nvSpPr>
        <p:spPr>
          <a:xfrm>
            <a:off x="9907058" y="2733782"/>
            <a:ext cx="1605749" cy="127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650" b="1" noProof="1">
                <a:solidFill>
                  <a:srgbClr val="2764EB"/>
                </a:solidFill>
                <a:latin typeface="微软雅黑"/>
                <a:ea typeface="微软雅黑"/>
              </a:rPr>
              <a:t>25.5</a:t>
            </a:r>
            <a:r>
              <a:rPr lang="en-US" sz="650" b="1" noProof="1">
                <a:solidFill>
                  <a:srgbClr val="737373"/>
                </a:solidFill>
                <a:latin typeface="微软雅黑"/>
                <a:ea typeface="微软雅黑"/>
              </a:rPr>
              <a:t> / </a:t>
            </a:r>
            <a:r>
              <a:rPr lang="en-US" sz="650" b="1" noProof="1">
                <a:solidFill>
                  <a:srgbClr val="0A91B3"/>
                </a:solidFill>
                <a:latin typeface="微软雅黑"/>
                <a:ea typeface="微软雅黑"/>
              </a:rPr>
              <a:t>26.8</a:t>
            </a:r>
            <a:r>
              <a:rPr lang="en-US" sz="650" b="1" noProof="1">
                <a:solidFill>
                  <a:srgbClr val="737373"/>
                </a:solidFill>
                <a:latin typeface="微软雅黑"/>
                <a:ea typeface="微软雅黑"/>
              </a:rPr>
              <a:t> / </a:t>
            </a:r>
            <a:r>
              <a:rPr lang="en-US" sz="650" b="1" noProof="1">
                <a:solidFill>
                  <a:srgbClr val="EA580D"/>
                </a:solidFill>
                <a:latin typeface="微软雅黑"/>
                <a:ea typeface="微软雅黑"/>
              </a:rPr>
              <a:t>47.7</a:t>
            </a:r>
            <a:r>
              <a:rPr lang="en-US" sz="650" b="1" noProof="1">
                <a:solidFill>
                  <a:srgbClr val="737373"/>
                </a:solidFill>
                <a:latin typeface="微软雅黑"/>
                <a:ea typeface="微软雅黑"/>
              </a:rPr>
              <a:t>%</a:t>
            </a:r>
            <a:endParaRPr lang="en-US" sz="650" b="1" noProof="1"/>
          </a:p>
        </p:txBody>
      </p:sp>
      <p:sp>
        <p:nvSpPr>
          <p:cNvPr id="107" name="bar-d-calc">
            <a:extLst>
              <a:ext uri="{FF2B5EF4-FFF2-40B4-BE49-F238E27FC236}">
                <a16:creationId xmlns:a16="http://schemas.microsoft.com/office/drawing/2014/main" id="{4DDB4282-BDDA-4FA9-9ACF-5E697CB5AB96}"/>
              </a:ext>
            </a:extLst>
          </p:cNvPr>
          <p:cNvSpPr/>
          <p:nvPr/>
        </p:nvSpPr>
        <p:spPr>
          <a:xfrm>
            <a:off x="10184707" y="3140182"/>
            <a:ext cx="689290" cy="139700"/>
          </a:xfrm>
          <a:prstGeom prst="rect">
            <a:avLst/>
          </a:prstGeom>
          <a:solidFill>
            <a:srgbClr val="2764EB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bar-d-mem">
            <a:extLst>
              <a:ext uri="{FF2B5EF4-FFF2-40B4-BE49-F238E27FC236}">
                <a16:creationId xmlns:a16="http://schemas.microsoft.com/office/drawing/2014/main" id="{2E161EDB-6184-4D95-AF87-C703E6193202}"/>
              </a:ext>
            </a:extLst>
          </p:cNvPr>
          <p:cNvSpPr/>
          <p:nvPr/>
        </p:nvSpPr>
        <p:spPr>
          <a:xfrm>
            <a:off x="10745316" y="3140182"/>
            <a:ext cx="700181" cy="139700"/>
          </a:xfrm>
          <a:prstGeom prst="rect">
            <a:avLst/>
          </a:prstGeom>
          <a:solidFill>
            <a:srgbClr val="0A91B3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bar-d-comm">
            <a:extLst>
              <a:ext uri="{FF2B5EF4-FFF2-40B4-BE49-F238E27FC236}">
                <a16:creationId xmlns:a16="http://schemas.microsoft.com/office/drawing/2014/main" id="{2406551D-9F09-4C1F-A8CC-18A31E0897E3}"/>
              </a:ext>
            </a:extLst>
          </p:cNvPr>
          <p:cNvSpPr/>
          <p:nvPr/>
        </p:nvSpPr>
        <p:spPr>
          <a:xfrm>
            <a:off x="11429197" y="3140182"/>
            <a:ext cx="88690" cy="139700"/>
          </a:xfrm>
          <a:prstGeom prst="rect">
            <a:avLst/>
          </a:prstGeom>
          <a:solidFill>
            <a:srgbClr val="EA580D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bar-pct-d">
            <a:extLst>
              <a:ext uri="{FF2B5EF4-FFF2-40B4-BE49-F238E27FC236}">
                <a16:creationId xmlns:a16="http://schemas.microsoft.com/office/drawing/2014/main" id="{579CEB9D-AEBA-4D60-B11F-8C75377F14A3}"/>
              </a:ext>
            </a:extLst>
          </p:cNvPr>
          <p:cNvSpPr txBox="1"/>
          <p:nvPr/>
        </p:nvSpPr>
        <p:spPr>
          <a:xfrm>
            <a:off x="9952778" y="3305282"/>
            <a:ext cx="1605749" cy="127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650" b="1" noProof="1">
                <a:solidFill>
                  <a:srgbClr val="2764EB"/>
                </a:solidFill>
                <a:latin typeface="微软雅黑"/>
                <a:ea typeface="微软雅黑"/>
              </a:rPr>
              <a:t>46.6</a:t>
            </a:r>
            <a:r>
              <a:rPr lang="en-US" sz="650" b="1" noProof="1">
                <a:solidFill>
                  <a:srgbClr val="737373"/>
                </a:solidFill>
                <a:latin typeface="微软雅黑"/>
                <a:ea typeface="微软雅黑"/>
              </a:rPr>
              <a:t> / </a:t>
            </a:r>
            <a:r>
              <a:rPr lang="en-US" sz="650" b="1" noProof="1">
                <a:solidFill>
                  <a:srgbClr val="0A91B3"/>
                </a:solidFill>
                <a:latin typeface="微软雅黑"/>
                <a:ea typeface="微软雅黑"/>
              </a:rPr>
              <a:t>47.4 </a:t>
            </a:r>
            <a:r>
              <a:rPr lang="en-US" sz="650" b="1" noProof="1">
                <a:solidFill>
                  <a:srgbClr val="737373"/>
                </a:solidFill>
                <a:latin typeface="微软雅黑"/>
                <a:ea typeface="微软雅黑"/>
              </a:rPr>
              <a:t>/ </a:t>
            </a:r>
            <a:r>
              <a:rPr lang="en-US" sz="650" b="1" noProof="1">
                <a:solidFill>
                  <a:srgbClr val="EA580D"/>
                </a:solidFill>
                <a:latin typeface="微软雅黑"/>
                <a:ea typeface="微软雅黑"/>
              </a:rPr>
              <a:t>6.0</a:t>
            </a:r>
            <a:r>
              <a:rPr lang="en-US" sz="650" b="1" noProof="1">
                <a:solidFill>
                  <a:srgbClr val="737373"/>
                </a:solidFill>
                <a:latin typeface="微软雅黑"/>
                <a:ea typeface="微软雅黑"/>
              </a:rPr>
              <a:t>%</a:t>
            </a:r>
            <a:endParaRPr lang="en-US" sz="650" b="1" noProof="1"/>
          </a:p>
        </p:txBody>
      </p: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2E54D939-A6C2-4FA4-962D-0CA0DCF46521}"/>
              </a:ext>
            </a:extLst>
          </p:cNvPr>
          <p:cNvGrpSpPr/>
          <p:nvPr/>
        </p:nvGrpSpPr>
        <p:grpSpPr>
          <a:xfrm>
            <a:off x="5270739" y="3975100"/>
            <a:ext cx="6683573" cy="2692390"/>
            <a:chOff x="2359219" y="1643545"/>
            <a:chExt cx="4765479" cy="5043177"/>
          </a:xfrm>
        </p:grpSpPr>
        <p:sp>
          <p:nvSpPr>
            <p:cNvPr id="112" name="矩形 127">
              <a:extLst>
                <a:ext uri="{FF2B5EF4-FFF2-40B4-BE49-F238E27FC236}">
                  <a16:creationId xmlns:a16="http://schemas.microsoft.com/office/drawing/2014/main" id="{C269188B-2E32-4F97-8000-4E69D8BF2480}"/>
                </a:ext>
              </a:extLst>
            </p:cNvPr>
            <p:cNvSpPr/>
            <p:nvPr/>
          </p:nvSpPr>
          <p:spPr>
            <a:xfrm>
              <a:off x="2359219" y="1647570"/>
              <a:ext cx="4761052" cy="5035128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3" name="直接连接符 128">
              <a:extLst>
                <a:ext uri="{FF2B5EF4-FFF2-40B4-BE49-F238E27FC236}">
                  <a16:creationId xmlns:a16="http://schemas.microsoft.com/office/drawing/2014/main" id="{2944B6FF-E827-4113-8BD7-0A7E26040B6E}"/>
                </a:ext>
              </a:extLst>
            </p:cNvPr>
            <p:cNvCxnSpPr/>
            <p:nvPr/>
          </p:nvCxnSpPr>
          <p:spPr>
            <a:xfrm>
              <a:off x="2359219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14" name="直接连接符 129">
              <a:extLst>
                <a:ext uri="{FF2B5EF4-FFF2-40B4-BE49-F238E27FC236}">
                  <a16:creationId xmlns:a16="http://schemas.microsoft.com/office/drawing/2014/main" id="{5695F4FA-6A56-4CA5-8E38-EDA7B913302C}"/>
                </a:ext>
              </a:extLst>
            </p:cNvPr>
            <p:cNvCxnSpPr/>
            <p:nvPr/>
          </p:nvCxnSpPr>
          <p:spPr>
            <a:xfrm>
              <a:off x="2359219" y="6678673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15" name="直接连接符 130">
              <a:extLst>
                <a:ext uri="{FF2B5EF4-FFF2-40B4-BE49-F238E27FC236}">
                  <a16:creationId xmlns:a16="http://schemas.microsoft.com/office/drawing/2014/main" id="{9D3A18CE-DA55-4414-B185-486411D8236A}"/>
                </a:ext>
              </a:extLst>
            </p:cNvPr>
            <p:cNvCxnSpPr/>
            <p:nvPr/>
          </p:nvCxnSpPr>
          <p:spPr>
            <a:xfrm>
              <a:off x="6929674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18" name="直接连接符 131">
              <a:extLst>
                <a:ext uri="{FF2B5EF4-FFF2-40B4-BE49-F238E27FC236}">
                  <a16:creationId xmlns:a16="http://schemas.microsoft.com/office/drawing/2014/main" id="{5EC347F3-159D-4576-9FFC-DAC12C624004}"/>
                </a:ext>
              </a:extLst>
            </p:cNvPr>
            <p:cNvCxnSpPr/>
            <p:nvPr/>
          </p:nvCxnSpPr>
          <p:spPr>
            <a:xfrm flipH="1">
              <a:off x="7119869" y="1643545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19" name="直接连接符 132">
              <a:extLst>
                <a:ext uri="{FF2B5EF4-FFF2-40B4-BE49-F238E27FC236}">
                  <a16:creationId xmlns:a16="http://schemas.microsoft.com/office/drawing/2014/main" id="{F847332C-D56E-4655-BB7F-0E5DD4E40D42}"/>
                </a:ext>
              </a:extLst>
            </p:cNvPr>
            <p:cNvCxnSpPr/>
            <p:nvPr/>
          </p:nvCxnSpPr>
          <p:spPr>
            <a:xfrm flipH="1">
              <a:off x="2360159" y="1643545"/>
              <a:ext cx="668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21" name="直接连接符 133">
              <a:extLst>
                <a:ext uri="{FF2B5EF4-FFF2-40B4-BE49-F238E27FC236}">
                  <a16:creationId xmlns:a16="http://schemas.microsoft.com/office/drawing/2014/main" id="{DA52617C-F47C-4AEF-9991-9675E116D90D}"/>
                </a:ext>
              </a:extLst>
            </p:cNvPr>
            <p:cNvCxnSpPr/>
            <p:nvPr/>
          </p:nvCxnSpPr>
          <p:spPr>
            <a:xfrm flipH="1">
              <a:off x="2360826" y="5892869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22" name="直接连接符 134">
              <a:extLst>
                <a:ext uri="{FF2B5EF4-FFF2-40B4-BE49-F238E27FC236}">
                  <a16:creationId xmlns:a16="http://schemas.microsoft.com/office/drawing/2014/main" id="{1C4D025D-A457-4FEC-BDF8-0DD4283907C8}"/>
                </a:ext>
              </a:extLst>
            </p:cNvPr>
            <p:cNvCxnSpPr/>
            <p:nvPr/>
          </p:nvCxnSpPr>
          <p:spPr>
            <a:xfrm flipH="1">
              <a:off x="7119642" y="5905090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23" name="直接连接符 135">
              <a:extLst>
                <a:ext uri="{FF2B5EF4-FFF2-40B4-BE49-F238E27FC236}">
                  <a16:creationId xmlns:a16="http://schemas.microsoft.com/office/drawing/2014/main" id="{05DAF6B9-37A7-40CF-85DE-F9A7C803F707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sp>
        <p:nvSpPr>
          <p:cNvPr id="125" name="文本框 124">
            <a:extLst>
              <a:ext uri="{FF2B5EF4-FFF2-40B4-BE49-F238E27FC236}">
                <a16:creationId xmlns:a16="http://schemas.microsoft.com/office/drawing/2014/main" id="{A5361BA6-984F-4869-9713-F21EA4629CB2}"/>
              </a:ext>
            </a:extLst>
          </p:cNvPr>
          <p:cNvSpPr txBox="1"/>
          <p:nvPr/>
        </p:nvSpPr>
        <p:spPr>
          <a:xfrm>
            <a:off x="6155469" y="3865024"/>
            <a:ext cx="4904153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noProof="1">
                <a:solidFill>
                  <a:srgbClr val="C00000"/>
                </a:solidFill>
                <a:latin typeface="微软雅黑"/>
                <a:ea typeface="微软雅黑"/>
              </a:rPr>
              <a:t>多卡负载分析</a:t>
            </a:r>
            <a:endParaRPr kumimoji="1"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28" name="图片 127">
            <a:extLst>
              <a:ext uri="{FF2B5EF4-FFF2-40B4-BE49-F238E27FC236}">
                <a16:creationId xmlns:a16="http://schemas.microsoft.com/office/drawing/2014/main" id="{BAA9EAB4-0E31-4A14-BEBB-9901588C9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092" y="5006314"/>
            <a:ext cx="6262974" cy="1488768"/>
          </a:xfrm>
          <a:prstGeom prst="rect">
            <a:avLst/>
          </a:prstGeom>
        </p:spPr>
      </p:pic>
      <p:sp>
        <p:nvSpPr>
          <p:cNvPr id="141" name="文本框 140">
            <a:extLst>
              <a:ext uri="{FF2B5EF4-FFF2-40B4-BE49-F238E27FC236}">
                <a16:creationId xmlns:a16="http://schemas.microsoft.com/office/drawing/2014/main" id="{B5AE5722-7A05-44E9-9C0E-FF0795E47501}"/>
              </a:ext>
            </a:extLst>
          </p:cNvPr>
          <p:cNvSpPr txBox="1"/>
          <p:nvPr/>
        </p:nvSpPr>
        <p:spPr>
          <a:xfrm>
            <a:off x="6115581" y="4308946"/>
            <a:ext cx="5980744" cy="737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40000"/>
              </a:lnSpc>
              <a:spcBef>
                <a:spcPts val="10"/>
              </a:spcBef>
              <a:buFont typeface="+mj-lt"/>
              <a:buAutoNum type="arabicPeriod"/>
            </a:pP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Prefill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阶段：对于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128K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定长输入，在 </a:t>
            </a:r>
            <a:r>
              <a:rPr lang="en-US" altLang="zh-CN" sz="1000" b="1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PP4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部署下，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EP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数减小，整体负载较为均衡</a:t>
            </a:r>
            <a:endParaRPr lang="en-US" altLang="zh-CN" sz="1000" noProof="1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40000"/>
              </a:lnSpc>
              <a:spcBef>
                <a:spcPts val="10"/>
              </a:spcBef>
              <a:buFont typeface="+mj-lt"/>
              <a:buAutoNum type="arabicPeriod"/>
            </a:pP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阶段：测试发现 </a:t>
            </a:r>
            <a:r>
              <a:rPr lang="en-US" altLang="zh-CN" sz="1000" b="1" noProof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EP128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部署出现严重 </a:t>
            </a:r>
            <a:r>
              <a:rPr lang="zh-CN" altLang="en-US" sz="1000" b="1" noProof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负载不均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050" b="1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EP32</a:t>
            </a:r>
            <a:r>
              <a:rPr lang="zh-CN" altLang="en-US" sz="1000" b="1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整体负载较为均衡</a:t>
            </a:r>
            <a:endParaRPr lang="en-US" altLang="zh-CN" sz="1000" noProof="1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509" indent="-228509" defTabSz="914034">
              <a:lnSpc>
                <a:spcPct val="150000"/>
              </a:lnSpc>
              <a:buFontTx/>
              <a:buAutoNum type="arabicPeriod"/>
              <a:defRPr/>
            </a:pPr>
            <a:endParaRPr lang="en-US" altLang="zh-CN" sz="1000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F40B5A57-8AA3-4E62-BA3F-D6F4354DD730}"/>
              </a:ext>
            </a:extLst>
          </p:cNvPr>
          <p:cNvSpPr txBox="1"/>
          <p:nvPr/>
        </p:nvSpPr>
        <p:spPr>
          <a:xfrm>
            <a:off x="5580502" y="4273426"/>
            <a:ext cx="2530292" cy="306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lnSpc>
                <a:spcPct val="150000"/>
              </a:lnSpc>
              <a:defRPr/>
            </a:pPr>
            <a:r>
              <a:rPr lang="zh-CN" altLang="en-US" sz="105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结论：</a:t>
            </a:r>
            <a:endParaRPr lang="en-US" altLang="zh-CN" sz="1050" b="1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0CA3BFC4-04C2-4F2E-B9C3-66BCAE4CB397}"/>
              </a:ext>
            </a:extLst>
          </p:cNvPr>
          <p:cNvSpPr txBox="1"/>
          <p:nvPr/>
        </p:nvSpPr>
        <p:spPr>
          <a:xfrm>
            <a:off x="5930104" y="1392197"/>
            <a:ext cx="5525353" cy="49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10"/>
              </a:spcBef>
            </a:pP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在引入线性注意力后，</a:t>
            </a:r>
            <a:r>
              <a:rPr lang="en-US" altLang="zh-CN" sz="1000" b="1" noProof="1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Attention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耗时占比降低，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两阶段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占比接近</a:t>
            </a:r>
            <a:r>
              <a:rPr lang="en-US" altLang="zh-CN" sz="1000" b="1" noProof="1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20%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00" b="1" noProof="1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MoE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成为耗时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主体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两阶段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都接近 </a:t>
            </a:r>
            <a:r>
              <a:rPr lang="en-US" altLang="zh-CN" sz="1000" b="1" noProof="1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50%</a:t>
            </a:r>
            <a:endParaRPr lang="en-US" altLang="zh-CN" sz="1000" noProof="1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27" name="图片 126">
            <a:extLst>
              <a:ext uri="{FF2B5EF4-FFF2-40B4-BE49-F238E27FC236}">
                <a16:creationId xmlns:a16="http://schemas.microsoft.com/office/drawing/2014/main" id="{9199927C-B6A7-4AB8-B083-BD190D98B0E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7492" r="8372" b="53926"/>
          <a:stretch/>
        </p:blipFill>
        <p:spPr>
          <a:xfrm>
            <a:off x="2598060" y="2653197"/>
            <a:ext cx="2487139" cy="1227753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BFE3918C-A105-4553-9E0D-B5EBE95CF16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96" t="2498" r="12847" b="80652"/>
          <a:stretch/>
        </p:blipFill>
        <p:spPr>
          <a:xfrm>
            <a:off x="347532" y="2684413"/>
            <a:ext cx="2211962" cy="1076749"/>
          </a:xfrm>
          <a:prstGeom prst="rect">
            <a:avLst/>
          </a:prstGeom>
        </p:spPr>
      </p:pic>
      <p:pic>
        <p:nvPicPr>
          <p:cNvPr id="129" name="图片 128">
            <a:extLst>
              <a:ext uri="{FF2B5EF4-FFF2-40B4-BE49-F238E27FC236}">
                <a16:creationId xmlns:a16="http://schemas.microsoft.com/office/drawing/2014/main" id="{AF32933C-C4CD-420B-B74C-E84F6801FB8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081" t="81344" r="1536" b="1069"/>
          <a:stretch/>
        </p:blipFill>
        <p:spPr>
          <a:xfrm>
            <a:off x="2630331" y="3913515"/>
            <a:ext cx="2530292" cy="1123807"/>
          </a:xfrm>
          <a:prstGeom prst="rect">
            <a:avLst/>
          </a:prstGeom>
        </p:spPr>
      </p:pic>
      <p:pic>
        <p:nvPicPr>
          <p:cNvPr id="130" name="图片 129">
            <a:extLst>
              <a:ext uri="{FF2B5EF4-FFF2-40B4-BE49-F238E27FC236}">
                <a16:creationId xmlns:a16="http://schemas.microsoft.com/office/drawing/2014/main" id="{1A92E35A-4ACB-402A-B981-70E09130118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15" t="54411" r="8066" b="28002"/>
          <a:stretch/>
        </p:blipFill>
        <p:spPr>
          <a:xfrm>
            <a:off x="316354" y="3885872"/>
            <a:ext cx="2350130" cy="1123807"/>
          </a:xfrm>
          <a:prstGeom prst="rect">
            <a:avLst/>
          </a:prstGeom>
        </p:spPr>
      </p:pic>
      <p:sp>
        <p:nvSpPr>
          <p:cNvPr id="44" name="pie-title-d-attn">
            <a:extLst>
              <a:ext uri="{FF2B5EF4-FFF2-40B4-BE49-F238E27FC236}">
                <a16:creationId xmlns:a16="http://schemas.microsoft.com/office/drawing/2014/main" id="{EF42CF0D-2FCD-4F0D-9C00-E72CA5BF31EF}"/>
              </a:ext>
            </a:extLst>
          </p:cNvPr>
          <p:cNvSpPr txBox="1"/>
          <p:nvPr/>
        </p:nvSpPr>
        <p:spPr>
          <a:xfrm>
            <a:off x="-268397" y="3747906"/>
            <a:ext cx="271780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b="1" noProof="1">
                <a:solidFill>
                  <a:srgbClr val="262626"/>
                </a:solidFill>
                <a:latin typeface="微软雅黑"/>
                <a:ea typeface="微软雅黑"/>
              </a:rPr>
              <a:t>D · Attention（20.0%）</a:t>
            </a:r>
            <a:endParaRPr lang="en-US" sz="900" noProof="1"/>
          </a:p>
        </p:txBody>
      </p:sp>
      <p:sp>
        <p:nvSpPr>
          <p:cNvPr id="41" name="pie-title-p-moe">
            <a:extLst>
              <a:ext uri="{FF2B5EF4-FFF2-40B4-BE49-F238E27FC236}">
                <a16:creationId xmlns:a16="http://schemas.microsoft.com/office/drawing/2014/main" id="{B7ECFC09-0B01-42DF-B84B-43669633CD51}"/>
              </a:ext>
            </a:extLst>
          </p:cNvPr>
          <p:cNvSpPr txBox="1"/>
          <p:nvPr/>
        </p:nvSpPr>
        <p:spPr>
          <a:xfrm>
            <a:off x="1880900" y="2547117"/>
            <a:ext cx="271780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b="1" noProof="1">
                <a:solidFill>
                  <a:srgbClr val="262626"/>
                </a:solidFill>
                <a:latin typeface="微软雅黑"/>
                <a:ea typeface="微软雅黑"/>
              </a:rPr>
              <a:t>P · MoE（50.6%）</a:t>
            </a:r>
            <a:endParaRPr lang="en-US" sz="900" noProof="1"/>
          </a:p>
        </p:txBody>
      </p:sp>
      <p:sp>
        <p:nvSpPr>
          <p:cNvPr id="47" name="pie-title-d-moe">
            <a:extLst>
              <a:ext uri="{FF2B5EF4-FFF2-40B4-BE49-F238E27FC236}">
                <a16:creationId xmlns:a16="http://schemas.microsoft.com/office/drawing/2014/main" id="{EF0DD825-8B2D-4152-A1D5-040CC4233478}"/>
              </a:ext>
            </a:extLst>
          </p:cNvPr>
          <p:cNvSpPr txBox="1"/>
          <p:nvPr/>
        </p:nvSpPr>
        <p:spPr>
          <a:xfrm>
            <a:off x="1907744" y="3791598"/>
            <a:ext cx="271780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b="1" noProof="1">
                <a:solidFill>
                  <a:srgbClr val="262626"/>
                </a:solidFill>
                <a:latin typeface="微软雅黑"/>
                <a:ea typeface="微软雅黑"/>
              </a:rPr>
              <a:t>D · MoE（47.9%）</a:t>
            </a:r>
            <a:endParaRPr lang="en-US" sz="900" noProof="1"/>
          </a:p>
        </p:txBody>
      </p:sp>
      <p:sp>
        <p:nvSpPr>
          <p:cNvPr id="37" name="pie-legend">
            <a:extLst>
              <a:ext uri="{FF2B5EF4-FFF2-40B4-BE49-F238E27FC236}">
                <a16:creationId xmlns:a16="http://schemas.microsoft.com/office/drawing/2014/main" id="{4FA41C38-24E8-4C85-A05E-A244668AE097}"/>
              </a:ext>
            </a:extLst>
          </p:cNvPr>
          <p:cNvSpPr txBox="1"/>
          <p:nvPr/>
        </p:nvSpPr>
        <p:spPr>
          <a:xfrm>
            <a:off x="2886077" y="2326787"/>
            <a:ext cx="2082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800" b="1" noProof="1">
                <a:solidFill>
                  <a:srgbClr val="2563EB"/>
                </a:solidFill>
                <a:latin typeface="微软雅黑"/>
                <a:ea typeface="微软雅黑"/>
              </a:rPr>
              <a:t>■ 计算 </a:t>
            </a:r>
            <a:r>
              <a:rPr lang="en-US" sz="800" b="1" noProof="1">
                <a:solidFill>
                  <a:srgbClr val="0C91B4"/>
                </a:solidFill>
                <a:latin typeface="微软雅黑"/>
                <a:ea typeface="微软雅黑"/>
              </a:rPr>
              <a:t>■ </a:t>
            </a:r>
            <a:r>
              <a:rPr lang="en-US" sz="800" b="1" noProof="1">
                <a:solidFill>
                  <a:srgbClr val="2CA0BE"/>
                </a:solidFill>
                <a:latin typeface="微软雅黑"/>
                <a:ea typeface="微软雅黑"/>
              </a:rPr>
              <a:t>访存</a:t>
            </a:r>
            <a:r>
              <a:rPr lang="en-US" sz="800" b="1" noProof="1">
                <a:solidFill>
                  <a:srgbClr val="0C91B4"/>
                </a:solidFill>
                <a:latin typeface="微软雅黑"/>
                <a:ea typeface="微软雅黑"/>
              </a:rPr>
              <a:t> </a:t>
            </a:r>
            <a:r>
              <a:rPr lang="en-US" sz="800" b="1" noProof="1">
                <a:solidFill>
                  <a:srgbClr val="E9590F"/>
                </a:solidFill>
                <a:latin typeface="微软雅黑"/>
                <a:ea typeface="微软雅黑"/>
              </a:rPr>
              <a:t>■ 通信 </a:t>
            </a:r>
            <a:endParaRPr lang="en-US" sz="800" b="1" noProof="1">
              <a:solidFill>
                <a:srgbClr val="E9590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31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8" name="组合 317">
            <a:extLst>
              <a:ext uri="{FF2B5EF4-FFF2-40B4-BE49-F238E27FC236}">
                <a16:creationId xmlns:a16="http://schemas.microsoft.com/office/drawing/2014/main" id="{190DD926-055A-4C01-ACFF-D656B227D4CE}"/>
              </a:ext>
            </a:extLst>
          </p:cNvPr>
          <p:cNvGrpSpPr/>
          <p:nvPr/>
        </p:nvGrpSpPr>
        <p:grpSpPr>
          <a:xfrm>
            <a:off x="262528" y="1197212"/>
            <a:ext cx="5058772" cy="5432188"/>
            <a:chOff x="2359219" y="1643545"/>
            <a:chExt cx="4765479" cy="5043177"/>
          </a:xfrm>
        </p:grpSpPr>
        <p:sp>
          <p:nvSpPr>
            <p:cNvPr id="319" name="矩形 127">
              <a:extLst>
                <a:ext uri="{FF2B5EF4-FFF2-40B4-BE49-F238E27FC236}">
                  <a16:creationId xmlns:a16="http://schemas.microsoft.com/office/drawing/2014/main" id="{2F3EDAD2-D0A5-4A8A-AF1D-A8EEBAD275E6}"/>
                </a:ext>
              </a:extLst>
            </p:cNvPr>
            <p:cNvSpPr/>
            <p:nvPr/>
          </p:nvSpPr>
          <p:spPr>
            <a:xfrm>
              <a:off x="2359219" y="1647570"/>
              <a:ext cx="4761052" cy="5035128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320" name="直接连接符 128">
              <a:extLst>
                <a:ext uri="{FF2B5EF4-FFF2-40B4-BE49-F238E27FC236}">
                  <a16:creationId xmlns:a16="http://schemas.microsoft.com/office/drawing/2014/main" id="{7DC7112F-1717-4A86-9E5A-44120A143D28}"/>
                </a:ext>
              </a:extLst>
            </p:cNvPr>
            <p:cNvCxnSpPr/>
            <p:nvPr/>
          </p:nvCxnSpPr>
          <p:spPr>
            <a:xfrm>
              <a:off x="2359219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1" name="直接连接符 129">
              <a:extLst>
                <a:ext uri="{FF2B5EF4-FFF2-40B4-BE49-F238E27FC236}">
                  <a16:creationId xmlns:a16="http://schemas.microsoft.com/office/drawing/2014/main" id="{56EB34C5-CD1C-44F6-9686-1657529DC43D}"/>
                </a:ext>
              </a:extLst>
            </p:cNvPr>
            <p:cNvCxnSpPr/>
            <p:nvPr/>
          </p:nvCxnSpPr>
          <p:spPr>
            <a:xfrm>
              <a:off x="2359219" y="6678673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2" name="直接连接符 130">
              <a:extLst>
                <a:ext uri="{FF2B5EF4-FFF2-40B4-BE49-F238E27FC236}">
                  <a16:creationId xmlns:a16="http://schemas.microsoft.com/office/drawing/2014/main" id="{90144451-06E3-41A0-BA72-85173B815D78}"/>
                </a:ext>
              </a:extLst>
            </p:cNvPr>
            <p:cNvCxnSpPr/>
            <p:nvPr/>
          </p:nvCxnSpPr>
          <p:spPr>
            <a:xfrm>
              <a:off x="6929674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3" name="直接连接符 131">
              <a:extLst>
                <a:ext uri="{FF2B5EF4-FFF2-40B4-BE49-F238E27FC236}">
                  <a16:creationId xmlns:a16="http://schemas.microsoft.com/office/drawing/2014/main" id="{CCDBBDB5-6E13-4555-916B-45BA18213275}"/>
                </a:ext>
              </a:extLst>
            </p:cNvPr>
            <p:cNvCxnSpPr/>
            <p:nvPr/>
          </p:nvCxnSpPr>
          <p:spPr>
            <a:xfrm flipH="1">
              <a:off x="7119869" y="1643545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4" name="直接连接符 132">
              <a:extLst>
                <a:ext uri="{FF2B5EF4-FFF2-40B4-BE49-F238E27FC236}">
                  <a16:creationId xmlns:a16="http://schemas.microsoft.com/office/drawing/2014/main" id="{CC398C22-5201-4525-86D4-7BA38E7D5B88}"/>
                </a:ext>
              </a:extLst>
            </p:cNvPr>
            <p:cNvCxnSpPr/>
            <p:nvPr/>
          </p:nvCxnSpPr>
          <p:spPr>
            <a:xfrm flipH="1">
              <a:off x="2360159" y="1643545"/>
              <a:ext cx="668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5" name="直接连接符 133">
              <a:extLst>
                <a:ext uri="{FF2B5EF4-FFF2-40B4-BE49-F238E27FC236}">
                  <a16:creationId xmlns:a16="http://schemas.microsoft.com/office/drawing/2014/main" id="{0946C49C-4CB9-45A4-9E6F-2AB54F613247}"/>
                </a:ext>
              </a:extLst>
            </p:cNvPr>
            <p:cNvCxnSpPr/>
            <p:nvPr/>
          </p:nvCxnSpPr>
          <p:spPr>
            <a:xfrm flipH="1">
              <a:off x="2360826" y="5892869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6" name="直接连接符 134">
              <a:extLst>
                <a:ext uri="{FF2B5EF4-FFF2-40B4-BE49-F238E27FC236}">
                  <a16:creationId xmlns:a16="http://schemas.microsoft.com/office/drawing/2014/main" id="{0F7365A3-6268-4D00-8FF5-20DD24158C9C}"/>
                </a:ext>
              </a:extLst>
            </p:cNvPr>
            <p:cNvCxnSpPr/>
            <p:nvPr/>
          </p:nvCxnSpPr>
          <p:spPr>
            <a:xfrm flipH="1">
              <a:off x="7119642" y="5905090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7" name="直接连接符 135">
              <a:extLst>
                <a:ext uri="{FF2B5EF4-FFF2-40B4-BE49-F238E27FC236}">
                  <a16:creationId xmlns:a16="http://schemas.microsoft.com/office/drawing/2014/main" id="{506FF6BF-6E40-4ACF-B34F-63D63A476FD3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grpSp>
        <p:nvGrpSpPr>
          <p:cNvPr id="289" name="组合 288">
            <a:extLst>
              <a:ext uri="{FF2B5EF4-FFF2-40B4-BE49-F238E27FC236}">
                <a16:creationId xmlns:a16="http://schemas.microsoft.com/office/drawing/2014/main" id="{B25BEEFE-ACE7-4749-86B1-D4BFC192D41D}"/>
              </a:ext>
            </a:extLst>
          </p:cNvPr>
          <p:cNvGrpSpPr/>
          <p:nvPr/>
        </p:nvGrpSpPr>
        <p:grpSpPr>
          <a:xfrm>
            <a:off x="5402704" y="1197212"/>
            <a:ext cx="6525296" cy="2273392"/>
            <a:chOff x="2359219" y="1643545"/>
            <a:chExt cx="4765479" cy="5043177"/>
          </a:xfrm>
        </p:grpSpPr>
        <p:sp>
          <p:nvSpPr>
            <p:cNvPr id="290" name="矩形 127">
              <a:extLst>
                <a:ext uri="{FF2B5EF4-FFF2-40B4-BE49-F238E27FC236}">
                  <a16:creationId xmlns:a16="http://schemas.microsoft.com/office/drawing/2014/main" id="{73501B13-BC7B-4FB4-B9F9-39AEDD1621EA}"/>
                </a:ext>
              </a:extLst>
            </p:cNvPr>
            <p:cNvSpPr/>
            <p:nvPr/>
          </p:nvSpPr>
          <p:spPr>
            <a:xfrm>
              <a:off x="2359219" y="1647570"/>
              <a:ext cx="4761052" cy="5035128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291" name="直接连接符 128">
              <a:extLst>
                <a:ext uri="{FF2B5EF4-FFF2-40B4-BE49-F238E27FC236}">
                  <a16:creationId xmlns:a16="http://schemas.microsoft.com/office/drawing/2014/main" id="{085A30EB-CCEB-4075-9C96-75819C52F686}"/>
                </a:ext>
              </a:extLst>
            </p:cNvPr>
            <p:cNvCxnSpPr/>
            <p:nvPr/>
          </p:nvCxnSpPr>
          <p:spPr>
            <a:xfrm>
              <a:off x="2359219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2" name="直接连接符 129">
              <a:extLst>
                <a:ext uri="{FF2B5EF4-FFF2-40B4-BE49-F238E27FC236}">
                  <a16:creationId xmlns:a16="http://schemas.microsoft.com/office/drawing/2014/main" id="{1B1275A8-1409-4A7F-AD0A-9E2DE191C4F8}"/>
                </a:ext>
              </a:extLst>
            </p:cNvPr>
            <p:cNvCxnSpPr/>
            <p:nvPr/>
          </p:nvCxnSpPr>
          <p:spPr>
            <a:xfrm>
              <a:off x="2359219" y="6678673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3" name="直接连接符 130">
              <a:extLst>
                <a:ext uri="{FF2B5EF4-FFF2-40B4-BE49-F238E27FC236}">
                  <a16:creationId xmlns:a16="http://schemas.microsoft.com/office/drawing/2014/main" id="{0085E02A-18C3-4268-9692-CF3A6A4EBDF4}"/>
                </a:ext>
              </a:extLst>
            </p:cNvPr>
            <p:cNvCxnSpPr/>
            <p:nvPr/>
          </p:nvCxnSpPr>
          <p:spPr>
            <a:xfrm>
              <a:off x="6929674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4" name="直接连接符 131">
              <a:extLst>
                <a:ext uri="{FF2B5EF4-FFF2-40B4-BE49-F238E27FC236}">
                  <a16:creationId xmlns:a16="http://schemas.microsoft.com/office/drawing/2014/main" id="{E41EC8AB-3391-46FC-B6C2-7330D72DA0FE}"/>
                </a:ext>
              </a:extLst>
            </p:cNvPr>
            <p:cNvCxnSpPr/>
            <p:nvPr/>
          </p:nvCxnSpPr>
          <p:spPr>
            <a:xfrm flipH="1">
              <a:off x="7119869" y="1643545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5" name="直接连接符 132">
              <a:extLst>
                <a:ext uri="{FF2B5EF4-FFF2-40B4-BE49-F238E27FC236}">
                  <a16:creationId xmlns:a16="http://schemas.microsoft.com/office/drawing/2014/main" id="{FB0374A5-A0FE-4778-BABD-30E9BE35CE23}"/>
                </a:ext>
              </a:extLst>
            </p:cNvPr>
            <p:cNvCxnSpPr/>
            <p:nvPr/>
          </p:nvCxnSpPr>
          <p:spPr>
            <a:xfrm flipH="1">
              <a:off x="2360159" y="1643545"/>
              <a:ext cx="668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6" name="直接连接符 133">
              <a:extLst>
                <a:ext uri="{FF2B5EF4-FFF2-40B4-BE49-F238E27FC236}">
                  <a16:creationId xmlns:a16="http://schemas.microsoft.com/office/drawing/2014/main" id="{88C794AF-2C4D-45EE-832B-A8AC1B7EA3CE}"/>
                </a:ext>
              </a:extLst>
            </p:cNvPr>
            <p:cNvCxnSpPr/>
            <p:nvPr/>
          </p:nvCxnSpPr>
          <p:spPr>
            <a:xfrm flipH="1">
              <a:off x="2360826" y="5892869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7" name="直接连接符 134">
              <a:extLst>
                <a:ext uri="{FF2B5EF4-FFF2-40B4-BE49-F238E27FC236}">
                  <a16:creationId xmlns:a16="http://schemas.microsoft.com/office/drawing/2014/main" id="{7B9AE284-506C-4B2A-BE41-913DF36055B7}"/>
                </a:ext>
              </a:extLst>
            </p:cNvPr>
            <p:cNvCxnSpPr/>
            <p:nvPr/>
          </p:nvCxnSpPr>
          <p:spPr>
            <a:xfrm flipH="1">
              <a:off x="7119642" y="5905090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8" name="直接连接符 135">
              <a:extLst>
                <a:ext uri="{FF2B5EF4-FFF2-40B4-BE49-F238E27FC236}">
                  <a16:creationId xmlns:a16="http://schemas.microsoft.com/office/drawing/2014/main" id="{8CA1D751-2C3B-4C77-A2A3-1658439F1EF5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sp>
        <p:nvSpPr>
          <p:cNvPr id="80" name="标题 1">
            <a:extLst>
              <a:ext uri="{FF2B5EF4-FFF2-40B4-BE49-F238E27FC236}">
                <a16:creationId xmlns:a16="http://schemas.microsoft.com/office/drawing/2014/main" id="{4FA8E6CE-540B-41A0-B921-FBFD267B2A0C}"/>
              </a:ext>
            </a:extLst>
          </p:cNvPr>
          <p:cNvSpPr txBox="1"/>
          <p:nvPr/>
        </p:nvSpPr>
        <p:spPr bwMode="auto">
          <a:xfrm>
            <a:off x="67966" y="80642"/>
            <a:ext cx="12056068" cy="550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8008" tIns="39004" rIns="78008" bIns="39004" numCol="1" anchor="ctr" anchorCtr="0" compatLnSpc="1"/>
          <a:lstStyle>
            <a:lvl1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  <a:lvl2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2pPr>
            <a:lvl3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3pPr>
            <a:lvl4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4pPr>
            <a:lvl5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5pPr>
            <a:lvl6pPr marL="455930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6pPr>
            <a:lvl7pPr marL="911860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7pPr>
            <a:lvl8pPr marL="1368425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8pPr>
            <a:lvl9pPr marL="1824355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9pPr>
          </a:lstStyle>
          <a:p>
            <a:pPr defTabSz="1185706" eaLnBrk="1" fontAlgn="auto" hangingPunct="1">
              <a:lnSpc>
                <a:spcPts val="3429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 </a:t>
            </a:r>
            <a:r>
              <a:rPr lang="zh-CN" altLang="en-US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投机推理：</a:t>
            </a:r>
            <a:r>
              <a:rPr lang="en-US" altLang="zh-CN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Recurrent KDA Decoding </a:t>
            </a:r>
            <a:r>
              <a:rPr lang="zh-CN" altLang="en-US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通过重计算，大幅节省</a:t>
            </a:r>
            <a:r>
              <a:rPr lang="en-US" altLang="zh-CN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endParaRPr lang="zh-CN" altLang="en-US" sz="1999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文本框 283">
            <a:extLst>
              <a:ext uri="{FF2B5EF4-FFF2-40B4-BE49-F238E27FC236}">
                <a16:creationId xmlns:a16="http://schemas.microsoft.com/office/drawing/2014/main" id="{FE98DED3-C0C9-4A97-B0A3-EE3B55230EEE}"/>
              </a:ext>
            </a:extLst>
          </p:cNvPr>
          <p:cNvSpPr txBox="1"/>
          <p:nvPr/>
        </p:nvSpPr>
        <p:spPr>
          <a:xfrm>
            <a:off x="1271387" y="1106640"/>
            <a:ext cx="3029027" cy="276891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defTabSz="914034">
              <a:defRPr/>
            </a:pPr>
            <a:r>
              <a:rPr kumimoji="1"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 </a:t>
            </a:r>
            <a:r>
              <a:rPr kumimoji="1"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投机推理 </a:t>
            </a:r>
            <a:r>
              <a:rPr kumimoji="1"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 </a:t>
            </a:r>
            <a:r>
              <a:rPr kumimoji="1"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 </a:t>
            </a:r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A284DE64-C4E8-436B-B237-6309BFD759BA}"/>
              </a:ext>
            </a:extLst>
          </p:cNvPr>
          <p:cNvSpPr txBox="1"/>
          <p:nvPr/>
        </p:nvSpPr>
        <p:spPr>
          <a:xfrm>
            <a:off x="6564010" y="1063047"/>
            <a:ext cx="4002854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 </a:t>
            </a:r>
            <a:r>
              <a:rPr kumimoji="1"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投机推理 </a:t>
            </a:r>
            <a:r>
              <a:rPr kumimoji="1"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KDA</a:t>
            </a:r>
            <a:r>
              <a:rPr kumimoji="1"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回滚方案</a:t>
            </a:r>
          </a:p>
        </p:txBody>
      </p:sp>
      <p:graphicFrame>
        <p:nvGraphicFramePr>
          <p:cNvPr id="50" name="表格 49">
            <a:extLst>
              <a:ext uri="{FF2B5EF4-FFF2-40B4-BE49-F238E27FC236}">
                <a16:creationId xmlns:a16="http://schemas.microsoft.com/office/drawing/2014/main" id="{8F7E9349-C10A-43E6-A53E-52619AF91F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6024988"/>
              </p:ext>
            </p:extLst>
          </p:nvPr>
        </p:nvGraphicFramePr>
        <p:xfrm>
          <a:off x="845489" y="3767305"/>
          <a:ext cx="3773004" cy="2545751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1071738">
                  <a:extLst>
                    <a:ext uri="{9D8B030D-6E8A-4147-A177-3AD203B41FA5}">
                      <a16:colId xmlns:a16="http://schemas.microsoft.com/office/drawing/2014/main" val="303149072"/>
                    </a:ext>
                  </a:extLst>
                </a:gridCol>
                <a:gridCol w="900422">
                  <a:extLst>
                    <a:ext uri="{9D8B030D-6E8A-4147-A177-3AD203B41FA5}">
                      <a16:colId xmlns:a16="http://schemas.microsoft.com/office/drawing/2014/main" val="2416039323"/>
                    </a:ext>
                  </a:extLst>
                </a:gridCol>
                <a:gridCol w="900422">
                  <a:extLst>
                    <a:ext uri="{9D8B030D-6E8A-4147-A177-3AD203B41FA5}">
                      <a16:colId xmlns:a16="http://schemas.microsoft.com/office/drawing/2014/main" val="1476422933"/>
                    </a:ext>
                  </a:extLst>
                </a:gridCol>
                <a:gridCol w="900422">
                  <a:extLst>
                    <a:ext uri="{9D8B030D-6E8A-4147-A177-3AD203B41FA5}">
                      <a16:colId xmlns:a16="http://schemas.microsoft.com/office/drawing/2014/main" val="3755375723"/>
                    </a:ext>
                  </a:extLst>
                </a:gridCol>
              </a:tblGrid>
              <a:tr h="37342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分类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全量缓存</a:t>
                      </a:r>
                      <a:endParaRPr lang="en-US" sz="1100" kern="1200" dirty="0">
                        <a:solidFill>
                          <a:srgbClr val="0F1115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重计算</a:t>
                      </a:r>
                      <a:endParaRPr lang="en-US" sz="1100" kern="1200" dirty="0">
                        <a:solidFill>
                          <a:srgbClr val="0F1115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节省显存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8086143"/>
                  </a:ext>
                </a:extLst>
              </a:tr>
              <a:tr h="37342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草稿 </a:t>
                      </a:r>
                      <a:r>
                        <a:rPr lang="en-US" altLang="zh-CN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MLA KV</a:t>
                      </a:r>
                      <a:endParaRPr lang="en-US" sz="1100" kern="1200" dirty="0">
                        <a:solidFill>
                          <a:srgbClr val="0F1115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37 KB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37 KB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-</a:t>
                      </a:r>
                      <a:endParaRPr lang="zh-CN" altLang="en-US" sz="11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0302126"/>
                  </a:ext>
                </a:extLst>
              </a:tr>
              <a:tr h="25615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主模型 </a:t>
                      </a:r>
                      <a:r>
                        <a:rPr lang="en-US" altLang="zh-CN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MLA KV</a:t>
                      </a:r>
                      <a:endParaRPr lang="en-US" sz="1100" kern="1200" dirty="0">
                        <a:solidFill>
                          <a:srgbClr val="0F1115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162 KB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162 KB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-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5710607"/>
                  </a:ext>
                </a:extLst>
              </a:tr>
              <a:tr h="41557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KDA State</a:t>
                      </a:r>
                      <a:endParaRPr lang="en-US" sz="1100" kern="1200" dirty="0">
                        <a:solidFill>
                          <a:srgbClr val="0F1115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b="1" dirty="0">
                          <a:solidFill>
                            <a:srgbClr val="C0020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1.2 GB</a:t>
                      </a:r>
                      <a:endParaRPr lang="en-US" altLang="zh-CN" sz="1100" kern="1200" dirty="0">
                        <a:solidFill>
                          <a:srgbClr val="0F1115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b="1" kern="1200" dirty="0">
                          <a:solidFill>
                            <a:srgbClr val="C0020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0.2 GB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b="1" kern="12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81.7%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603550"/>
                  </a:ext>
                </a:extLst>
              </a:tr>
              <a:tr h="415577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Correction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69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-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10 MB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-</a:t>
                      </a:r>
                      <a:endParaRPr lang="zh-CN" altLang="en-US" sz="11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4860885"/>
                  </a:ext>
                </a:extLst>
              </a:tr>
              <a:tr h="415577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Key +</a:t>
                      </a:r>
                      <a:r>
                        <a:rPr lang="en-US" altLang="zh-CN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Gate</a:t>
                      </a:r>
                      <a:endParaRPr lang="en-US" sz="1100" kern="1200" dirty="0">
                        <a:solidFill>
                          <a:srgbClr val="0F1115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69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-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69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10 MB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-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7693905"/>
                  </a:ext>
                </a:extLst>
              </a:tr>
              <a:tr h="2960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合计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69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~1</a:t>
                      </a:r>
                      <a:r>
                        <a:rPr lang="en-US" altLang="zh-CN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.2 GB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kern="1200" dirty="0">
                          <a:solidFill>
                            <a:srgbClr val="0F1115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~0.22 GB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69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b="1" kern="12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81.6%</a:t>
                      </a:r>
                    </a:p>
                  </a:txBody>
                  <a:tcPr marL="19138" marR="19138" marT="19138" marB="191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0560783"/>
                  </a:ext>
                </a:extLst>
              </a:tr>
            </a:tbl>
          </a:graphicData>
        </a:graphic>
      </p:graphicFrame>
      <p:sp>
        <p:nvSpPr>
          <p:cNvPr id="307" name="矩形 306">
            <a:extLst>
              <a:ext uri="{FF2B5EF4-FFF2-40B4-BE49-F238E27FC236}">
                <a16:creationId xmlns:a16="http://schemas.microsoft.com/office/drawing/2014/main" id="{9ACFBEFC-D4B7-4D24-97CB-0F88DB94B29F}"/>
              </a:ext>
            </a:extLst>
          </p:cNvPr>
          <p:cNvSpPr/>
          <p:nvPr/>
        </p:nvSpPr>
        <p:spPr>
          <a:xfrm>
            <a:off x="206167" y="599377"/>
            <a:ext cx="809292" cy="425186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9" tIns="35949" rIns="35949" bIns="35949" numCol="1" anchor="ctr">
            <a:noAutofit/>
          </a:bodyPr>
          <a:lstStyle/>
          <a:p>
            <a:pPr algn="ctr" defTabSz="1718257"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启发</a:t>
            </a:r>
            <a:endParaRPr lang="en-US" altLang="zh-CN" sz="1599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矩形 307">
            <a:extLst>
              <a:ext uri="{FF2B5EF4-FFF2-40B4-BE49-F238E27FC236}">
                <a16:creationId xmlns:a16="http://schemas.microsoft.com/office/drawing/2014/main" id="{3EE9DFE0-0180-4ACA-A7BD-2DCB70CC6411}"/>
              </a:ext>
            </a:extLst>
          </p:cNvPr>
          <p:cNvSpPr/>
          <p:nvPr/>
        </p:nvSpPr>
        <p:spPr>
          <a:xfrm>
            <a:off x="1015459" y="592972"/>
            <a:ext cx="10946129" cy="410752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913399">
              <a:lnSpc>
                <a:spcPct val="130000"/>
              </a:lnSpc>
              <a:defRPr/>
            </a:pP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对于混合线性模型的投机推理，拒绝采样后通过重计算恢复线性层 </a:t>
            </a:r>
            <a:r>
              <a:rPr lang="en-US" altLang="zh-CN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Recurrent State</a:t>
            </a: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，减少 </a:t>
            </a:r>
            <a:r>
              <a:rPr lang="en-US" altLang="zh-CN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80% </a:t>
            </a: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冗余缓存，显著降低显存压力</a:t>
            </a:r>
            <a:endParaRPr lang="en-US" altLang="zh-CN" sz="1399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文本框 308">
            <a:extLst>
              <a:ext uri="{FF2B5EF4-FFF2-40B4-BE49-F238E27FC236}">
                <a16:creationId xmlns:a16="http://schemas.microsoft.com/office/drawing/2014/main" id="{BFDC104D-4657-401A-B8E8-2CC2505BB51A}"/>
              </a:ext>
            </a:extLst>
          </p:cNvPr>
          <p:cNvSpPr txBox="1"/>
          <p:nvPr/>
        </p:nvSpPr>
        <p:spPr>
          <a:xfrm>
            <a:off x="285235" y="1457292"/>
            <a:ext cx="4829038" cy="2142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509" indent="-228509" defTabSz="914034">
              <a:lnSpc>
                <a:spcPct val="150000"/>
              </a:lnSpc>
              <a:buFontTx/>
              <a:buAutoNum type="arabicPeriod"/>
              <a:defRPr/>
            </a:pP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投机推理，显存占用 </a:t>
            </a:r>
            <a:r>
              <a:rPr lang="en-US" altLang="zh-CN" sz="1000" b="1" dirty="0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~220MB/token</a:t>
            </a:r>
          </a:p>
          <a:p>
            <a:pPr marL="228509" indent="-228509" defTabSz="914034">
              <a:lnSpc>
                <a:spcPct val="150000"/>
              </a:lnSpc>
              <a:buFontTx/>
              <a:buAutoNum type="arabicPeriod"/>
              <a:defRPr/>
            </a:pP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造成该现状的主要原因是：</a:t>
            </a:r>
            <a:endParaRPr lang="en-US" altLang="zh-CN" sz="1000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40000" lvl="1" indent="-228600" defTabSz="914034">
              <a:lnSpc>
                <a:spcPct val="150000"/>
              </a:lnSpc>
              <a:buFont typeface="+mj-ea"/>
              <a:buAutoNum type="circleNumDbPlain"/>
              <a:defRPr/>
            </a:pP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拒绝采样后，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KDA State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需要回滚到 </a:t>
            </a:r>
            <a:r>
              <a:rPr lang="zh-CN" altLang="en-US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接收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位置，但主模型验证后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KDA State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已更新到最后一个草稿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位置</a:t>
            </a:r>
            <a:endParaRPr lang="en-US" altLang="zh-CN" sz="1000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40000" lvl="1" indent="-228600" defTabSz="914034">
              <a:lnSpc>
                <a:spcPct val="150000"/>
              </a:lnSpc>
              <a:buFont typeface="+mj-ea"/>
              <a:buAutoNum type="circleNumDbPlain"/>
              <a:defRPr/>
            </a:pP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为恢复正确的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KDA State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，当前 </a:t>
            </a:r>
            <a:r>
              <a:rPr lang="en-US" altLang="zh-CN" sz="1000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-ascend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，需要缓存</a:t>
            </a:r>
            <a:r>
              <a:rPr lang="zh-CN" altLang="en-US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所有草稿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KDA State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；在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步投机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BS32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场景下，需要 </a:t>
            </a:r>
            <a:r>
              <a:rPr lang="en-US" altLang="zh-CN" sz="1000" b="1" dirty="0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38.4 GB</a:t>
            </a:r>
            <a:r>
              <a:rPr lang="en-US" altLang="zh-CN" sz="1000" dirty="0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显存</a:t>
            </a:r>
            <a:endParaRPr lang="en-US" altLang="zh-CN" sz="1000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509" indent="-228509" defTabSz="914034">
              <a:lnSpc>
                <a:spcPct val="150000"/>
              </a:lnSpc>
              <a:buFontTx/>
              <a:buAutoNum type="arabicPeriod"/>
              <a:defRPr/>
            </a:pP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技术报告提出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Recurrent KDA Decoding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通过</a:t>
            </a:r>
            <a:r>
              <a:rPr lang="zh-CN" altLang="en-US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重计算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，重建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KDA State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，避免全量缓存；</a:t>
            </a:r>
            <a:r>
              <a:rPr lang="en-US" altLang="zh-CN" sz="1000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000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-ascend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已提出类似方案，理论分析可降低 </a:t>
            </a:r>
            <a:r>
              <a:rPr lang="en-US" altLang="zh-CN" sz="1000" b="1" dirty="0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80%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冗余缓存</a:t>
            </a:r>
            <a:endParaRPr lang="en-US" altLang="zh-CN" sz="1000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4" name="文本框 343">
            <a:extLst>
              <a:ext uri="{FF2B5EF4-FFF2-40B4-BE49-F238E27FC236}">
                <a16:creationId xmlns:a16="http://schemas.microsoft.com/office/drawing/2014/main" id="{22FD27F3-94B8-48EA-9F36-03B1C782D3C8}"/>
              </a:ext>
            </a:extLst>
          </p:cNvPr>
          <p:cNvSpPr txBox="1"/>
          <p:nvPr/>
        </p:nvSpPr>
        <p:spPr>
          <a:xfrm>
            <a:off x="287071" y="1219399"/>
            <a:ext cx="764080" cy="306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lnSpc>
                <a:spcPct val="150000"/>
              </a:lnSpc>
              <a:defRPr/>
            </a:pPr>
            <a:r>
              <a:rPr lang="zh-CN" altLang="en-US" sz="105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结论：</a:t>
            </a:r>
            <a:endParaRPr lang="en-US" altLang="zh-CN" sz="1050" b="1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5" name="文本框 344">
            <a:extLst>
              <a:ext uri="{FF2B5EF4-FFF2-40B4-BE49-F238E27FC236}">
                <a16:creationId xmlns:a16="http://schemas.microsoft.com/office/drawing/2014/main" id="{15967011-B4AB-427F-BB80-09CBF941734F}"/>
              </a:ext>
            </a:extLst>
          </p:cNvPr>
          <p:cNvSpPr txBox="1"/>
          <p:nvPr/>
        </p:nvSpPr>
        <p:spPr>
          <a:xfrm>
            <a:off x="2029390" y="3446700"/>
            <a:ext cx="1513020" cy="306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>
              <a:lnSpc>
                <a:spcPct val="150000"/>
              </a:lnSpc>
              <a:defRPr/>
            </a:pPr>
            <a:r>
              <a:rPr lang="zh-CN" altLang="en-US" sz="105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显存占用表</a:t>
            </a:r>
            <a:endParaRPr lang="en-US" altLang="zh-CN" sz="1050" b="1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16" name="组合 115">
            <a:extLst>
              <a:ext uri="{FF2B5EF4-FFF2-40B4-BE49-F238E27FC236}">
                <a16:creationId xmlns:a16="http://schemas.microsoft.com/office/drawing/2014/main" id="{E73D52D7-068B-49E2-BA2D-93A1E192CEFE}"/>
              </a:ext>
            </a:extLst>
          </p:cNvPr>
          <p:cNvGrpSpPr/>
          <p:nvPr/>
        </p:nvGrpSpPr>
        <p:grpSpPr>
          <a:xfrm>
            <a:off x="9784326" y="-5978"/>
            <a:ext cx="2401200" cy="171354"/>
            <a:chOff x="9788148" y="-7320"/>
            <a:chExt cx="2402138" cy="171421"/>
          </a:xfrm>
        </p:grpSpPr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1F69EC01-6455-48A7-A2E2-FF423C3340B6}"/>
                </a:ext>
              </a:extLst>
            </p:cNvPr>
            <p:cNvSpPr/>
            <p:nvPr/>
          </p:nvSpPr>
          <p:spPr bwMode="auto">
            <a:xfrm>
              <a:off x="11387668" y="-7320"/>
              <a:ext cx="802618" cy="171132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EB313F5C-E160-477D-826B-D529D7DCB149}"/>
                </a:ext>
              </a:extLst>
            </p:cNvPr>
            <p:cNvSpPr/>
            <p:nvPr/>
          </p:nvSpPr>
          <p:spPr bwMode="auto">
            <a:xfrm>
              <a:off x="10595890" y="-7320"/>
              <a:ext cx="802618" cy="171132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训练方案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矩形 123">
              <a:extLst>
                <a:ext uri="{FF2B5EF4-FFF2-40B4-BE49-F238E27FC236}">
                  <a16:creationId xmlns:a16="http://schemas.microsoft.com/office/drawing/2014/main" id="{38B82EB6-BFD5-4647-BB62-D56565F1879B}"/>
                </a:ext>
              </a:extLst>
            </p:cNvPr>
            <p:cNvSpPr/>
            <p:nvPr/>
          </p:nvSpPr>
          <p:spPr bwMode="auto">
            <a:xfrm>
              <a:off x="11401032" y="-2793"/>
              <a:ext cx="785036" cy="158806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昇腾适配</a:t>
              </a:r>
              <a:endParaRPr lang="en-US" altLang="zh-CN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9DB8C4C0-A3CA-4E15-A324-FD3BD5224ECC}"/>
                </a:ext>
              </a:extLst>
            </p:cNvPr>
            <p:cNvSpPr/>
            <p:nvPr/>
          </p:nvSpPr>
          <p:spPr bwMode="auto">
            <a:xfrm>
              <a:off x="9788148" y="-7031"/>
              <a:ext cx="802618" cy="171132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模型结构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文本框 3">
            <a:extLst>
              <a:ext uri="{FF2B5EF4-FFF2-40B4-BE49-F238E27FC236}">
                <a16:creationId xmlns:a16="http://schemas.microsoft.com/office/drawing/2014/main" id="{E93D2D1D-4EC0-429B-86BE-752EDDB99A27}"/>
              </a:ext>
            </a:extLst>
          </p:cNvPr>
          <p:cNvSpPr txBox="1"/>
          <p:nvPr/>
        </p:nvSpPr>
        <p:spPr>
          <a:xfrm>
            <a:off x="505224" y="6430832"/>
            <a:ext cx="4571678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kumimoji="1"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备注：每次</a:t>
            </a:r>
            <a:r>
              <a:rPr kumimoji="1"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 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缓存</a:t>
            </a:r>
            <a:r>
              <a:rPr kumimoji="1"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</a:t>
            </a:r>
            <a:r>
              <a:rPr kumimoji="1"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kumimoji="1"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MLA KV, KDA State, key/gate 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均采用</a:t>
            </a:r>
            <a:r>
              <a:rPr kumimoji="1"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BF16 </a:t>
            </a:r>
            <a:endParaRPr kumimoji="1" lang="zh-CN" altLang="en-US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7C72F24-7AB3-4F43-8BB1-50AB462A4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3895" y="1347674"/>
            <a:ext cx="6211994" cy="2045457"/>
          </a:xfrm>
          <a:prstGeom prst="rect">
            <a:avLst/>
          </a:prstGeom>
        </p:spPr>
      </p:pic>
      <p:grpSp>
        <p:nvGrpSpPr>
          <p:cNvPr id="38" name="组合 37">
            <a:extLst>
              <a:ext uri="{FF2B5EF4-FFF2-40B4-BE49-F238E27FC236}">
                <a16:creationId xmlns:a16="http://schemas.microsoft.com/office/drawing/2014/main" id="{C1F9A704-24EA-4232-A8D0-3766F7428BDE}"/>
              </a:ext>
            </a:extLst>
          </p:cNvPr>
          <p:cNvGrpSpPr/>
          <p:nvPr/>
        </p:nvGrpSpPr>
        <p:grpSpPr>
          <a:xfrm>
            <a:off x="5399673" y="3599930"/>
            <a:ext cx="6525296" cy="3029470"/>
            <a:chOff x="2359219" y="1643545"/>
            <a:chExt cx="4765479" cy="5043177"/>
          </a:xfrm>
        </p:grpSpPr>
        <p:sp>
          <p:nvSpPr>
            <p:cNvPr id="39" name="矩形 127">
              <a:extLst>
                <a:ext uri="{FF2B5EF4-FFF2-40B4-BE49-F238E27FC236}">
                  <a16:creationId xmlns:a16="http://schemas.microsoft.com/office/drawing/2014/main" id="{CFB109B1-E02C-4821-A7D5-319CB9572F45}"/>
                </a:ext>
              </a:extLst>
            </p:cNvPr>
            <p:cNvSpPr/>
            <p:nvPr/>
          </p:nvSpPr>
          <p:spPr>
            <a:xfrm>
              <a:off x="2359219" y="1647570"/>
              <a:ext cx="4761052" cy="5035128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40" name="直接连接符 128">
              <a:extLst>
                <a:ext uri="{FF2B5EF4-FFF2-40B4-BE49-F238E27FC236}">
                  <a16:creationId xmlns:a16="http://schemas.microsoft.com/office/drawing/2014/main" id="{899F845B-A212-44E6-B7B7-AFF93A0C69E1}"/>
                </a:ext>
              </a:extLst>
            </p:cNvPr>
            <p:cNvCxnSpPr/>
            <p:nvPr/>
          </p:nvCxnSpPr>
          <p:spPr>
            <a:xfrm>
              <a:off x="2359219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1" name="直接连接符 129">
              <a:extLst>
                <a:ext uri="{FF2B5EF4-FFF2-40B4-BE49-F238E27FC236}">
                  <a16:creationId xmlns:a16="http://schemas.microsoft.com/office/drawing/2014/main" id="{F6246BAF-7836-4014-AD6F-DD0A5D30C802}"/>
                </a:ext>
              </a:extLst>
            </p:cNvPr>
            <p:cNvCxnSpPr/>
            <p:nvPr/>
          </p:nvCxnSpPr>
          <p:spPr>
            <a:xfrm>
              <a:off x="2359219" y="6678673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2" name="直接连接符 130">
              <a:extLst>
                <a:ext uri="{FF2B5EF4-FFF2-40B4-BE49-F238E27FC236}">
                  <a16:creationId xmlns:a16="http://schemas.microsoft.com/office/drawing/2014/main" id="{F1F869DB-B67D-4EA1-AC16-80251C928D9D}"/>
                </a:ext>
              </a:extLst>
            </p:cNvPr>
            <p:cNvCxnSpPr/>
            <p:nvPr/>
          </p:nvCxnSpPr>
          <p:spPr>
            <a:xfrm>
              <a:off x="6929674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3" name="直接连接符 131">
              <a:extLst>
                <a:ext uri="{FF2B5EF4-FFF2-40B4-BE49-F238E27FC236}">
                  <a16:creationId xmlns:a16="http://schemas.microsoft.com/office/drawing/2014/main" id="{416C4A9C-D9C5-4914-B8FC-AAB2A1C4A840}"/>
                </a:ext>
              </a:extLst>
            </p:cNvPr>
            <p:cNvCxnSpPr/>
            <p:nvPr/>
          </p:nvCxnSpPr>
          <p:spPr>
            <a:xfrm flipH="1">
              <a:off x="7119869" y="1643545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4" name="直接连接符 132">
              <a:extLst>
                <a:ext uri="{FF2B5EF4-FFF2-40B4-BE49-F238E27FC236}">
                  <a16:creationId xmlns:a16="http://schemas.microsoft.com/office/drawing/2014/main" id="{FC4BADEB-C468-4FFC-AE84-5F5E8552398A}"/>
                </a:ext>
              </a:extLst>
            </p:cNvPr>
            <p:cNvCxnSpPr/>
            <p:nvPr/>
          </p:nvCxnSpPr>
          <p:spPr>
            <a:xfrm flipH="1">
              <a:off x="2360159" y="1643545"/>
              <a:ext cx="668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5" name="直接连接符 133">
              <a:extLst>
                <a:ext uri="{FF2B5EF4-FFF2-40B4-BE49-F238E27FC236}">
                  <a16:creationId xmlns:a16="http://schemas.microsoft.com/office/drawing/2014/main" id="{78BFEAA8-590F-4FD0-95A3-15B43853A206}"/>
                </a:ext>
              </a:extLst>
            </p:cNvPr>
            <p:cNvCxnSpPr/>
            <p:nvPr/>
          </p:nvCxnSpPr>
          <p:spPr>
            <a:xfrm flipH="1">
              <a:off x="2360826" y="5892869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6" name="直接连接符 134">
              <a:extLst>
                <a:ext uri="{FF2B5EF4-FFF2-40B4-BE49-F238E27FC236}">
                  <a16:creationId xmlns:a16="http://schemas.microsoft.com/office/drawing/2014/main" id="{447E548E-6C33-422F-8849-B1439874457A}"/>
                </a:ext>
              </a:extLst>
            </p:cNvPr>
            <p:cNvCxnSpPr/>
            <p:nvPr/>
          </p:nvCxnSpPr>
          <p:spPr>
            <a:xfrm flipH="1">
              <a:off x="7119642" y="5905090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7" name="直接连接符 135">
              <a:extLst>
                <a:ext uri="{FF2B5EF4-FFF2-40B4-BE49-F238E27FC236}">
                  <a16:creationId xmlns:a16="http://schemas.microsoft.com/office/drawing/2014/main" id="{BA94BFDC-C197-40F0-A5D3-06C616E97224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sp>
        <p:nvSpPr>
          <p:cNvPr id="48" name="文本框 47">
            <a:extLst>
              <a:ext uri="{FF2B5EF4-FFF2-40B4-BE49-F238E27FC236}">
                <a16:creationId xmlns:a16="http://schemas.microsoft.com/office/drawing/2014/main" id="{B7888829-2854-4BA2-90AF-8BB764B5911F}"/>
              </a:ext>
            </a:extLst>
          </p:cNvPr>
          <p:cNvSpPr txBox="1"/>
          <p:nvPr/>
        </p:nvSpPr>
        <p:spPr>
          <a:xfrm>
            <a:off x="6606849" y="3525925"/>
            <a:ext cx="4002854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KDA</a:t>
            </a:r>
            <a:r>
              <a:rPr kumimoji="1"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State </a:t>
            </a:r>
            <a:r>
              <a:rPr kumimoji="1"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重建公式</a:t>
            </a:r>
          </a:p>
        </p:txBody>
      </p:sp>
    </p:spTree>
    <p:extLst>
      <p:ext uri="{BB962C8B-B14F-4D97-AF65-F5344CB8AC3E}">
        <p14:creationId xmlns:p14="http://schemas.microsoft.com/office/powerpoint/2010/main" val="1984299056"/>
      </p:ext>
    </p:extLst>
  </p:cSld>
  <p:clrMapOvr>
    <a:masterClrMapping/>
  </p:clrMapOvr>
</p:sld>
</file>

<file path=ppt/theme/theme1.xml><?xml version="1.0" encoding="utf-8"?>
<a:theme xmlns:a="http://schemas.openxmlformats.org/drawingml/2006/main" name="4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1143</TotalTime>
  <Words>629</Words>
  <Application>Microsoft Office PowerPoint</Application>
  <PresentationFormat>宽屏</PresentationFormat>
  <Paragraphs>88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.AppleSystemUIFont</vt:lpstr>
      <vt:lpstr>等线</vt:lpstr>
      <vt:lpstr>等线 Light</vt:lpstr>
      <vt:lpstr>微软雅黑</vt:lpstr>
      <vt:lpstr>Arial</vt:lpstr>
      <vt:lpstr>Calibri</vt:lpstr>
      <vt:lpstr>Calibri Light</vt:lpstr>
      <vt:lpstr>4_章节页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kimi_k3_infer_insight</dc:title>
  <cp:lastModifiedBy>tongyuzhou</cp:lastModifiedBy>
  <cp:revision>223</cp:revision>
  <dcterms:modified xsi:type="dcterms:W3CDTF">2026-10-21T14:12:47Z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