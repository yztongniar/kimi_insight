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</p:sldIdLst>
  <p:sldSz cx="12192000" cy="6858000" type="custom"/>
  <p:notesSz cx="12192000" cy="6858000"/>
  <p:embeddedFontLst>
    <p:embeddedFont>
      <p:font typeface="MiSans" charset="-122" pitchFamily="34"/>
      <p:regular r:id="rId5"/>
    </p:embeddedFont>
    <p:embeddedFont>
      <p:font typeface="思源宋体" charset="-122" pitchFamily="34"/>
      <p:regular r:id="rId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ithub.com/vllm-project/vllm-ascend/pull/19087" TargetMode="Externa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ithub.com/vllm-project/vllm-ascend/pull/19087" TargetMode="Externa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556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8A8A8A"/>
                </a:solidFill>
                <a:latin typeface="MiSans"/>
                <a:ea typeface="MiSans"/>
              </a:rPr>
              <a:t>KIMI K3 · SPECULATIVE DECODING · RECOVERSSM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096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191919"/>
                </a:solidFill>
                <a:latin typeface="思源宋体"/>
                <a:ea typeface="思源宋体"/>
              </a:rPr>
              <a:t>KDA State 重建原理：一份 checkpoint + 每步三个向量，恢复任意接受前缀</a:t>
            </a:r>
            <a:endParaRPr lang="en-US" sz="2200" noProof="1"/>
          </a:p>
        </p:txBody>
      </p:sp>
      <p:sp>
        <p:nvSpPr>
          <p:cNvPr id="4" name="head-rule"/>
          <p:cNvSpPr/>
          <p:nvPr/>
        </p:nvSpPr>
        <p:spPr>
          <a:xfrm>
            <a:off x="609600" y="1193800"/>
            <a:ext cx="10972800" cy="12700"/>
          </a:xfrm>
          <a:prstGeom prst="rect">
            <a:avLst/>
          </a:prstGeom>
          <a:solidFill>
            <a:srgbClr val="E3E1DC"/>
          </a:solidFill>
          <a:ln>
            <a:noFill/>
          </a:ln>
        </p:spPr>
      </p:sp>
      <p:sp>
        <p:nvSpPr>
          <p:cNvPr id="5" name="sec01-head"/>
          <p:cNvSpPr txBox="1"/>
          <p:nvPr/>
        </p:nvSpPr>
        <p:spPr>
          <a:xfrm>
            <a:off x="609600" y="1473200"/>
            <a:ext cx="660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C2410C"/>
                </a:solidFill>
                <a:latin typeface="MiSans"/>
                <a:ea typeface="MiSans"/>
              </a:rPr>
              <a:t>01</a:t>
            </a:r>
            <a:r>
              <a:rPr lang="en-US" sz="1100" noProof="1">
                <a:solidFill>
                  <a:srgbClr val="C2410C"/>
                </a:solidFill>
                <a:latin typeface="MiSans"/>
                <a:ea typeface="MiSans"/>
              </a:rPr>
              <a:t>　</a:t>
            </a:r>
            <a:r>
              <a:rPr lang="en-US" sz="1400" noProof="1" b="1">
                <a:solidFill>
                  <a:srgbClr val="191919"/>
                </a:solidFill>
                <a:latin typeface="MiSans"/>
                <a:ea typeface="MiSans"/>
              </a:rPr>
              <a:t>原理 —— 单步递推是仿射变换</a:t>
            </a:r>
            <a:endParaRPr lang="en-US" sz="16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ec01-formula"/>
              <p:cNvSpPr txBox="1"/>
              <p:nvPr/>
            </p:nvSpPr>
            <p:spPr>
              <a:xfrm>
                <a:off x="609600" y="1803400"/>
                <a:ext cx="6604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 anchor="ctr"/>
              <a:lstStyle/>
              <a:p>
                <a:pPr algn="l">
                  <a:lnSpc>
                    <a:spcPct val="120000"/>
                  </a:lnSpc>
                </a:pPr>
                <a14:m>
                  <m:oMath>
                    <m:sSub>
                      <m:sSubPr>
                        <m:ctrlPr>
                          <a:rPr lang="en-US" sz="1600" noProof="1">
                            <a:solidFill>
                              <a:srgbClr val="191919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6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S</m:t>
                        </m:r>
                      </m:e>
                      <m:sub>
                        <m:r>
                          <a:rPr lang="en-US" sz="16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  <m:r>
                      <a:rPr lang="en-US" sz="1600" noProof="1" i="0">
                        <a:solidFill>
                          <a:srgbClr val="191919"/>
                        </a:solidFill>
                        <a:latin typeface="MiSans"/>
                      </a:rPr>
                      <m:t>=</m:t>
                    </m:r>
                    <m:sSub>
                      <m:sSubPr>
                        <m:ctrlPr>
                          <a:rPr lang="en-US" sz="1600" noProof="1">
                            <a:solidFill>
                              <a:srgbClr val="191919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6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S</m:t>
                        </m:r>
                      </m:e>
                      <m:sub>
                        <m:r>
                          <a:rPr lang="en-US" sz="16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t</m:t>
                        </m:r>
                        <m:r>
                          <a:rPr lang="en-US" sz="1600" noProof="1" i="0">
                            <a:solidFill>
                              <a:srgbClr val="191919"/>
                            </a:solidFill>
                            <a:latin typeface="MiSans"/>
                          </a:rPr>
                          <m:t>-</m:t>
                        </m:r>
                        <m:r>
                          <a:rPr lang="en-US" sz="1600" noProof="1" i="0">
                            <a:solidFill>
                              <a:srgbClr val="191919"/>
                            </a:solidFill>
                            <a:latin typeface="MiSans"/>
                          </a:rPr>
                          <m:t>1</m:t>
                        </m:r>
                      </m:sub>
                    </m:sSub>
                    <m:r>
                      <a:rPr lang="en-US" sz="1600" noProof="1" i="0">
                        <a:solidFill>
                          <a:srgbClr val="191919"/>
                        </a:solidFill>
                        <a:latin typeface="MiSans"/>
                      </a:rPr>
                      <m:t> </m:t>
                    </m:r>
                    <m:sSub>
                      <m:sSubPr>
                        <m:ctrlPr>
                          <a:rPr lang="en-US" sz="1600" noProof="1">
                            <a:solidFill>
                              <a:srgbClr val="191919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6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D</m:t>
                        </m:r>
                      </m:e>
                      <m:sub>
                        <m:r>
                          <a:rPr lang="en-US" sz="16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  <m:r>
                      <a:rPr lang="en-US" sz="1600" noProof="1" i="0">
                        <a:solidFill>
                          <a:srgbClr val="191919"/>
                        </a:solidFill>
                        <a:latin typeface="MiSans"/>
                      </a:rPr>
                      <m:t>+</m:t>
                    </m:r>
                    <m:sSub>
                      <m:sSubPr>
                        <m:ctrlPr>
                          <a:rPr lang="en-US" sz="1600" noProof="1">
                            <a:solidFill>
                              <a:srgbClr val="191919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6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u</m:t>
                        </m:r>
                      </m:e>
                      <m:sub>
                        <m:r>
                          <a:rPr lang="en-US" sz="16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  <m:r>
                      <a:rPr lang="en-US" sz="1600" noProof="1" i="0">
                        <a:solidFill>
                          <a:srgbClr val="191919"/>
                        </a:solidFill>
                        <a:latin typeface="MiSans"/>
                      </a:rPr>
                      <m:t> </m:t>
                    </m:r>
                    <m:sSubSup>
                      <m:sSubSupPr>
                        <m:ctrlPr>
                          <a:rPr lang="en-US" sz="1600" noProof="1">
                            <a:solidFill>
                              <a:srgbClr val="191919"/>
                            </a:solidFill>
                            <a:latin typeface="MiSans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600" noProof="1">
                                <a:solidFill>
                                  <a:srgbClr val="191919"/>
                                </a:solidFill>
                                <a:latin typeface="MiSans"/>
                              </a:rPr>
                            </m:ctrlPr>
                          </m:accPr>
                          <m:e>
                            <m:r>
                              <a:rPr lang="en-US" sz="1600" noProof="1" i="1">
                                <a:solidFill>
                                  <a:srgbClr val="191919"/>
                                </a:solidFill>
                                <a:latin typeface="MiSans"/>
                              </a:rPr>
                              <m:t>k</m:t>
                            </m:r>
                          </m:e>
                        </m:acc>
                      </m:e>
                      <m:sub>
                        <m:r>
                          <a:rPr lang="en-US" sz="16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t</m:t>
                        </m:r>
                      </m:sub>
                      <m:sup>
                        <m:r>
                          <m:rPr>
                            <m:scr m:val="sans-serif"/>
                          </m:rPr>
                          <a:rPr lang="en-US" sz="1600" noProof="1" i="0">
                            <a:solidFill>
                              <a:srgbClr val="191919"/>
                            </a:solidFill>
                            <a:latin typeface="MiSans"/>
                          </a:rPr>
                          <m:t>T</m:t>
                        </m:r>
                      </m:sup>
                    </m:sSubSup>
                  </m:oMath>
                </a14:m>
                <a:r>
                  <a:rPr lang="en-US" sz="1600" noProof="1"/>
                  <a:t xml:space="preserve"> </a:t>
                </a:r>
                <a:endParaRPr lang="en-US" sz="1600" noProof="1"/>
              </a:p>
            </p:txBody>
          </p:sp>
        </mc:Choice>
        <mc:Fallback xmlns="">
          <p:sp>
            <p:nvSpPr>
              <p:cNvPr id="6" name="sec01-formula"/>
              <p:cNvSpPr txBox="1"/>
              <p:nvPr/>
            </p:nvSpPr>
            <p:spPr>
              <a:xfrm>
                <a:off x="609600" y="1803400"/>
                <a:ext cx="6604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 anchor="ctr"/>
              <a:lstStyle/>
              <a:p>
                <a:pPr algn="l">
                  <a:lnSpc>
                    <a:spcPct val="120000"/>
                  </a:lnSpc>
                </a:pPr>
                <a:r>
                  <a:rPr lang="en-US" sz="1600" noProof="1">
                    <a:solidFill>
                      <a:srgbClr val="191919"/>
                    </a:solidFill>
                    <a:latin typeface="MiSans"/>
                    <a:ea typeface="MiSans"/>
                  </a:rPr>
                  <a:t>\(S_t = S_{t-1}\,D_t + u_t\,\hat{k}_t^{\mathsf{T}}\)</a:t>
                </a:r>
                <a:endParaRPr lang="en-US" sz="1600" noProof="1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sec01-note"/>
              <p:cNvSpPr txBox="1"/>
              <p:nvPr/>
            </p:nvSpPr>
            <p:spPr>
              <a:xfrm>
                <a:off x="609600" y="2209800"/>
                <a:ext cx="6604000" cy="78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50000"/>
                  </a:lnSpc>
                </a:pPr>
                <a:r>
                  <a:rPr lang="en-US" sz="1000" noProof="1">
                    <a:solidFill>
                      <a:srgbClr val="5B5B5B"/>
                    </a:solidFill>
                    <a:latin typeface="MiSans"/>
                    <a:ea typeface="MiSans"/>
                  </a:rPr>
                  <a:t>其中 </a:t>
                </a:r>
                <a14:m>
                  <m:oMath>
                    <m:sSub>
                      <m:sSubPr>
                        <m:ctrlPr>
                          <a:rPr lang="en-US" sz="1000" noProof="1">
                            <a:solidFill>
                              <a:srgbClr val="5B5B5B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000" noProof="1" i="1">
                            <a:solidFill>
                              <a:srgbClr val="5B5B5B"/>
                            </a:solidFill>
                            <a:latin typeface="MiSans"/>
                          </a:rPr>
                          <m:t>D</m:t>
                        </m:r>
                      </m:e>
                      <m:sub>
                        <m:r>
                          <a:rPr lang="en-US" sz="1000" noProof="1" i="1">
                            <a:solidFill>
                              <a:srgbClr val="5B5B5B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=</m:t>
                    </m:r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d</m:t>
                    </m:r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i</m:t>
                    </m:r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a</m:t>
                    </m:r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g</m:t>
                    </m:r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(</m:t>
                    </m:r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exp</m:t>
                    </m:r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(</m:t>
                    </m:r>
                    <m:sSub>
                      <m:sSubPr>
                        <m:ctrlPr>
                          <a:rPr lang="en-US" sz="1000" noProof="1">
                            <a:solidFill>
                              <a:srgbClr val="5B5B5B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000" noProof="1" i="0">
                            <a:solidFill>
                              <a:srgbClr val="5B5B5B"/>
                            </a:solidFill>
                            <a:latin typeface="MiSans"/>
                          </a:rPr>
                          <m:t>γ</m:t>
                        </m:r>
                      </m:e>
                      <m:sub>
                        <m:r>
                          <a:rPr lang="en-US" sz="1000" noProof="1" i="1">
                            <a:solidFill>
                              <a:srgbClr val="5B5B5B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)</m:t>
                    </m:r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)</m:t>
                    </m:r>
                  </m:oMath>
                </a14:m>
                <a:r>
                  <a:rPr lang="en-US" sz="1000" noProof="1">
                    <a:solidFill>
                      <a:srgbClr val="5B5B5B"/>
                    </a:solidFill>
                    <a:latin typeface="MiSans"/>
                    <a:ea typeface="MiSans"/>
                  </a:rPr>
                  <a:t>沿 key 维逐列衰减；</a:t>
                </a:r>
                <a14:m>
                  <m:oMath>
                    <m:sSub>
                      <m:sSubPr>
                        <m:ctrlPr>
                          <a:rPr lang="en-US" sz="1000" noProof="1">
                            <a:solidFill>
                              <a:srgbClr val="5B5B5B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000" noProof="1" i="1">
                            <a:solidFill>
                              <a:srgbClr val="5B5B5B"/>
                            </a:solidFill>
                            <a:latin typeface="MiSans"/>
                          </a:rPr>
                          <m:t>u</m:t>
                        </m:r>
                      </m:e>
                      <m:sub>
                        <m:r>
                          <a:rPr lang="en-US" sz="1000" noProof="1" i="1">
                            <a:solidFill>
                              <a:srgbClr val="5B5B5B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=</m:t>
                    </m:r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σ</m:t>
                    </m:r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(</m:t>
                    </m:r>
                    <m:sSubSup>
                      <m:sSubSupPr>
                        <m:ctrlPr>
                          <a:rPr lang="en-US" sz="1000" noProof="1">
                            <a:solidFill>
                              <a:srgbClr val="5B5B5B"/>
                            </a:solidFill>
                            <a:latin typeface="MiSans"/>
                          </a:rPr>
                        </m:ctrlPr>
                      </m:sSubSupPr>
                      <m:e>
                        <m:r>
                          <a:rPr lang="en-US" sz="1000" noProof="1" i="0">
                            <a:solidFill>
                              <a:srgbClr val="5B5B5B"/>
                            </a:solidFill>
                            <a:latin typeface="MiSans"/>
                          </a:rPr>
                          <m:t>β</m:t>
                        </m:r>
                      </m:e>
                      <m:sub>
                        <m:r>
                          <a:rPr lang="en-US" sz="1000" noProof="1" i="1">
                            <a:solidFill>
                              <a:srgbClr val="5B5B5B"/>
                            </a:solidFill>
                            <a:latin typeface="MiSans"/>
                          </a:rPr>
                          <m:t>t</m:t>
                        </m:r>
                      </m:sub>
                      <m:sup>
                        <m:r>
                          <a:rPr lang="en-US" sz="1000" noProof="1" i="0">
                            <a:solidFill>
                              <a:srgbClr val="5B5B5B"/>
                            </a:solidFill>
                            <a:latin typeface="MiSans"/>
                          </a:rPr>
                          <m:t>r</m:t>
                        </m:r>
                        <m:r>
                          <a:rPr lang="en-US" sz="1000" noProof="1" i="0">
                            <a:solidFill>
                              <a:srgbClr val="5B5B5B"/>
                            </a:solidFill>
                            <a:latin typeface="MiSans"/>
                          </a:rPr>
                          <m:t>a</m:t>
                        </m:r>
                        <m:r>
                          <a:rPr lang="en-US" sz="1000" noProof="1" i="0">
                            <a:solidFill>
                              <a:srgbClr val="5B5B5B"/>
                            </a:solidFill>
                            <a:latin typeface="MiSans"/>
                          </a:rPr>
                          <m:t>w</m:t>
                        </m:r>
                      </m:sup>
                    </m:sSubSup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)</m:t>
                    </m:r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⊙</m:t>
                    </m:r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(</m:t>
                    </m:r>
                    <m:sSub>
                      <m:sSubPr>
                        <m:ctrlPr>
                          <a:rPr lang="en-US" sz="1000" noProof="1">
                            <a:solidFill>
                              <a:srgbClr val="5B5B5B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000" noProof="1" i="1">
                            <a:solidFill>
                              <a:srgbClr val="5B5B5B"/>
                            </a:solidFill>
                            <a:latin typeface="MiSans"/>
                          </a:rPr>
                          <m:t>v</m:t>
                        </m:r>
                      </m:e>
                      <m:sub>
                        <m:r>
                          <a:rPr lang="en-US" sz="1000" noProof="1" i="1">
                            <a:solidFill>
                              <a:srgbClr val="5B5B5B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-</m:t>
                    </m:r>
                    <m:sSub>
                      <m:sSubPr>
                        <m:ctrlPr>
                          <a:rPr lang="en-US" sz="1000" noProof="1">
                            <a:solidFill>
                              <a:srgbClr val="5B5B5B"/>
                            </a:solidFill>
                            <a:latin typeface="MiSans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1000" noProof="1">
                                <a:solidFill>
                                  <a:srgbClr val="5B5B5B"/>
                                </a:solidFill>
                                <a:latin typeface="MiSans"/>
                              </a:rPr>
                            </m:ctrlPr>
                          </m:accPr>
                          <m:e>
                            <m:r>
                              <a:rPr lang="en-US" sz="1000" noProof="1" i="1">
                                <a:solidFill>
                                  <a:srgbClr val="5B5B5B"/>
                                </a:solidFill>
                                <a:latin typeface="MiSans"/>
                              </a:rPr>
                              <m:t>S</m:t>
                            </m:r>
                          </m:e>
                        </m:acc>
                      </m:e>
                      <m:sub>
                        <m:r>
                          <a:rPr lang="en-US" sz="1000" noProof="1" i="1">
                            <a:solidFill>
                              <a:srgbClr val="5B5B5B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  <m:sSub>
                      <m:sSubPr>
                        <m:ctrlPr>
                          <a:rPr lang="en-US" sz="1000" noProof="1">
                            <a:solidFill>
                              <a:srgbClr val="5B5B5B"/>
                            </a:solidFill>
                            <a:latin typeface="MiSan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000" noProof="1">
                                <a:solidFill>
                                  <a:srgbClr val="5B5B5B"/>
                                </a:solidFill>
                                <a:latin typeface="MiSans"/>
                              </a:rPr>
                            </m:ctrlPr>
                          </m:accPr>
                          <m:e>
                            <m:r>
                              <a:rPr lang="en-US" sz="1000" noProof="1" i="1">
                                <a:solidFill>
                                  <a:srgbClr val="5B5B5B"/>
                                </a:solidFill>
                                <a:latin typeface="MiSans"/>
                              </a:rPr>
                              <m:t>k</m:t>
                            </m:r>
                          </m:e>
                        </m:acc>
                      </m:e>
                      <m:sub>
                        <m:r>
                          <a:rPr lang="en-US" sz="1000" noProof="1" i="1">
                            <a:solidFill>
                              <a:srgbClr val="5B5B5B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)</m:t>
                    </m:r>
                  </m:oMath>
                </a14:m>
                <a:r>
                  <a:rPr lang="en-US" sz="1000" noProof="1">
                    <a:solidFill>
                      <a:srgbClr val="5B5B5B"/>
                    </a:solidFill>
                    <a:latin typeface="MiSans"/>
                    <a:ea typeface="MiSans"/>
                  </a:rPr>
                  <a:t>为 rank-1 修正向量</a:t>
                </a:r>
                <a:endParaRPr lang="en-US" sz="1000" noProof="1"/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000" noProof="1">
                    <a:solidFill>
                      <a:srgbClr val="0F766E"/>
                    </a:solidFill>
                    <a:latin typeface="MiSans"/>
                    <a:ea typeface="MiSans"/>
                  </a:rPr>
                  <a:t>gate → 衰减（逐元素、确定性）：</a:t>
                </a:r>
                <a14:m>
                  <m:oMath>
                    <m:sSub>
                      <m:sSubPr>
                        <m:ctrlPr>
                          <a:rPr lang="en-US" sz="1000" noProof="1">
                            <a:solidFill>
                              <a:srgbClr val="5B5B5B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000" noProof="1" i="0">
                            <a:solidFill>
                              <a:srgbClr val="5B5B5B"/>
                            </a:solidFill>
                            <a:latin typeface="MiSans"/>
                          </a:rPr>
                          <m:t>γ</m:t>
                        </m:r>
                      </m:e>
                      <m:sub>
                        <m:r>
                          <a:rPr lang="en-US" sz="1000" noProof="1" i="1">
                            <a:solidFill>
                              <a:srgbClr val="5B5B5B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=</m:t>
                    </m:r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-</m:t>
                    </m:r>
                    <m:r>
                      <a:rPr lang="en-US" sz="1000" noProof="1" i="1">
                        <a:solidFill>
                          <a:srgbClr val="5B5B5B"/>
                        </a:solidFill>
                        <a:latin typeface="MiSans"/>
                      </a:rPr>
                      <m:t>a</m:t>
                    </m:r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 </m:t>
                    </m:r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s</m:t>
                    </m:r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o</m:t>
                    </m:r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f</m:t>
                    </m:r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t</m:t>
                    </m:r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p</m:t>
                    </m:r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l</m:t>
                    </m:r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u</m:t>
                    </m:r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s</m:t>
                    </m:r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(</m:t>
                    </m:r>
                    <m:sSubSup>
                      <m:sSubSupPr>
                        <m:ctrlPr>
                          <a:rPr lang="en-US" sz="1000" noProof="1">
                            <a:solidFill>
                              <a:srgbClr val="5B5B5B"/>
                            </a:solidFill>
                            <a:latin typeface="MiSans"/>
                          </a:rPr>
                        </m:ctrlPr>
                      </m:sSubSupPr>
                      <m:e>
                        <m:r>
                          <a:rPr lang="en-US" sz="1000" noProof="1" i="1">
                            <a:solidFill>
                              <a:srgbClr val="5B5B5B"/>
                            </a:solidFill>
                            <a:latin typeface="MiSans"/>
                          </a:rPr>
                          <m:t>g</m:t>
                        </m:r>
                      </m:e>
                      <m:sub>
                        <m:r>
                          <a:rPr lang="en-US" sz="1000" noProof="1" i="1">
                            <a:solidFill>
                              <a:srgbClr val="5B5B5B"/>
                            </a:solidFill>
                            <a:latin typeface="MiSans"/>
                          </a:rPr>
                          <m:t>t</m:t>
                        </m:r>
                      </m:sub>
                      <m:sup>
                        <m:r>
                          <a:rPr lang="en-US" sz="1000" noProof="1" i="0">
                            <a:solidFill>
                              <a:srgbClr val="5B5B5B"/>
                            </a:solidFill>
                            <a:latin typeface="MiSans"/>
                          </a:rPr>
                          <m:t>r</m:t>
                        </m:r>
                        <m:r>
                          <a:rPr lang="en-US" sz="1000" noProof="1" i="0">
                            <a:solidFill>
                              <a:srgbClr val="5B5B5B"/>
                            </a:solidFill>
                            <a:latin typeface="MiSans"/>
                          </a:rPr>
                          <m:t>a</m:t>
                        </m:r>
                        <m:r>
                          <a:rPr lang="en-US" sz="1000" noProof="1" i="0">
                            <a:solidFill>
                              <a:srgbClr val="5B5B5B"/>
                            </a:solidFill>
                            <a:latin typeface="MiSans"/>
                          </a:rPr>
                          <m:t>w</m:t>
                        </m:r>
                      </m:sup>
                    </m:sSubSup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+</m:t>
                    </m:r>
                    <m:r>
                      <a:rPr lang="en-US" sz="1000" noProof="1" i="1">
                        <a:solidFill>
                          <a:srgbClr val="5B5B5B"/>
                        </a:solidFill>
                        <a:latin typeface="MiSans"/>
                      </a:rPr>
                      <m:t>b</m:t>
                    </m:r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)</m:t>
                    </m:r>
                  </m:oMath>
                </a14:m>
                <a:r>
                  <a:rPr lang="en-US" sz="1000" noProof="1">
                    <a:solidFill>
                      <a:srgbClr val="5B5B5B"/>
                    </a:solidFill>
                    <a:latin typeface="MiSans"/>
                    <a:ea typeface="MiSans"/>
                  </a:rPr>
                  <a:t>，或带下界 </a:t>
                </a:r>
                <a14:m>
                  <m:oMath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ℓ</m:t>
                    </m:r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 </m:t>
                    </m:r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σ</m:t>
                    </m:r>
                    <m:d>
                      <m:dPr>
                        <m:begChr m:val="("/>
                        <m:endChr m:val=")"/>
                        <m:grow m:val="1"/>
                        <m:ctrlPr>
                          <a:rPr lang="en-US" sz="1000" noProof="1">
                            <a:solidFill>
                              <a:srgbClr val="5B5B5B"/>
                            </a:solidFill>
                            <a:latin typeface="MiSans"/>
                          </a:rPr>
                        </m:ctrlPr>
                      </m:dPr>
                      <m:e>
                        <m:r>
                          <a:rPr lang="en-US" sz="1000" noProof="1" i="1">
                            <a:solidFill>
                              <a:srgbClr val="5B5B5B"/>
                            </a:solidFill>
                            <a:latin typeface="MiSans"/>
                          </a:rPr>
                          <m:t>a</m:t>
                        </m:r>
                        <m:r>
                          <a:rPr lang="en-US" sz="1000" noProof="1" i="0">
                            <a:solidFill>
                              <a:srgbClr val="5B5B5B"/>
                            </a:solidFill>
                            <a:latin typeface="MiSans"/>
                          </a:rPr>
                          <m:t>(</m:t>
                        </m:r>
                        <m:sSubSup>
                          <m:sSubSupPr>
                            <m:ctrlPr>
                              <a:rPr lang="en-US" sz="1000" noProof="1">
                                <a:solidFill>
                                  <a:srgbClr val="5B5B5B"/>
                                </a:solidFill>
                                <a:latin typeface="MiSans"/>
                              </a:rPr>
                            </m:ctrlPr>
                          </m:sSubSupPr>
                          <m:e>
                            <m:r>
                              <a:rPr lang="en-US" sz="1000" noProof="1" i="1">
                                <a:solidFill>
                                  <a:srgbClr val="5B5B5B"/>
                                </a:solidFill>
                                <a:latin typeface="MiSans"/>
                              </a:rPr>
                              <m:t>g</m:t>
                            </m:r>
                          </m:e>
                          <m:sub>
                            <m:r>
                              <a:rPr lang="en-US" sz="1000" noProof="1" i="1">
                                <a:solidFill>
                                  <a:srgbClr val="5B5B5B"/>
                                </a:solidFill>
                                <a:latin typeface="MiSans"/>
                              </a:rPr>
                              <m:t>t</m:t>
                            </m:r>
                          </m:sub>
                          <m:sup>
                            <m:r>
                              <a:rPr lang="en-US" sz="1000" noProof="1" i="0">
                                <a:solidFill>
                                  <a:srgbClr val="5B5B5B"/>
                                </a:solidFill>
                                <a:latin typeface="MiSans"/>
                              </a:rPr>
                              <m:t>r</m:t>
                            </m:r>
                            <m:r>
                              <a:rPr lang="en-US" sz="1000" noProof="1" i="0">
                                <a:solidFill>
                                  <a:srgbClr val="5B5B5B"/>
                                </a:solidFill>
                                <a:latin typeface="MiSans"/>
                              </a:rPr>
                              <m:t>a</m:t>
                            </m:r>
                            <m:r>
                              <a:rPr lang="en-US" sz="1000" noProof="1" i="0">
                                <a:solidFill>
                                  <a:srgbClr val="5B5B5B"/>
                                </a:solidFill>
                                <a:latin typeface="MiSans"/>
                              </a:rPr>
                              <m:t>w</m:t>
                            </m:r>
                          </m:sup>
                        </m:sSubSup>
                        <m:r>
                          <a:rPr lang="en-US" sz="1000" noProof="1" i="0">
                            <a:solidFill>
                              <a:srgbClr val="5B5B5B"/>
                            </a:solidFill>
                            <a:latin typeface="MiSans"/>
                          </a:rPr>
                          <m:t>+</m:t>
                        </m:r>
                        <m:r>
                          <a:rPr lang="en-US" sz="1000" noProof="1" i="1">
                            <a:solidFill>
                              <a:srgbClr val="5B5B5B"/>
                            </a:solidFill>
                            <a:latin typeface="MiSans"/>
                          </a:rPr>
                          <m:t>b</m:t>
                        </m:r>
                        <m:r>
                          <a:rPr lang="en-US" sz="1000" noProof="1" i="0">
                            <a:solidFill>
                              <a:srgbClr val="5B5B5B"/>
                            </a:solidFill>
                            <a:latin typeface="MiSans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1000" noProof="1">
                    <a:solidFill>
                      <a:srgbClr val="5B5B5B"/>
                    </a:solidFill>
                    <a:latin typeface="MiSans"/>
                    <a:ea typeface="MiSans"/>
                  </a:rPr>
                  <a:t>，</a:t>
                </a:r>
                <a14:m>
                  <m:oMath>
                    <m:r>
                      <a:rPr lang="en-US" sz="1000" noProof="1" i="1">
                        <a:solidFill>
                          <a:srgbClr val="5B5B5B"/>
                        </a:solidFill>
                        <a:latin typeface="MiSans"/>
                      </a:rPr>
                      <m:t>a</m:t>
                    </m:r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=</m:t>
                    </m:r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exp</m:t>
                    </m:r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(</m:t>
                    </m:r>
                    <m:sSub>
                      <m:sSubPr>
                        <m:ctrlPr>
                          <a:rPr lang="en-US" sz="1000" noProof="1">
                            <a:solidFill>
                              <a:srgbClr val="5B5B5B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000" noProof="1" i="1">
                            <a:solidFill>
                              <a:srgbClr val="5B5B5B"/>
                            </a:solidFill>
                            <a:latin typeface="MiSans"/>
                          </a:rPr>
                          <m:t>A</m:t>
                        </m:r>
                      </m:e>
                      <m:sub>
                        <m:r>
                          <a:rPr lang="en-US" sz="1000" noProof="1" i="0">
                            <a:solidFill>
                              <a:srgbClr val="5B5B5B"/>
                            </a:solidFill>
                            <a:latin typeface="MiSans"/>
                          </a:rPr>
                          <m:t>log</m:t>
                        </m:r>
                      </m:sub>
                    </m:sSub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)</m:t>
                    </m:r>
                  </m:oMath>
                </a14:m>
                <a:endParaRPr lang="en-US" sz="1000" noProof="1"/>
              </a:p>
            </p:txBody>
          </p:sp>
        </mc:Choice>
        <mc:Fallback xmlns="">
          <p:sp>
            <p:nvSpPr>
              <p:cNvPr id="7" name="sec01-note"/>
              <p:cNvSpPr txBox="1"/>
              <p:nvPr/>
            </p:nvSpPr>
            <p:spPr>
              <a:xfrm>
                <a:off x="609600" y="2209800"/>
                <a:ext cx="6604000" cy="78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50000"/>
                  </a:lnSpc>
                </a:pPr>
                <a:r>
                  <a:rPr lang="en-US" sz="1000" noProof="1">
                    <a:solidFill>
                      <a:srgbClr val="5B5B5B"/>
                    </a:solidFill>
                    <a:latin typeface="MiSans"/>
                    <a:ea typeface="MiSans"/>
                  </a:rPr>
                  <a:t>其中 \(D_t=\mathrm{diag}(\exp(\gamma_t))\)沿 key 维逐列衰减；\(u_t=\sigma(\beta^{\mathrm{raw}}_t)\odot\bigl(v_t-\widetilde{S}_t\hat{k}_t\bigr)\)为 rank-1 修正向量</a:t>
                </a:r>
                <a:endParaRPr lang="en-US" sz="1000" noProof="1"/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000" noProof="1">
                    <a:solidFill>
                      <a:srgbClr val="0F766E"/>
                    </a:solidFill>
                    <a:latin typeface="MiSans"/>
                    <a:ea typeface="MiSans"/>
                  </a:rPr>
                  <a:t>gate → 衰减（逐元素、确定性）：</a:t>
                </a:r>
                <a:r>
                  <a:rPr lang="en-US" sz="1000" noProof="1">
                    <a:solidFill>
                      <a:srgbClr val="5B5B5B"/>
                    </a:solidFill>
                    <a:latin typeface="MiSans"/>
                    <a:ea typeface="MiSans"/>
                  </a:rPr>
                  <a:t>\(\gamma_t=-a\,\mathrm{softplus}(g^{\mathrm{raw}}_t+b)\)，或带下界 \(\ell\,\sigma\!\left(a(g^{\mathrm{raw}}_t+b)\right)\)，\(a=\exp(A_{\log})\)</a:t>
                </a:r>
                <a:endParaRPr lang="en-US" sz="1000" noProof="1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sec01-arrow"/>
              <p:cNvSpPr txBox="1"/>
              <p:nvPr/>
            </p:nvSpPr>
            <p:spPr>
              <a:xfrm>
                <a:off x="609600" y="3073400"/>
                <a:ext cx="6604000" cy="20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/>
              <a:lstStyle/>
              <a:p>
                <a:pPr>
                  <a:lnSpc>
                    <a:spcPct val="120000"/>
                  </a:lnSpc>
                </a:pPr>
                <a:r>
                  <a:rPr lang="en-US" sz="1100" noProof="1">
                    <a:solidFill>
                      <a:srgbClr val="C2410C"/>
                    </a:solidFill>
                    <a:latin typeface="MiSans"/>
                    <a:ea typeface="MiSans"/>
                  </a:rPr>
                  <a:t>⇓</a:t>
                </a:r>
                <a:r>
                  <a:rPr lang="en-US" sz="1100" noProof="1">
                    <a:solidFill>
                      <a:srgbClr val="5B5B5B"/>
                    </a:solidFill>
                    <a:latin typeface="MiSans"/>
                    <a:ea typeface="MiSans"/>
                  </a:rPr>
                  <a:t>　</a:t>
                </a:r>
                <a14:m>
                  <m:oMath>
                    <m:sSub>
                      <m:sSubPr>
                        <m:ctrlPr>
                          <a:rPr lang="en-US" sz="1100" noProof="1">
                            <a:solidFill>
                              <a:srgbClr val="5B5B5B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100" noProof="1" i="1">
                            <a:solidFill>
                              <a:srgbClr val="5B5B5B"/>
                            </a:solidFill>
                            <a:latin typeface="MiSans"/>
                          </a:rPr>
                          <m:t>D</m:t>
                        </m:r>
                      </m:e>
                      <m:sub>
                        <m:r>
                          <a:rPr lang="en-US" sz="1100" noProof="1" i="1">
                            <a:solidFill>
                              <a:srgbClr val="5B5B5B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sz="1100" noProof="1">
                    <a:solidFill>
                      <a:srgbClr val="5B5B5B"/>
                    </a:solidFill>
                    <a:latin typeface="MiSans"/>
                    <a:ea typeface="MiSans"/>
                  </a:rPr>
                  <a:t>均为对角矩阵、彼此可交换 → 递推可展开为闭式</a:t>
                </a:r>
                <a:endParaRPr lang="en-US" sz="1100" noProof="1"/>
              </a:p>
            </p:txBody>
          </p:sp>
        </mc:Choice>
        <mc:Fallback xmlns="">
          <p:sp>
            <p:nvSpPr>
              <p:cNvPr id="8" name="sec01-arrow"/>
              <p:cNvSpPr txBox="1"/>
              <p:nvPr/>
            </p:nvSpPr>
            <p:spPr>
              <a:xfrm>
                <a:off x="609600" y="3073400"/>
                <a:ext cx="6604000" cy="20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/>
              <a:lstStyle/>
              <a:p>
                <a:pPr>
                  <a:lnSpc>
                    <a:spcPct val="120000"/>
                  </a:lnSpc>
                </a:pPr>
                <a:r>
                  <a:rPr lang="en-US" sz="1100" noProof="1">
                    <a:solidFill>
                      <a:srgbClr val="C2410C"/>
                    </a:solidFill>
                    <a:latin typeface="MiSans"/>
                    <a:ea typeface="MiSans"/>
                  </a:rPr>
                  <a:t>⇓</a:t>
                </a:r>
                <a:r>
                  <a:rPr lang="en-US" sz="1100" noProof="1">
                    <a:solidFill>
                      <a:srgbClr val="5B5B5B"/>
                    </a:solidFill>
                    <a:latin typeface="MiSans"/>
                    <a:ea typeface="MiSans"/>
                  </a:rPr>
                  <a:t>　\(D_t\)均为对角矩阵、彼此可交换 → 递推可展开为闭式</a:t>
                </a:r>
                <a:endParaRPr lang="en-US" sz="1100" noProof="1"/>
              </a:p>
            </p:txBody>
          </p:sp>
        </mc:Fallback>
      </mc:AlternateContent>
      <p:sp>
        <p:nvSpPr>
          <p:cNvPr id="9" name="sec01-panel"/>
          <p:cNvSpPr/>
          <p:nvPr/>
        </p:nvSpPr>
        <p:spPr>
          <a:xfrm>
            <a:off x="609600" y="3352800"/>
            <a:ext cx="6604000" cy="635000"/>
          </a:xfrm>
          <a:prstGeom prst="rect">
            <a:avLst/>
          </a:prstGeom>
          <a:solidFill>
            <a:srgbClr val="FAF6F0"/>
          </a:solidFill>
          <a:ln>
            <a:noFill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sec01-closed"/>
              <p:cNvSpPr txBox="1"/>
              <p:nvPr/>
            </p:nvSpPr>
            <p:spPr>
              <a:xfrm>
                <a:off x="812800" y="3352800"/>
                <a:ext cx="6197600" cy="63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 anchor="ctr"/>
              <a:lstStyle/>
              <a:p>
                <a:pPr algn="ctr">
                  <a:lnSpc>
                    <a:spcPct val="120000"/>
                  </a:lnSpc>
                </a:pPr>
                <a14:m>
                  <m:oMath>
                    <m:sSub>
                      <m:sSubPr>
                        <m:ctrlPr>
                          <a:rPr lang="en-US" sz="1500" noProof="1">
                            <a:solidFill>
                              <a:srgbClr val="191919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5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S</m:t>
                        </m:r>
                      </m:e>
                      <m:sub>
                        <m:r>
                          <a:rPr lang="en-US" sz="15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n</m:t>
                        </m:r>
                      </m:sub>
                    </m:sSub>
                    <m:r>
                      <a:rPr lang="en-US" sz="1500" noProof="1" i="0">
                        <a:solidFill>
                          <a:srgbClr val="191919"/>
                        </a:solidFill>
                        <a:latin typeface="MiSans"/>
                      </a:rPr>
                      <m:t>=</m:t>
                    </m:r>
                    <m:sSub>
                      <m:sSubPr>
                        <m:ctrlPr>
                          <a:rPr lang="en-US" sz="1500" noProof="1">
                            <a:solidFill>
                              <a:srgbClr val="191919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5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S</m:t>
                        </m:r>
                      </m:e>
                      <m:sub>
                        <m:r>
                          <a:rPr lang="en-US" sz="1500" noProof="1" i="0">
                            <a:solidFill>
                              <a:srgbClr val="191919"/>
                            </a:solidFill>
                            <a:latin typeface="MiSans"/>
                          </a:rPr>
                          <m:t>0</m:t>
                        </m:r>
                      </m:sub>
                    </m:sSub>
                    <m:nary>
                      <m:naryPr>
                        <m:chr m:val="∏"/>
                        <m:limLoc m:val="undOvr"/>
                        <m:ctrlPr>
                          <a:rPr lang="en-US" sz="1500" noProof="1">
                            <a:solidFill>
                              <a:srgbClr val="191919"/>
                            </a:solidFill>
                            <a:latin typeface="MiSans"/>
                          </a:rPr>
                        </m:ctrlPr>
                      </m:naryPr>
                      <m:sub>
                        <m:r>
                          <a:rPr lang="en-US" sz="15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t</m:t>
                        </m:r>
                        <m:r>
                          <a:rPr lang="en-US" sz="1500" noProof="1" i="0">
                            <a:solidFill>
                              <a:srgbClr val="191919"/>
                            </a:solidFill>
                            <a:latin typeface="MiSans"/>
                          </a:rPr>
                          <m:t>=</m:t>
                        </m:r>
                        <m:r>
                          <a:rPr lang="en-US" sz="1500" noProof="1" i="0">
                            <a:solidFill>
                              <a:srgbClr val="191919"/>
                            </a:solidFill>
                            <a:latin typeface="MiSans"/>
                          </a:rPr>
                          <m:t>1</m:t>
                        </m:r>
                      </m:sub>
                      <m:sup>
                        <m:r>
                          <a:rPr lang="en-US" sz="15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n</m:t>
                        </m:r>
                      </m:sup>
                      <m:e/>
                    </m:nary>
                    <m:sSub>
                      <m:sSubPr>
                        <m:ctrlPr>
                          <a:rPr lang="en-US" sz="1500" noProof="1">
                            <a:solidFill>
                              <a:srgbClr val="191919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5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D</m:t>
                        </m:r>
                      </m:e>
                      <m:sub>
                        <m:r>
                          <a:rPr lang="en-US" sz="15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  <m:r>
                      <a:rPr lang="en-US" sz="1500" noProof="1" i="0">
                        <a:solidFill>
                          <a:srgbClr val="191919"/>
                        </a:solidFill>
                        <a:latin typeface="MiSans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ctrlPr>
                          <a:rPr lang="en-US" sz="1500" noProof="1">
                            <a:solidFill>
                              <a:srgbClr val="191919"/>
                            </a:solidFill>
                            <a:latin typeface="MiSans"/>
                          </a:rPr>
                        </m:ctrlPr>
                      </m:naryPr>
                      <m:sub>
                        <m:r>
                          <a:rPr lang="en-US" sz="15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i</m:t>
                        </m:r>
                        <m:r>
                          <a:rPr lang="en-US" sz="1500" noProof="1" i="0">
                            <a:solidFill>
                              <a:srgbClr val="191919"/>
                            </a:solidFill>
                            <a:latin typeface="MiSans"/>
                          </a:rPr>
                          <m:t>=</m:t>
                        </m:r>
                        <m:r>
                          <a:rPr lang="en-US" sz="1500" noProof="1" i="0">
                            <a:solidFill>
                              <a:srgbClr val="191919"/>
                            </a:solidFill>
                            <a:latin typeface="MiSans"/>
                          </a:rPr>
                          <m:t>1</m:t>
                        </m:r>
                      </m:sub>
                      <m:sup>
                        <m:r>
                          <a:rPr lang="en-US" sz="15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n</m:t>
                        </m:r>
                      </m:sup>
                      <m:e/>
                    </m:nary>
                    <m:sSub>
                      <m:sSubPr>
                        <m:ctrlPr>
                          <a:rPr lang="en-US" sz="1500" noProof="1">
                            <a:solidFill>
                              <a:srgbClr val="191919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5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u</m:t>
                        </m:r>
                      </m:e>
                      <m:sub>
                        <m:r>
                          <a:rPr lang="en-US" sz="15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i</m:t>
                        </m:r>
                      </m:sub>
                    </m:sSub>
                    <m:r>
                      <a:rPr lang="en-US" sz="1500" noProof="1" i="0">
                        <a:solidFill>
                          <a:srgbClr val="191919"/>
                        </a:solidFill>
                        <a:latin typeface="MiSans"/>
                      </a:rPr>
                      <m:t> </m:t>
                    </m:r>
                    <m:sSubSup>
                      <m:sSubSupPr>
                        <m:ctrlPr>
                          <a:rPr lang="en-US" sz="1500" noProof="1">
                            <a:solidFill>
                              <a:srgbClr val="191919"/>
                            </a:solidFill>
                            <a:latin typeface="MiSans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500" noProof="1">
                                <a:solidFill>
                                  <a:srgbClr val="191919"/>
                                </a:solidFill>
                                <a:latin typeface="MiSans"/>
                              </a:rPr>
                            </m:ctrlPr>
                          </m:accPr>
                          <m:e>
                            <m:r>
                              <a:rPr lang="en-US" sz="1500" noProof="1" i="1">
                                <a:solidFill>
                                  <a:srgbClr val="191919"/>
                                </a:solidFill>
                                <a:latin typeface="MiSans"/>
                              </a:rPr>
                              <m:t>k</m:t>
                            </m:r>
                          </m:e>
                        </m:acc>
                      </m:e>
                      <m:sub>
                        <m:r>
                          <a:rPr lang="en-US" sz="15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i</m:t>
                        </m:r>
                      </m:sub>
                      <m:sup>
                        <m:r>
                          <m:rPr>
                            <m:scr m:val="sans-serif"/>
                          </m:rPr>
                          <a:rPr lang="en-US" sz="1500" noProof="1" i="0">
                            <a:solidFill>
                              <a:srgbClr val="191919"/>
                            </a:solidFill>
                            <a:latin typeface="MiSans"/>
                          </a:rPr>
                          <m:t>T</m:t>
                        </m:r>
                      </m:sup>
                    </m:sSubSup>
                    <m:nary>
                      <m:naryPr>
                        <m:chr m:val="∏"/>
                        <m:limLoc m:val="undOvr"/>
                        <m:ctrlPr>
                          <a:rPr lang="en-US" sz="1500" noProof="1">
                            <a:solidFill>
                              <a:srgbClr val="191919"/>
                            </a:solidFill>
                            <a:latin typeface="MiSans"/>
                          </a:rPr>
                        </m:ctrlPr>
                      </m:naryPr>
                      <m:sub>
                        <m:r>
                          <a:rPr lang="en-US" sz="15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j</m:t>
                        </m:r>
                        <m:r>
                          <a:rPr lang="en-US" sz="1500" noProof="1" i="0">
                            <a:solidFill>
                              <a:srgbClr val="191919"/>
                            </a:solidFill>
                            <a:latin typeface="MiSans"/>
                          </a:rPr>
                          <m:t>=</m:t>
                        </m:r>
                        <m:r>
                          <a:rPr lang="en-US" sz="15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i</m:t>
                        </m:r>
                        <m:r>
                          <a:rPr lang="en-US" sz="1500" noProof="1" i="0">
                            <a:solidFill>
                              <a:srgbClr val="191919"/>
                            </a:solidFill>
                            <a:latin typeface="MiSans"/>
                          </a:rPr>
                          <m:t>+</m:t>
                        </m:r>
                        <m:r>
                          <a:rPr lang="en-US" sz="1500" noProof="1" i="0">
                            <a:solidFill>
                              <a:srgbClr val="191919"/>
                            </a:solidFill>
                            <a:latin typeface="MiSans"/>
                          </a:rPr>
                          <m:t>1</m:t>
                        </m:r>
                      </m:sub>
                      <m:sup>
                        <m:r>
                          <a:rPr lang="en-US" sz="15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n</m:t>
                        </m:r>
                      </m:sup>
                      <m:e/>
                    </m:nary>
                    <m:sSub>
                      <m:sSubPr>
                        <m:ctrlPr>
                          <a:rPr lang="en-US" sz="1500" noProof="1">
                            <a:solidFill>
                              <a:srgbClr val="191919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5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D</m:t>
                        </m:r>
                      </m:e>
                      <m:sub>
                        <m:r>
                          <a:rPr lang="en-US" sz="15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sz="1500" noProof="1"/>
                  <a:t xml:space="preserve"> </a:t>
                </a:r>
                <a:endParaRPr lang="en-US" sz="1500" noProof="1"/>
              </a:p>
            </p:txBody>
          </p:sp>
        </mc:Choice>
        <mc:Fallback xmlns="">
          <p:sp>
            <p:nvSpPr>
              <p:cNvPr id="10" name="sec01-closed"/>
              <p:cNvSpPr txBox="1"/>
              <p:nvPr/>
            </p:nvSpPr>
            <p:spPr>
              <a:xfrm>
                <a:off x="812800" y="3352800"/>
                <a:ext cx="6197600" cy="63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1500" noProof="1">
                    <a:solidFill>
                      <a:srgbClr val="191919"/>
                    </a:solidFill>
                    <a:latin typeface="MiSans"/>
                    <a:ea typeface="MiSans"/>
                  </a:rPr>
                  <a:t>\(S_n = S_0\prod_{t=1}^{n}D_t + \sum_{i=1}^{n} u_i\,\hat{k}_i^{\mathsf{T}}\prod_{j=i+1}^{n}D_j\)</a:t>
                </a:r>
                <a:endParaRPr lang="en-US" sz="1500" noProof="1"/>
              </a:p>
            </p:txBody>
          </p:sp>
        </mc:Fallback>
      </mc:AlternateContent>
      <p:sp>
        <p:nvSpPr>
          <p:cNvPr id="11" name="rule-1"/>
          <p:cNvSpPr/>
          <p:nvPr/>
        </p:nvSpPr>
        <p:spPr>
          <a:xfrm>
            <a:off x="609600" y="4140200"/>
            <a:ext cx="6604000" cy="12700"/>
          </a:xfrm>
          <a:prstGeom prst="rect">
            <a:avLst/>
          </a:prstGeom>
          <a:solidFill>
            <a:srgbClr val="E3E1DC"/>
          </a:solidFill>
          <a:ln>
            <a:noFill/>
          </a:ln>
        </p:spPr>
      </p:sp>
      <p:sp>
        <p:nvSpPr>
          <p:cNvPr id="12" name="sec03-head"/>
          <p:cNvSpPr txBox="1"/>
          <p:nvPr/>
        </p:nvSpPr>
        <p:spPr>
          <a:xfrm>
            <a:off x="609600" y="4292600"/>
            <a:ext cx="660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C2410C"/>
                </a:solidFill>
                <a:latin typeface="MiSans"/>
                <a:ea typeface="MiSans"/>
              </a:rPr>
              <a:t>03</a:t>
            </a:r>
            <a:r>
              <a:rPr lang="en-US" sz="1100" noProof="1">
                <a:solidFill>
                  <a:srgbClr val="C2410C"/>
                </a:solidFill>
                <a:latin typeface="MiSans"/>
                <a:ea typeface="MiSans"/>
              </a:rPr>
              <a:t>　</a:t>
            </a:r>
            <a:r>
              <a:rPr lang="en-US" sz="1400" noProof="1" b="1">
                <a:solidFill>
                  <a:srgbClr val="191919"/>
                </a:solidFill>
                <a:latin typeface="MiSans"/>
                <a:ea typeface="MiSans"/>
              </a:rPr>
              <a:t>为什么存这些就够</a:t>
            </a:r>
            <a:endParaRPr lang="en-US" sz="16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sec03-body"/>
              <p:cNvSpPr txBox="1"/>
              <p:nvPr/>
            </p:nvSpPr>
            <p:spPr>
              <a:xfrm>
                <a:off x="609600" y="4572000"/>
                <a:ext cx="6604000" cy="66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60000"/>
                  </a:lnSpc>
                </a:pPr>
                <a:r>
                  <a:rPr lang="en-US" sz="1100" noProof="1">
                    <a:solidFill>
                      <a:srgbClr val="5B5B5B"/>
                    </a:solidFill>
                    <a:latin typeface="MiSans"/>
                    <a:ea typeface="MiSans"/>
                  </a:rPr>
                  <a:t>递推对状态是仿射的，每步的全部影响浓缩在 </a:t>
                </a:r>
                <a14:m>
                  <m:oMath>
                    <m:r>
                      <a:rPr lang="en-US" sz="1100" noProof="1" i="0">
                        <a:solidFill>
                          <a:srgbClr val="5B5B5B"/>
                        </a:solidFill>
                        <a:latin typeface="MiSans"/>
                      </a:rPr>
                      <m:t>(</m:t>
                    </m:r>
                    <m:sSub>
                      <m:sSubPr>
                        <m:ctrlPr>
                          <a:rPr lang="en-US" sz="1100" noProof="1">
                            <a:solidFill>
                              <a:srgbClr val="5B5B5B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100" noProof="1" i="1">
                            <a:solidFill>
                              <a:srgbClr val="5B5B5B"/>
                            </a:solidFill>
                            <a:latin typeface="MiSans"/>
                          </a:rPr>
                          <m:t>u</m:t>
                        </m:r>
                      </m:e>
                      <m:sub>
                        <m:r>
                          <a:rPr lang="en-US" sz="1100" noProof="1" i="1">
                            <a:solidFill>
                              <a:srgbClr val="5B5B5B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  <m:r>
                      <a:rPr lang="en-US" sz="1100" noProof="1" i="0">
                        <a:solidFill>
                          <a:srgbClr val="5B5B5B"/>
                        </a:solidFill>
                        <a:latin typeface="MiSans"/>
                      </a:rPr>
                      <m:t>,</m:t>
                    </m:r>
                    <m:sSub>
                      <m:sSubPr>
                        <m:ctrlPr>
                          <a:rPr lang="en-US" sz="1100" noProof="1">
                            <a:solidFill>
                              <a:srgbClr val="5B5B5B"/>
                            </a:solidFill>
                            <a:latin typeface="MiSan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100" noProof="1">
                                <a:solidFill>
                                  <a:srgbClr val="5B5B5B"/>
                                </a:solidFill>
                                <a:latin typeface="MiSans"/>
                              </a:rPr>
                            </m:ctrlPr>
                          </m:accPr>
                          <m:e>
                            <m:r>
                              <a:rPr lang="en-US" sz="1100" noProof="1" i="1">
                                <a:solidFill>
                                  <a:srgbClr val="5B5B5B"/>
                                </a:solidFill>
                                <a:latin typeface="MiSans"/>
                              </a:rPr>
                              <m:t>k</m:t>
                            </m:r>
                          </m:e>
                        </m:acc>
                      </m:e>
                      <m:sub>
                        <m:r>
                          <a:rPr lang="en-US" sz="1100" noProof="1" i="1">
                            <a:solidFill>
                              <a:srgbClr val="5B5B5B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  <m:r>
                      <a:rPr lang="en-US" sz="1100" noProof="1" i="0">
                        <a:solidFill>
                          <a:srgbClr val="5B5B5B"/>
                        </a:solidFill>
                        <a:latin typeface="MiSans"/>
                      </a:rPr>
                      <m:t>,</m:t>
                    </m:r>
                    <m:sSub>
                      <m:sSubPr>
                        <m:ctrlPr>
                          <a:rPr lang="en-US" sz="1100" noProof="1">
                            <a:solidFill>
                              <a:srgbClr val="5B5B5B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100" noProof="1" i="1">
                            <a:solidFill>
                              <a:srgbClr val="5B5B5B"/>
                            </a:solidFill>
                            <a:latin typeface="MiSans"/>
                          </a:rPr>
                          <m:t>D</m:t>
                        </m:r>
                      </m:e>
                      <m:sub>
                        <m:r>
                          <a:rPr lang="en-US" sz="1100" noProof="1" i="1">
                            <a:solidFill>
                              <a:srgbClr val="5B5B5B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  <m:r>
                      <a:rPr lang="en-US" sz="1100" noProof="1" i="0">
                        <a:solidFill>
                          <a:srgbClr val="5B5B5B"/>
                        </a:solidFill>
                        <a:latin typeface="MiSans"/>
                      </a:rPr>
                      <m:t>)</m:t>
                    </m:r>
                  </m:oMath>
                </a14:m>
                <a:r>
                  <a:rPr lang="en-US" sz="1100" noProof="1">
                    <a:solidFill>
                      <a:srgbClr val="5B5B5B"/>
                    </a:solidFill>
                    <a:latin typeface="MiSans"/>
                    <a:ea typeface="MiSans"/>
                  </a:rPr>
                  <a:t>中；给早期 correction 补上后续衰减权重再累加，即得任意前缀 </a:t>
                </a:r>
                <a14:m>
                  <m:oMath>
                    <m:sSub>
                      <m:sSubPr>
                        <m:ctrlPr>
                          <a:rPr lang="en-US" sz="1100" noProof="1">
                            <a:solidFill>
                              <a:srgbClr val="5B5B5B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100" noProof="1" i="1">
                            <a:solidFill>
                              <a:srgbClr val="5B5B5B"/>
                            </a:solidFill>
                            <a:latin typeface="MiSans"/>
                          </a:rPr>
                          <m:t>S</m:t>
                        </m:r>
                      </m:e>
                      <m:sub>
                        <m:r>
                          <a:rPr lang="en-US" sz="1100" noProof="1" i="1">
                            <a:solidFill>
                              <a:srgbClr val="5B5B5B"/>
                            </a:solidFill>
                            <a:latin typeface="MiSans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1100" noProof="1">
                    <a:solidFill>
                      <a:srgbClr val="5B5B5B"/>
                    </a:solidFill>
                    <a:latin typeface="MiSans"/>
                    <a:ea typeface="MiSans"/>
                  </a:rPr>
                  <a:t>。被拒绝的 suffix 不读取、天然排除；commit 用同一份 raw gate 重算 </a:t>
                </a:r>
                <a14:m>
                  <m:oMath>
                    <m:sSub>
                      <m:sSubPr>
                        <m:ctrlPr>
                          <a:rPr lang="en-US" sz="1100" noProof="1">
                            <a:solidFill>
                              <a:srgbClr val="5B5B5B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100" noProof="1" i="1">
                            <a:solidFill>
                              <a:srgbClr val="5B5B5B"/>
                            </a:solidFill>
                            <a:latin typeface="MiSans"/>
                          </a:rPr>
                          <m:t>D</m:t>
                        </m:r>
                      </m:e>
                      <m:sub>
                        <m:r>
                          <a:rPr lang="en-US" sz="1100" noProof="1" i="1">
                            <a:solidFill>
                              <a:srgbClr val="5B5B5B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sz="1100" noProof="1">
                    <a:solidFill>
                      <a:srgbClr val="5B5B5B"/>
                    </a:solidFill>
                    <a:latin typeface="MiSans"/>
                    <a:ea typeface="MiSans"/>
                  </a:rPr>
                  <a:t>，与 verify 数值路径一致。</a:t>
                </a:r>
                <a:endParaRPr lang="en-US" sz="1100" noProof="1"/>
              </a:p>
            </p:txBody>
          </p:sp>
        </mc:Choice>
        <mc:Fallback xmlns="">
          <p:sp>
            <p:nvSpPr>
              <p:cNvPr id="13" name="sec03-body"/>
              <p:cNvSpPr txBox="1"/>
              <p:nvPr/>
            </p:nvSpPr>
            <p:spPr>
              <a:xfrm>
                <a:off x="609600" y="4572000"/>
                <a:ext cx="6604000" cy="66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60000"/>
                  </a:lnSpc>
                </a:pPr>
                <a:r>
                  <a:rPr lang="en-US" sz="1100" noProof="1">
                    <a:solidFill>
                      <a:srgbClr val="5B5B5B"/>
                    </a:solidFill>
                    <a:latin typeface="MiSans"/>
                    <a:ea typeface="MiSans"/>
                  </a:rPr>
                  <a:t>递推对状态是仿射的，每步的全部影响浓缩在 \((u_t,\hat{k}_t,D_t)\)中；给早期 correction 补上后续衰减权重再累加，即得任意前缀 \(S_n\)。被拒绝的 suffix 不读取、天然排除；commit 用同一份 raw gate 重算 \(D_t\)，与 verify 数值路径一致。</a:t>
                </a:r>
                <a:endParaRPr lang="en-US" sz="1100" noProof="1"/>
              </a:p>
            </p:txBody>
          </p:sp>
        </mc:Fallback>
      </mc:AlternateContent>
      <p:sp>
        <p:nvSpPr>
          <p:cNvPr id="14" name="rule-2"/>
          <p:cNvSpPr/>
          <p:nvPr/>
        </p:nvSpPr>
        <p:spPr>
          <a:xfrm>
            <a:off x="609600" y="5359400"/>
            <a:ext cx="6604000" cy="12700"/>
          </a:xfrm>
          <a:prstGeom prst="rect">
            <a:avLst/>
          </a:prstGeom>
          <a:solidFill>
            <a:srgbClr val="E3E1DC"/>
          </a:solidFill>
          <a:ln>
            <a:noFill/>
          </a:ln>
        </p:spPr>
      </p:sp>
      <p:sp>
        <p:nvSpPr>
          <p:cNvPr id="15" name="sec04-head"/>
          <p:cNvSpPr txBox="1"/>
          <p:nvPr/>
        </p:nvSpPr>
        <p:spPr>
          <a:xfrm>
            <a:off x="609600" y="5511800"/>
            <a:ext cx="660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C2410C"/>
                </a:solidFill>
                <a:latin typeface="MiSans"/>
                <a:ea typeface="MiSans"/>
              </a:rPr>
              <a:t>04</a:t>
            </a:r>
            <a:r>
              <a:rPr lang="en-US" sz="1100" noProof="1">
                <a:solidFill>
                  <a:srgbClr val="C2410C"/>
                </a:solidFill>
                <a:latin typeface="MiSans"/>
                <a:ea typeface="MiSans"/>
              </a:rPr>
              <a:t>　</a:t>
            </a:r>
            <a:r>
              <a:rPr lang="en-US" sz="1400" noProof="1" b="1">
                <a:solidFill>
                  <a:srgbClr val="191919"/>
                </a:solidFill>
                <a:latin typeface="MiSans"/>
                <a:ea typeface="MiSans"/>
              </a:rPr>
              <a:t>怎么重建 —— commit 反向累积一趟</a:t>
            </a:r>
            <a:endParaRPr lang="en-US" sz="16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sec04-algo"/>
              <p:cNvSpPr txBox="1"/>
              <p:nvPr/>
            </p:nvSpPr>
            <p:spPr>
              <a:xfrm>
                <a:off x="609600" y="5765800"/>
                <a:ext cx="66040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50000"/>
                  </a:lnSpc>
                </a:pPr>
                <a14:m>
                  <m:oMath>
                    <m:r>
                      <a:rPr lang="en-US" sz="1200" noProof="1" i="1">
                        <a:solidFill>
                          <a:srgbClr val="191919"/>
                        </a:solidFill>
                        <a:latin typeface="MiSans"/>
                      </a:rPr>
                      <m:t>P</m:t>
                    </m:r>
                    <m:r>
                      <a:rPr lang="en-US" sz="1200" noProof="1" i="0">
                        <a:solidFill>
                          <a:srgbClr val="191919"/>
                        </a:solidFill>
                        <a:latin typeface="MiSans"/>
                      </a:rPr>
                      <m:t>←</m:t>
                    </m:r>
                    <m:sSub>
                      <m:sSubPr>
                        <m:ctrlPr>
                          <a:rPr lang="en-US" sz="1200" noProof="1">
                            <a:solidFill>
                              <a:srgbClr val="191919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2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I</m:t>
                        </m:r>
                      </m:e>
                      <m:sub>
                        <m:r>
                          <a:rPr lang="en-US" sz="12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K</m:t>
                        </m:r>
                      </m:sub>
                    </m:sSub>
                    <m:r>
                      <a:rPr lang="en-US" sz="1200" noProof="1" i="0">
                        <a:solidFill>
                          <a:srgbClr val="191919"/>
                        </a:solidFill>
                        <a:latin typeface="MiSans"/>
                      </a:rPr>
                      <m:t>,</m:t>
                    </m:r>
                    <m:r>
                      <a:rPr lang="en-US" sz="1200" noProof="1" i="0">
                        <a:solidFill>
                          <a:srgbClr val="191919"/>
                        </a:solidFill>
                        <a:latin typeface="MiSans"/>
                      </a:rPr>
                      <m:t> </m:t>
                    </m:r>
                    <m:r>
                      <a:rPr lang="en-US" sz="1200" noProof="1" i="1">
                        <a:solidFill>
                          <a:srgbClr val="191919"/>
                        </a:solidFill>
                        <a:latin typeface="MiSans"/>
                      </a:rPr>
                      <m:t>U</m:t>
                    </m:r>
                    <m:r>
                      <a:rPr lang="en-US" sz="1200" noProof="1" i="0">
                        <a:solidFill>
                          <a:srgbClr val="191919"/>
                        </a:solidFill>
                        <a:latin typeface="MiSans"/>
                      </a:rPr>
                      <m:t>←</m:t>
                    </m:r>
                    <m:sSub>
                      <m:sSubPr>
                        <m:ctrlPr>
                          <a:rPr lang="en-US" sz="1200" noProof="1">
                            <a:solidFill>
                              <a:srgbClr val="191919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200" noProof="1" b="1" i="0">
                            <a:solidFill>
                              <a:srgbClr val="191919"/>
                            </a:solidFill>
                            <a:latin typeface="MiSans"/>
                          </a:rPr>
                          <m:t>0</m:t>
                        </m:r>
                      </m:e>
                      <m:sub>
                        <m:r>
                          <a:rPr lang="en-US" sz="12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V</m:t>
                        </m:r>
                        <m:r>
                          <a:rPr lang="en-US" sz="1200" noProof="1" i="0">
                            <a:solidFill>
                              <a:srgbClr val="191919"/>
                            </a:solidFill>
                            <a:latin typeface="MiSans"/>
                          </a:rPr>
                          <m:t>×</m:t>
                        </m:r>
                        <m:r>
                          <a:rPr lang="en-US" sz="12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 sz="1200" noProof="1"/>
                  <a:t xml:space="preserve"> </a:t>
                </a:r>
                <a:endParaRPr lang="en-US" sz="1200" noProof="1"/>
              </a:p>
              <a:p>
                <a:pPr>
                  <a:lnSpc>
                    <a:spcPct val="150000"/>
                  </a:lnSpc>
                </a:pPr>
                <a:r>
                  <a:rPr lang="en-US" sz="1200" noProof="1">
                    <a:solidFill>
                      <a:srgbClr val="191919"/>
                    </a:solidFill>
                    <a:latin typeface="MiSans"/>
                    <a:ea typeface="MiSans"/>
                  </a:rPr>
                  <a:t>for </a:t>
                </a:r>
                <a14:m>
                  <m:oMath>
                    <m:r>
                      <a:rPr lang="en-US" sz="1200" noProof="1" i="1">
                        <a:solidFill>
                          <a:srgbClr val="191919"/>
                        </a:solidFill>
                        <a:latin typeface="MiSans"/>
                      </a:rPr>
                      <m:t>t</m:t>
                    </m:r>
                    <m:r>
                      <a:rPr lang="en-US" sz="1200" noProof="1" i="0">
                        <a:solidFill>
                          <a:srgbClr val="191919"/>
                        </a:solidFill>
                        <a:latin typeface="MiSans"/>
                      </a:rPr>
                      <m:t>=</m:t>
                    </m:r>
                    <m:r>
                      <a:rPr lang="en-US" sz="1200" noProof="1" i="1">
                        <a:solidFill>
                          <a:srgbClr val="191919"/>
                        </a:solidFill>
                        <a:latin typeface="MiSans"/>
                      </a:rPr>
                      <m:t>n</m:t>
                    </m:r>
                    <m:r>
                      <a:rPr lang="en-US" sz="1200" noProof="1" i="0">
                        <a:solidFill>
                          <a:srgbClr val="191919"/>
                        </a:solidFill>
                        <a:latin typeface="MiSans"/>
                      </a:rPr>
                      <m:t>,</m:t>
                    </m:r>
                    <m:r>
                      <a:rPr lang="en-US" sz="1200" noProof="1" i="1">
                        <a:solidFill>
                          <a:srgbClr val="191919"/>
                        </a:solidFill>
                        <a:latin typeface="MiSans"/>
                      </a:rPr>
                      <m:t>n</m:t>
                    </m:r>
                    <m:r>
                      <a:rPr lang="en-US" sz="1200" noProof="1" i="0">
                        <a:solidFill>
                          <a:srgbClr val="191919"/>
                        </a:solidFill>
                        <a:latin typeface="MiSans"/>
                      </a:rPr>
                      <m:t>-</m:t>
                    </m:r>
                    <m:r>
                      <a:rPr lang="en-US" sz="1200" noProof="1" i="0">
                        <a:solidFill>
                          <a:srgbClr val="191919"/>
                        </a:solidFill>
                        <a:latin typeface="MiSans"/>
                      </a:rPr>
                      <m:t>1</m:t>
                    </m:r>
                    <m:r>
                      <a:rPr lang="en-US" sz="1200" noProof="1" i="0">
                        <a:solidFill>
                          <a:srgbClr val="191919"/>
                        </a:solidFill>
                        <a:latin typeface="MiSans"/>
                      </a:rPr>
                      <m:t>,</m:t>
                    </m:r>
                    <m:r>
                      <a:rPr lang="en-US" sz="1200" noProof="1" i="0">
                        <a:solidFill>
                          <a:srgbClr val="191919"/>
                        </a:solidFill>
                        <a:latin typeface="MiSans"/>
                      </a:rPr>
                      <m:t>⋯</m:t>
                    </m:r>
                    <m:r>
                      <a:rPr lang="en-US" sz="1200" noProof="1" i="0">
                        <a:solidFill>
                          <a:srgbClr val="191919"/>
                        </a:solidFill>
                        <a:latin typeface="MiSans"/>
                      </a:rPr>
                      <m:t>,</m:t>
                    </m:r>
                    <m:r>
                      <a:rPr lang="en-US" sz="1200" noProof="1" i="0">
                        <a:solidFill>
                          <a:srgbClr val="191919"/>
                        </a:solidFill>
                        <a:latin typeface="MiSans"/>
                      </a:rPr>
                      <m:t>1</m:t>
                    </m:r>
                  </m:oMath>
                </a14:m>
                <a:r>
                  <a:rPr lang="en-US" sz="1200" noProof="1">
                    <a:solidFill>
                      <a:srgbClr val="191919"/>
                    </a:solidFill>
                    <a:latin typeface="MiSans"/>
                    <a:ea typeface="MiSans"/>
                  </a:rPr>
                  <a:t>：　</a:t>
                </a:r>
                <a14:m>
                  <m:oMath>
                    <m:r>
                      <a:rPr lang="en-US" sz="1200" noProof="1" i="1">
                        <a:solidFill>
                          <a:srgbClr val="191919"/>
                        </a:solidFill>
                        <a:latin typeface="MiSans"/>
                      </a:rPr>
                      <m:t>U</m:t>
                    </m:r>
                    <m:r>
                      <a:rPr lang="en-US" sz="1200" noProof="1" i="0">
                        <a:solidFill>
                          <a:srgbClr val="191919"/>
                        </a:solidFill>
                        <a:latin typeface="MiSans"/>
                      </a:rPr>
                      <m:t>←</m:t>
                    </m:r>
                    <m:r>
                      <a:rPr lang="en-US" sz="1200" noProof="1" i="1">
                        <a:solidFill>
                          <a:srgbClr val="191919"/>
                        </a:solidFill>
                        <a:latin typeface="MiSans"/>
                      </a:rPr>
                      <m:t>U</m:t>
                    </m:r>
                    <m:r>
                      <a:rPr lang="en-US" sz="1200" noProof="1" i="0">
                        <a:solidFill>
                          <a:srgbClr val="191919"/>
                        </a:solidFill>
                        <a:latin typeface="MiSans"/>
                      </a:rPr>
                      <m:t>+</m:t>
                    </m:r>
                    <m:sSub>
                      <m:sSubPr>
                        <m:ctrlPr>
                          <a:rPr lang="en-US" sz="1200" noProof="1">
                            <a:solidFill>
                              <a:srgbClr val="191919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2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u</m:t>
                        </m:r>
                      </m:e>
                      <m:sub>
                        <m:r>
                          <a:rPr lang="en-US" sz="12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  <m:r>
                      <a:rPr lang="en-US" sz="1200" noProof="1" i="0">
                        <a:solidFill>
                          <a:srgbClr val="191919"/>
                        </a:solidFill>
                        <a:latin typeface="MiSans"/>
                      </a:rPr>
                      <m:t> </m:t>
                    </m:r>
                    <m:sSubSup>
                      <m:sSubSupPr>
                        <m:ctrlPr>
                          <a:rPr lang="en-US" sz="1200" noProof="1">
                            <a:solidFill>
                              <a:srgbClr val="191919"/>
                            </a:solidFill>
                            <a:latin typeface="MiSans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200" noProof="1">
                                <a:solidFill>
                                  <a:srgbClr val="191919"/>
                                </a:solidFill>
                                <a:latin typeface="MiSans"/>
                              </a:rPr>
                            </m:ctrlPr>
                          </m:accPr>
                          <m:e>
                            <m:r>
                              <a:rPr lang="en-US" sz="1200" noProof="1" i="1">
                                <a:solidFill>
                                  <a:srgbClr val="191919"/>
                                </a:solidFill>
                                <a:latin typeface="MiSans"/>
                              </a:rPr>
                              <m:t>k</m:t>
                            </m:r>
                          </m:e>
                        </m:acc>
                      </m:e>
                      <m:sub>
                        <m:r>
                          <a:rPr lang="en-US" sz="12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t</m:t>
                        </m:r>
                      </m:sub>
                      <m:sup>
                        <m:r>
                          <m:rPr>
                            <m:scr m:val="sans-serif"/>
                          </m:rPr>
                          <a:rPr lang="en-US" sz="1200" noProof="1" i="0">
                            <a:solidFill>
                              <a:srgbClr val="191919"/>
                            </a:solidFill>
                            <a:latin typeface="MiSans"/>
                          </a:rPr>
                          <m:t>T</m:t>
                        </m:r>
                      </m:sup>
                    </m:sSubSup>
                    <m:r>
                      <a:rPr lang="en-US" sz="1200" noProof="1" i="1">
                        <a:solidFill>
                          <a:srgbClr val="191919"/>
                        </a:solidFill>
                        <a:latin typeface="MiSans"/>
                      </a:rPr>
                      <m:t>P</m:t>
                    </m:r>
                    <m:r>
                      <a:rPr lang="en-US" sz="1200" noProof="1" i="0">
                        <a:solidFill>
                          <a:srgbClr val="191919"/>
                        </a:solidFill>
                        <a:latin typeface="MiSans"/>
                      </a:rPr>
                      <m:t>,</m:t>
                    </m:r>
                    <m:r>
                      <a:rPr lang="en-US" sz="1200" noProof="1" i="0">
                        <a:solidFill>
                          <a:srgbClr val="191919"/>
                        </a:solidFill>
                        <a:latin typeface="MiSans"/>
                      </a:rPr>
                      <m:t> </m:t>
                    </m:r>
                    <m:r>
                      <a:rPr lang="en-US" sz="1200" noProof="1" i="1">
                        <a:solidFill>
                          <a:srgbClr val="191919"/>
                        </a:solidFill>
                        <a:latin typeface="MiSans"/>
                      </a:rPr>
                      <m:t>P</m:t>
                    </m:r>
                    <m:r>
                      <a:rPr lang="en-US" sz="1200" noProof="1" i="0">
                        <a:solidFill>
                          <a:srgbClr val="191919"/>
                        </a:solidFill>
                        <a:latin typeface="MiSans"/>
                      </a:rPr>
                      <m:t>←</m:t>
                    </m:r>
                    <m:sSub>
                      <m:sSubPr>
                        <m:ctrlPr>
                          <a:rPr lang="en-US" sz="1200" noProof="1">
                            <a:solidFill>
                              <a:srgbClr val="191919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2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D</m:t>
                        </m:r>
                      </m:e>
                      <m:sub>
                        <m:r>
                          <a:rPr lang="en-US" sz="12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  <m:r>
                      <a:rPr lang="en-US" sz="1200" noProof="1" i="0">
                        <a:solidFill>
                          <a:srgbClr val="191919"/>
                        </a:solidFill>
                        <a:latin typeface="MiSans"/>
                      </a:rPr>
                      <m:t> </m:t>
                    </m:r>
                    <m:r>
                      <a:rPr lang="en-US" sz="1200" noProof="1" i="1">
                        <a:solidFill>
                          <a:srgbClr val="191919"/>
                        </a:solidFill>
                        <a:latin typeface="MiSans"/>
                      </a:rPr>
                      <m:t>P</m:t>
                    </m:r>
                  </m:oMath>
                </a14:m>
                <a:endParaRPr lang="en-US" sz="1200" noProof="1"/>
              </a:p>
              <a:p>
                <a:pPr>
                  <a:lnSpc>
                    <a:spcPct val="150000"/>
                  </a:lnSpc>
                </a:pPr>
                <a14:m>
                  <m:oMath>
                    <m:sSub>
                      <m:sSubPr>
                        <m:ctrlPr>
                          <a:rPr lang="en-US" sz="1200" noProof="1">
                            <a:solidFill>
                              <a:srgbClr val="191919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2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S</m:t>
                        </m:r>
                      </m:e>
                      <m:sub>
                        <m:r>
                          <a:rPr lang="en-US" sz="1200" noProof="1" i="0">
                            <a:solidFill>
                              <a:srgbClr val="191919"/>
                            </a:solidFill>
                            <a:latin typeface="MiSans"/>
                          </a:rPr>
                          <m:t>r</m:t>
                        </m:r>
                        <m:r>
                          <a:rPr lang="en-US" sz="1200" noProof="1" i="0">
                            <a:solidFill>
                              <a:srgbClr val="191919"/>
                            </a:solidFill>
                            <a:latin typeface="MiSans"/>
                          </a:rPr>
                          <m:t>e</m:t>
                        </m:r>
                        <m:r>
                          <a:rPr lang="en-US" sz="1200" noProof="1" i="0">
                            <a:solidFill>
                              <a:srgbClr val="191919"/>
                            </a:solidFill>
                            <a:latin typeface="MiSans"/>
                          </a:rPr>
                          <m:t>b</m:t>
                        </m:r>
                        <m:r>
                          <a:rPr lang="en-US" sz="1200" noProof="1" i="0">
                            <a:solidFill>
                              <a:srgbClr val="191919"/>
                            </a:solidFill>
                            <a:latin typeface="MiSans"/>
                          </a:rPr>
                          <m:t>u</m:t>
                        </m:r>
                        <m:r>
                          <a:rPr lang="en-US" sz="1200" noProof="1" i="0">
                            <a:solidFill>
                              <a:srgbClr val="191919"/>
                            </a:solidFill>
                            <a:latin typeface="MiSans"/>
                          </a:rPr>
                          <m:t>i</m:t>
                        </m:r>
                        <m:r>
                          <a:rPr lang="en-US" sz="1200" noProof="1" i="0">
                            <a:solidFill>
                              <a:srgbClr val="191919"/>
                            </a:solidFill>
                            <a:latin typeface="MiSans"/>
                          </a:rPr>
                          <m:t>l</m:t>
                        </m:r>
                        <m:r>
                          <a:rPr lang="en-US" sz="1200" noProof="1" i="0">
                            <a:solidFill>
                              <a:srgbClr val="191919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  <m:r>
                      <a:rPr lang="en-US" sz="1200" noProof="1" i="0">
                        <a:solidFill>
                          <a:srgbClr val="191919"/>
                        </a:solidFill>
                        <a:latin typeface="MiSans"/>
                      </a:rPr>
                      <m:t>←</m:t>
                    </m:r>
                    <m:sSub>
                      <m:sSubPr>
                        <m:ctrlPr>
                          <a:rPr lang="en-US" sz="1200" noProof="1">
                            <a:solidFill>
                              <a:srgbClr val="191919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2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S</m:t>
                        </m:r>
                      </m:e>
                      <m:sub>
                        <m:r>
                          <a:rPr lang="en-US" sz="1200" noProof="1" i="0">
                            <a:solidFill>
                              <a:srgbClr val="191919"/>
                            </a:solidFill>
                            <a:latin typeface="MiSans"/>
                          </a:rPr>
                          <m:t>0</m:t>
                        </m:r>
                      </m:sub>
                    </m:sSub>
                    <m:r>
                      <a:rPr lang="en-US" sz="1200" noProof="1" i="0">
                        <a:solidFill>
                          <a:srgbClr val="191919"/>
                        </a:solidFill>
                        <a:latin typeface="MiSans"/>
                      </a:rPr>
                      <m:t> </m:t>
                    </m:r>
                    <m:r>
                      <a:rPr lang="en-US" sz="1200" noProof="1" i="1">
                        <a:solidFill>
                          <a:srgbClr val="191919"/>
                        </a:solidFill>
                        <a:latin typeface="MiSans"/>
                      </a:rPr>
                      <m:t>P</m:t>
                    </m:r>
                    <m:r>
                      <a:rPr lang="en-US" sz="1200" noProof="1" i="0">
                        <a:solidFill>
                          <a:srgbClr val="191919"/>
                        </a:solidFill>
                        <a:latin typeface="MiSans"/>
                      </a:rPr>
                      <m:t>+</m:t>
                    </m:r>
                    <m:r>
                      <a:rPr lang="en-US" sz="1200" noProof="1" i="1">
                        <a:solidFill>
                          <a:srgbClr val="191919"/>
                        </a:solidFill>
                        <a:latin typeface="MiSans"/>
                      </a:rPr>
                      <m:t>U</m:t>
                    </m:r>
                  </m:oMath>
                </a14:m>
                <a:r>
                  <a:rPr lang="en-US" sz="1200" noProof="1">
                    <a:solidFill>
                      <a:srgbClr val="191919"/>
                    </a:solidFill>
                    <a:latin typeface="MiSans"/>
                    <a:ea typeface="MiSans"/>
                  </a:rPr>
                  <a:t>　→ 写回该 request 的 checkpoint slot</a:t>
                </a:r>
                <a:endParaRPr lang="en-US" sz="1200" noProof="1"/>
              </a:p>
            </p:txBody>
          </p:sp>
        </mc:Choice>
        <mc:Fallback xmlns="">
          <p:sp>
            <p:nvSpPr>
              <p:cNvPr id="16" name="sec04-algo"/>
              <p:cNvSpPr txBox="1"/>
              <p:nvPr/>
            </p:nvSpPr>
            <p:spPr>
              <a:xfrm>
                <a:off x="609600" y="5765800"/>
                <a:ext cx="66040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50000"/>
                  </a:lnSpc>
                </a:pPr>
                <a:r>
                  <a:rPr lang="en-US" sz="1200" noProof="1">
                    <a:solidFill>
                      <a:srgbClr val="191919"/>
                    </a:solidFill>
                    <a:latin typeface="MiSans"/>
                    <a:ea typeface="MiSans"/>
                  </a:rPr>
                  <a:t>\(P \gets I_K,\quad U \gets \mathbf{0}_{V\times K}\)</a:t>
                </a:r>
                <a:endParaRPr lang="en-US" sz="1200" noProof="1"/>
              </a:p>
              <a:p>
                <a:pPr>
                  <a:lnSpc>
                    <a:spcPct val="150000"/>
                  </a:lnSpc>
                </a:pPr>
                <a:r>
                  <a:rPr lang="en-US" sz="1200" noProof="1">
                    <a:solidFill>
                      <a:srgbClr val="191919"/>
                    </a:solidFill>
                    <a:latin typeface="MiSans"/>
                    <a:ea typeface="MiSans"/>
                  </a:rPr>
                  <a:t>for \(t = n, n-1, \dots, 1\)：　\(U \gets U + u_t\,\hat{k}_t^{\mathsf{T}} P,\quad P \gets D_t\,P\)</a:t>
                </a:r>
                <a:endParaRPr lang="en-US" sz="1200" noProof="1"/>
              </a:p>
              <a:p>
                <a:pPr>
                  <a:lnSpc>
                    <a:spcPct val="150000"/>
                  </a:lnSpc>
                </a:pPr>
                <a:r>
                  <a:rPr lang="en-US" sz="1200" noProof="1">
                    <a:solidFill>
                      <a:srgbClr val="191919"/>
                    </a:solidFill>
                    <a:latin typeface="MiSans"/>
                    <a:ea typeface="MiSans"/>
                  </a:rPr>
                  <a:t>\(S_{\mathrm{rebuilt}} \gets S_0\,P + U\)　→ 写回该 request 的 checkpoint slot</a:t>
                </a:r>
                <a:endParaRPr lang="en-US" sz="1200" noProof="1"/>
              </a:p>
            </p:txBody>
          </p:sp>
        </mc:Fallback>
      </mc:AlternateContent>
      <p:sp>
        <p:nvSpPr>
          <p:cNvPr id="17" name="col-divider"/>
          <p:cNvSpPr/>
          <p:nvPr/>
        </p:nvSpPr>
        <p:spPr>
          <a:xfrm>
            <a:off x="7391400" y="1473200"/>
            <a:ext cx="12700" cy="5029200"/>
          </a:xfrm>
          <a:prstGeom prst="rect">
            <a:avLst/>
          </a:prstGeom>
          <a:solidFill>
            <a:srgbClr val="E3E1DC"/>
          </a:solidFill>
          <a:ln>
            <a:noFill/>
          </a:ln>
        </p:spPr>
      </p:sp>
      <p:sp>
        <p:nvSpPr>
          <p:cNvPr id="18" name="sec02-head"/>
          <p:cNvSpPr txBox="1"/>
          <p:nvPr/>
        </p:nvSpPr>
        <p:spPr>
          <a:xfrm>
            <a:off x="7670800" y="1473200"/>
            <a:ext cx="3911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C2410C"/>
                </a:solidFill>
                <a:latin typeface="MiSans"/>
                <a:ea typeface="MiSans"/>
              </a:rPr>
              <a:t>02</a:t>
            </a:r>
            <a:r>
              <a:rPr lang="en-US" sz="1100" noProof="1">
                <a:solidFill>
                  <a:srgbClr val="C2410C"/>
                </a:solidFill>
                <a:latin typeface="MiSans"/>
                <a:ea typeface="MiSans"/>
              </a:rPr>
              <a:t>　</a:t>
            </a:r>
            <a:r>
              <a:rPr lang="en-US" sz="1400" noProof="1" b="1">
                <a:solidFill>
                  <a:srgbClr val="191919"/>
                </a:solidFill>
                <a:latin typeface="MiSans"/>
                <a:ea typeface="MiSans"/>
              </a:rPr>
              <a:t>存什么 —— verify 阶段只记录</a:t>
            </a:r>
            <a:endParaRPr lang="en-US" sz="16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sec02-list"/>
              <p:cNvSpPr txBox="1"/>
              <p:nvPr/>
            </p:nvSpPr>
            <p:spPr>
              <a:xfrm>
                <a:off x="7670800" y="1803400"/>
                <a:ext cx="3911600" cy="154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50000"/>
                  </a:lnSpc>
                </a:pPr>
                <a14:m>
                  <m:oMath>
                    <m:sSub>
                      <m:sSubPr>
                        <m:ctrlPr>
                          <a:rPr lang="en-US" sz="1100" noProof="1">
                            <a:solidFill>
                              <a:srgbClr val="191919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1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u</m:t>
                        </m:r>
                      </m:e>
                      <m:sub>
                        <m:r>
                          <a:rPr lang="en-US" sz="11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  <m:r>
                      <a:rPr lang="en-US" sz="1100" noProof="1" i="0">
                        <a:solidFill>
                          <a:srgbClr val="191919"/>
                        </a:solidFill>
                        <a:latin typeface="MiSans"/>
                      </a:rPr>
                      <m:t>∈</m:t>
                    </m:r>
                    <m:sSup>
                      <m:sSupPr>
                        <m:ctrlPr>
                          <a:rPr lang="en-US" sz="1100" noProof="1">
                            <a:solidFill>
                              <a:srgbClr val="191919"/>
                            </a:solidFill>
                            <a:latin typeface="MiSans"/>
                          </a:rPr>
                        </m:ctrlPr>
                      </m:sSupPr>
                      <m:e>
                        <m:r>
                          <m:rPr>
                            <m:scr m:val="double-struck"/>
                          </m:rPr>
                          <a:rPr lang="en-US" sz="1100" noProof="1" i="0">
                            <a:solidFill>
                              <a:srgbClr val="191919"/>
                            </a:solidFill>
                            <a:latin typeface="MiSans"/>
                          </a:rPr>
                          <m:t>R</m:t>
                        </m:r>
                      </m:e>
                      <m:sup>
                        <m:r>
                          <a:rPr lang="en-US" sz="11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V</m:t>
                        </m:r>
                      </m:sup>
                    </m:sSup>
                  </m:oMath>
                </a14:m>
                <a:r>
                  <a:rPr lang="en-US" sz="1100" noProof="1">
                    <a:solidFill>
                      <a:srgbClr val="191919"/>
                    </a:solidFill>
                    <a:latin typeface="MiSans"/>
                    <a:ea typeface="MiSans"/>
                  </a:rPr>
                  <a:t>　</a:t>
                </a:r>
                <a:r>
                  <a:rPr lang="en-US" sz="1100" noProof="1">
                    <a:solidFill>
                      <a:srgbClr val="5B5B5B"/>
                    </a:solidFill>
                    <a:latin typeface="MiSans"/>
                    <a:ea typeface="MiSans"/>
                  </a:rPr>
                  <a:t>rank-1 修正向量</a:t>
                </a:r>
                <a:endParaRPr lang="en-US" sz="1100" noProof="1"/>
              </a:p>
              <a:p>
                <a:pPr>
                  <a:lnSpc>
                    <a:spcPct val="150000"/>
                  </a:lnSpc>
                  <a:spcBef>
                    <a:spcPts val="1200"/>
                  </a:spcBef>
                </a:pPr>
                <a14:m>
                  <m:oMath>
                    <m:sSub>
                      <m:sSubPr>
                        <m:ctrlPr>
                          <a:rPr lang="en-US" sz="1100" noProof="1">
                            <a:solidFill>
                              <a:srgbClr val="191919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1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k</m:t>
                        </m:r>
                      </m:e>
                      <m:sub>
                        <m:r>
                          <a:rPr lang="en-US" sz="11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  <m:r>
                      <a:rPr lang="en-US" sz="1100" noProof="1" i="0">
                        <a:solidFill>
                          <a:srgbClr val="191919"/>
                        </a:solidFill>
                        <a:latin typeface="MiSans"/>
                      </a:rPr>
                      <m:t>∈</m:t>
                    </m:r>
                    <m:sSup>
                      <m:sSupPr>
                        <m:ctrlPr>
                          <a:rPr lang="en-US" sz="1100" noProof="1">
                            <a:solidFill>
                              <a:srgbClr val="191919"/>
                            </a:solidFill>
                            <a:latin typeface="MiSans"/>
                          </a:rPr>
                        </m:ctrlPr>
                      </m:sSupPr>
                      <m:e>
                        <m:r>
                          <m:rPr>
                            <m:scr m:val="double-struck"/>
                          </m:rPr>
                          <a:rPr lang="en-US" sz="1100" noProof="1" i="0">
                            <a:solidFill>
                              <a:srgbClr val="191919"/>
                            </a:solidFill>
                            <a:latin typeface="MiSans"/>
                          </a:rPr>
                          <m:t>R</m:t>
                        </m:r>
                      </m:e>
                      <m:sup>
                        <m:r>
                          <a:rPr lang="en-US" sz="11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K</m:t>
                        </m:r>
                      </m:sup>
                    </m:sSup>
                  </m:oMath>
                </a14:m>
                <a:r>
                  <a:rPr lang="en-US" sz="1100" noProof="1">
                    <a:solidFill>
                      <a:srgbClr val="191919"/>
                    </a:solidFill>
                    <a:latin typeface="MiSans"/>
                    <a:ea typeface="MiSans"/>
                  </a:rPr>
                  <a:t>　</a:t>
                </a:r>
                <a:r>
                  <a:rPr lang="en-US" sz="1100" noProof="1">
                    <a:solidFill>
                      <a:srgbClr val="5B5B5B"/>
                    </a:solidFill>
                    <a:latin typeface="MiSans"/>
                    <a:ea typeface="MiSans"/>
                  </a:rPr>
                  <a:t>原始 key，commit 重新归一化</a:t>
                </a:r>
                <a:endParaRPr lang="en-US" sz="1100" noProof="1"/>
              </a:p>
              <a:p>
                <a:pPr>
                  <a:lnSpc>
                    <a:spcPct val="150000"/>
                  </a:lnSpc>
                  <a:spcBef>
                    <a:spcPts val="1200"/>
                  </a:spcBef>
                </a:pPr>
                <a14:m>
                  <m:oMath>
                    <m:sSubSup>
                      <m:sSubSupPr>
                        <m:ctrlPr>
                          <a:rPr lang="en-US" sz="1100" noProof="1">
                            <a:solidFill>
                              <a:srgbClr val="191919"/>
                            </a:solidFill>
                            <a:latin typeface="MiSans"/>
                          </a:rPr>
                        </m:ctrlPr>
                      </m:sSubSupPr>
                      <m:e>
                        <m:r>
                          <a:rPr lang="en-US" sz="11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g</m:t>
                        </m:r>
                      </m:e>
                      <m:sub>
                        <m:r>
                          <a:rPr lang="en-US" sz="11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t</m:t>
                        </m:r>
                      </m:sub>
                      <m:sup>
                        <m:r>
                          <a:rPr lang="en-US" sz="1100" noProof="1" i="0">
                            <a:solidFill>
                              <a:srgbClr val="191919"/>
                            </a:solidFill>
                            <a:latin typeface="MiSans"/>
                          </a:rPr>
                          <m:t>r</m:t>
                        </m:r>
                        <m:r>
                          <a:rPr lang="en-US" sz="1100" noProof="1" i="0">
                            <a:solidFill>
                              <a:srgbClr val="191919"/>
                            </a:solidFill>
                            <a:latin typeface="MiSans"/>
                          </a:rPr>
                          <m:t>a</m:t>
                        </m:r>
                        <m:r>
                          <a:rPr lang="en-US" sz="1100" noProof="1" i="0">
                            <a:solidFill>
                              <a:srgbClr val="191919"/>
                            </a:solidFill>
                            <a:latin typeface="MiSans"/>
                          </a:rPr>
                          <m:t>w</m:t>
                        </m:r>
                      </m:sup>
                    </m:sSubSup>
                    <m:r>
                      <a:rPr lang="en-US" sz="1100" noProof="1" i="0">
                        <a:solidFill>
                          <a:srgbClr val="191919"/>
                        </a:solidFill>
                        <a:latin typeface="MiSans"/>
                      </a:rPr>
                      <m:t>∈</m:t>
                    </m:r>
                    <m:sSup>
                      <m:sSupPr>
                        <m:ctrlPr>
                          <a:rPr lang="en-US" sz="1100" noProof="1">
                            <a:solidFill>
                              <a:srgbClr val="191919"/>
                            </a:solidFill>
                            <a:latin typeface="MiSans"/>
                          </a:rPr>
                        </m:ctrlPr>
                      </m:sSupPr>
                      <m:e>
                        <m:r>
                          <m:rPr>
                            <m:scr m:val="double-struck"/>
                          </m:rPr>
                          <a:rPr lang="en-US" sz="1100" noProof="1" i="0">
                            <a:solidFill>
                              <a:srgbClr val="191919"/>
                            </a:solidFill>
                            <a:latin typeface="MiSans"/>
                          </a:rPr>
                          <m:t>R</m:t>
                        </m:r>
                      </m:e>
                      <m:sup>
                        <m:r>
                          <a:rPr lang="en-US" sz="11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K</m:t>
                        </m:r>
                      </m:sup>
                    </m:sSup>
                  </m:oMath>
                </a14:m>
                <a:r>
                  <a:rPr lang="en-US" sz="1100" noProof="1">
                    <a:solidFill>
                      <a:srgbClr val="191919"/>
                    </a:solidFill>
                    <a:latin typeface="MiSans"/>
                    <a:ea typeface="MiSans"/>
                  </a:rPr>
                  <a:t>　</a:t>
                </a:r>
                <a:r>
                  <a:rPr lang="en-US" sz="1100" noProof="1">
                    <a:solidFill>
                      <a:srgbClr val="5B5B5B"/>
                    </a:solidFill>
                    <a:latin typeface="MiSans"/>
                    <a:ea typeface="MiSans"/>
                  </a:rPr>
                  <a:t>原始 gate，重算 </a:t>
                </a:r>
                <a14:m>
                  <m:oMath>
                    <m:sSub>
                      <m:sSubPr>
                        <m:ctrlPr>
                          <a:rPr lang="en-US" sz="1100" noProof="1">
                            <a:solidFill>
                              <a:srgbClr val="5B5B5B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100" noProof="1" i="1">
                            <a:solidFill>
                              <a:srgbClr val="5B5B5B"/>
                            </a:solidFill>
                            <a:latin typeface="MiSans"/>
                          </a:rPr>
                          <m:t>D</m:t>
                        </m:r>
                      </m:e>
                      <m:sub>
                        <m:r>
                          <a:rPr lang="en-US" sz="1100" noProof="1" i="1">
                            <a:solidFill>
                              <a:srgbClr val="5B5B5B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</m:oMath>
                </a14:m>
                <a:endParaRPr lang="en-US" sz="1100" noProof="1"/>
              </a:p>
              <a:p>
                <a:pPr>
                  <a:lnSpc>
                    <a:spcPct val="150000"/>
                  </a:lnSpc>
                  <a:spcBef>
                    <a:spcPts val="1200"/>
                  </a:spcBef>
                </a:pPr>
                <a14:m>
                  <m:oMath>
                    <m:sSub>
                      <m:sSubPr>
                        <m:ctrlPr>
                          <a:rPr lang="en-US" sz="1100" noProof="1">
                            <a:solidFill>
                              <a:srgbClr val="191919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1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S</m:t>
                        </m:r>
                      </m:e>
                      <m:sub>
                        <m:r>
                          <a:rPr lang="en-US" sz="1100" noProof="1" i="0">
                            <a:solidFill>
                              <a:srgbClr val="191919"/>
                            </a:solidFill>
                            <a:latin typeface="MiSans"/>
                          </a:rPr>
                          <m:t>0</m:t>
                        </m:r>
                      </m:sub>
                    </m:sSub>
                    <m:r>
                      <a:rPr lang="en-US" sz="1100" noProof="1" i="0">
                        <a:solidFill>
                          <a:srgbClr val="191919"/>
                        </a:solidFill>
                        <a:latin typeface="MiSans"/>
                      </a:rPr>
                      <m:t>∈</m:t>
                    </m:r>
                    <m:sSup>
                      <m:sSupPr>
                        <m:ctrlPr>
                          <a:rPr lang="en-US" sz="1100" noProof="1">
                            <a:solidFill>
                              <a:srgbClr val="191919"/>
                            </a:solidFill>
                            <a:latin typeface="MiSans"/>
                          </a:rPr>
                        </m:ctrlPr>
                      </m:sSupPr>
                      <m:e>
                        <m:r>
                          <m:rPr>
                            <m:scr m:val="double-struck"/>
                          </m:rPr>
                          <a:rPr lang="en-US" sz="1100" noProof="1" i="0">
                            <a:solidFill>
                              <a:srgbClr val="191919"/>
                            </a:solidFill>
                            <a:latin typeface="MiSans"/>
                          </a:rPr>
                          <m:t>R</m:t>
                        </m:r>
                      </m:e>
                      <m:sup>
                        <m:r>
                          <a:rPr lang="en-US" sz="11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V</m:t>
                        </m:r>
                        <m:r>
                          <a:rPr lang="en-US" sz="1100" noProof="1" i="0">
                            <a:solidFill>
                              <a:srgbClr val="191919"/>
                            </a:solidFill>
                            <a:latin typeface="MiSans"/>
                          </a:rPr>
                          <m:t>×</m:t>
                        </m:r>
                        <m:r>
                          <a:rPr lang="en-US" sz="11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K</m:t>
                        </m:r>
                      </m:sup>
                    </m:sSup>
                  </m:oMath>
                </a14:m>
                <a:r>
                  <a:rPr lang="en-US" sz="1100" noProof="1">
                    <a:solidFill>
                      <a:srgbClr val="191919"/>
                    </a:solidFill>
                    <a:latin typeface="MiSans"/>
                    <a:ea typeface="MiSans"/>
                  </a:rPr>
                  <a:t>　</a:t>
                </a:r>
                <a:r>
                  <a:rPr lang="en-US" sz="1100" noProof="1">
                    <a:solidFill>
                      <a:srgbClr val="5B5B5B"/>
                    </a:solidFill>
                    <a:latin typeface="MiSans"/>
                    <a:ea typeface="MiSans"/>
                  </a:rPr>
                  <a:t>已提交 checkpoint，全局一份</a:t>
                </a:r>
                <a:endParaRPr lang="en-US" sz="1100" noProof="1"/>
              </a:p>
            </p:txBody>
          </p:sp>
        </mc:Choice>
        <mc:Fallback xmlns="">
          <p:sp>
            <p:nvSpPr>
              <p:cNvPr id="19" name="sec02-list"/>
              <p:cNvSpPr txBox="1"/>
              <p:nvPr/>
            </p:nvSpPr>
            <p:spPr>
              <a:xfrm>
                <a:off x="7670800" y="1803400"/>
                <a:ext cx="3911600" cy="154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50000"/>
                  </a:lnSpc>
                </a:pPr>
                <a:r>
                  <a:rPr lang="en-US" sz="1100" noProof="1">
                    <a:solidFill>
                      <a:srgbClr val="191919"/>
                    </a:solidFill>
                    <a:latin typeface="MiSans"/>
                    <a:ea typeface="MiSans"/>
                  </a:rPr>
                  <a:t>\(u_t \in \mathbb{R}^{V}\)　</a:t>
                </a:r>
                <a:r>
                  <a:rPr lang="en-US" sz="1100" noProof="1">
                    <a:solidFill>
                      <a:srgbClr val="5B5B5B"/>
                    </a:solidFill>
                    <a:latin typeface="MiSans"/>
                    <a:ea typeface="MiSans"/>
                  </a:rPr>
                  <a:t>rank-1 修正向量</a:t>
                </a:r>
                <a:endParaRPr lang="en-US" sz="1100" noProof="1"/>
              </a:p>
              <a:p>
                <a:pPr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sz="1100" noProof="1">
                    <a:solidFill>
                      <a:srgbClr val="191919"/>
                    </a:solidFill>
                    <a:latin typeface="MiSans"/>
                    <a:ea typeface="MiSans"/>
                  </a:rPr>
                  <a:t>\(k_t \in \mathbb{R}^{K}\)　</a:t>
                </a:r>
                <a:r>
                  <a:rPr lang="en-US" sz="1100" noProof="1">
                    <a:solidFill>
                      <a:srgbClr val="5B5B5B"/>
                    </a:solidFill>
                    <a:latin typeface="MiSans"/>
                    <a:ea typeface="MiSans"/>
                  </a:rPr>
                  <a:t>原始 key，commit 重新归一化</a:t>
                </a:r>
                <a:endParaRPr lang="en-US" sz="1100" noProof="1"/>
              </a:p>
              <a:p>
                <a:pPr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sz="1100" noProof="1">
                    <a:solidFill>
                      <a:srgbClr val="191919"/>
                    </a:solidFill>
                    <a:latin typeface="MiSans"/>
                    <a:ea typeface="MiSans"/>
                  </a:rPr>
                  <a:t>\(g^{\mathrm{raw}}_t \in \mathbb{R}^{K}\)　</a:t>
                </a:r>
                <a:r>
                  <a:rPr lang="en-US" sz="1100" noProof="1">
                    <a:solidFill>
                      <a:srgbClr val="5B5B5B"/>
                    </a:solidFill>
                    <a:latin typeface="MiSans"/>
                    <a:ea typeface="MiSans"/>
                  </a:rPr>
                  <a:t>原始 gate，重算 \(D_t\)</a:t>
                </a:r>
                <a:endParaRPr lang="en-US" sz="1100" noProof="1"/>
              </a:p>
              <a:p>
                <a:pPr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sz="1100" noProof="1">
                    <a:solidFill>
                      <a:srgbClr val="191919"/>
                    </a:solidFill>
                    <a:latin typeface="MiSans"/>
                    <a:ea typeface="MiSans"/>
                  </a:rPr>
                  <a:t>\(S_0 \in \mathbb{R}^{V\times K}\)　</a:t>
                </a:r>
                <a:r>
                  <a:rPr lang="en-US" sz="1100" noProof="1">
                    <a:solidFill>
                      <a:srgbClr val="5B5B5B"/>
                    </a:solidFill>
                    <a:latin typeface="MiSans"/>
                    <a:ea typeface="MiSans"/>
                  </a:rPr>
                  <a:t>已提交 checkpoint，全局一份</a:t>
                </a:r>
                <a:endParaRPr lang="en-US" sz="1100" noProof="1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sec02-accent"/>
              <p:cNvSpPr txBox="1"/>
              <p:nvPr/>
            </p:nvSpPr>
            <p:spPr>
              <a:xfrm>
                <a:off x="7670800" y="3429000"/>
                <a:ext cx="3911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/>
              <a:lstStyle/>
              <a:p>
                <a:pPr>
                  <a:lnSpc>
                    <a:spcPct val="120000"/>
                  </a:lnSpc>
                </a:pPr>
                <a:r>
                  <a:rPr lang="en-US" sz="1100" noProof="1" b="1">
                    <a:solidFill>
                      <a:srgbClr val="C2410C"/>
                    </a:solidFill>
                    <a:latin typeface="MiSans"/>
                    <a:ea typeface="MiSans"/>
                  </a:rPr>
                  <a:t>每位置仅 </a:t>
                </a:r>
                <a14:m>
                  <m:oMath>
                    <m:r>
                      <a:rPr lang="en-US" sz="1100" noProof="1" b="1" i="1">
                        <a:solidFill>
                          <a:srgbClr val="C2410C"/>
                        </a:solidFill>
                        <a:latin typeface="MiSans"/>
                      </a:rPr>
                      <m:t>O</m:t>
                    </m:r>
                    <m:r>
                      <a:rPr lang="en-US" sz="1100" noProof="1" b="1" i="0">
                        <a:solidFill>
                          <a:srgbClr val="C2410C"/>
                        </a:solidFill>
                        <a:latin typeface="MiSans"/>
                      </a:rPr>
                      <m:t>(</m:t>
                    </m:r>
                    <m:r>
                      <a:rPr lang="en-US" sz="1100" noProof="1" b="1" i="1">
                        <a:solidFill>
                          <a:srgbClr val="C2410C"/>
                        </a:solidFill>
                        <a:latin typeface="MiSans"/>
                      </a:rPr>
                      <m:t>V</m:t>
                    </m:r>
                    <m:r>
                      <a:rPr lang="en-US" sz="1100" noProof="1" b="1" i="0">
                        <a:solidFill>
                          <a:srgbClr val="C2410C"/>
                        </a:solidFill>
                        <a:latin typeface="MiSans"/>
                      </a:rPr>
                      <m:t>+</m:t>
                    </m:r>
                    <m:r>
                      <a:rPr lang="en-US" sz="1100" noProof="1" b="1" i="0">
                        <a:solidFill>
                          <a:srgbClr val="C2410C"/>
                        </a:solidFill>
                        <a:latin typeface="MiSans"/>
                      </a:rPr>
                      <m:t>2</m:t>
                    </m:r>
                    <m:r>
                      <a:rPr lang="en-US" sz="1100" noProof="1" b="1" i="1">
                        <a:solidFill>
                          <a:srgbClr val="C2410C"/>
                        </a:solidFill>
                        <a:latin typeface="MiSans"/>
                      </a:rPr>
                      <m:t>K</m:t>
                    </m:r>
                    <m:r>
                      <a:rPr lang="en-US" sz="1100" noProof="1" b="1" i="0">
                        <a:solidFill>
                          <a:srgbClr val="C2410C"/>
                        </a:solidFill>
                        <a:latin typeface="MiSans"/>
                      </a:rPr>
                      <m:t>)</m:t>
                    </m:r>
                  </m:oMath>
                </a14:m>
                <a:r>
                  <a:rPr lang="en-US" sz="1100" noProof="1" b="1">
                    <a:solidFill>
                      <a:srgbClr val="C2410C"/>
                    </a:solidFill>
                    <a:latin typeface="MiSans"/>
                    <a:ea typeface="MiSans"/>
                  </a:rPr>
                  <a:t>，而非完整矩阵 </a:t>
                </a:r>
                <a14:m>
                  <m:oMath>
                    <m:r>
                      <a:rPr lang="en-US" sz="1100" noProof="1" b="1" i="1">
                        <a:solidFill>
                          <a:srgbClr val="C2410C"/>
                        </a:solidFill>
                        <a:latin typeface="MiSans"/>
                      </a:rPr>
                      <m:t>V</m:t>
                    </m:r>
                    <m:r>
                      <a:rPr lang="en-US" sz="1100" noProof="1" b="1" i="0">
                        <a:solidFill>
                          <a:srgbClr val="C2410C"/>
                        </a:solidFill>
                        <a:latin typeface="MiSans"/>
                      </a:rPr>
                      <m:t>×</m:t>
                    </m:r>
                    <m:r>
                      <a:rPr lang="en-US" sz="1100" noProof="1" b="1" i="1">
                        <a:solidFill>
                          <a:srgbClr val="C2410C"/>
                        </a:solidFill>
                        <a:latin typeface="MiSans"/>
                      </a:rPr>
                      <m:t>K</m:t>
                    </m:r>
                  </m:oMath>
                </a14:m>
                <a:endParaRPr lang="en-US" sz="1100" noProof="1"/>
              </a:p>
            </p:txBody>
          </p:sp>
        </mc:Choice>
        <mc:Fallback xmlns="">
          <p:sp>
            <p:nvSpPr>
              <p:cNvPr id="20" name="sec02-accent"/>
              <p:cNvSpPr txBox="1"/>
              <p:nvPr/>
            </p:nvSpPr>
            <p:spPr>
              <a:xfrm>
                <a:off x="7670800" y="3429000"/>
                <a:ext cx="3911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/>
              <a:lstStyle/>
              <a:p>
                <a:pPr>
                  <a:lnSpc>
                    <a:spcPct val="120000"/>
                  </a:lnSpc>
                </a:pPr>
                <a:r>
                  <a:rPr lang="en-US" sz="1100" noProof="1" b="1">
                    <a:solidFill>
                      <a:srgbClr val="C2410C"/>
                    </a:solidFill>
                    <a:latin typeface="MiSans"/>
                    <a:ea typeface="MiSans"/>
                  </a:rPr>
                  <a:t>每位置仅 \(O(V+2K)\)，而非完整矩阵 \(V\times K\)</a:t>
                </a:r>
                <a:endParaRPr lang="en-US" sz="1100" noProof="1"/>
              </a:p>
            </p:txBody>
          </p:sp>
        </mc:Fallback>
      </mc:AlternateContent>
      <p:sp>
        <p:nvSpPr>
          <p:cNvPr id="21" name="rule-3"/>
          <p:cNvSpPr/>
          <p:nvPr/>
        </p:nvSpPr>
        <p:spPr>
          <a:xfrm>
            <a:off x="7670800" y="3784600"/>
            <a:ext cx="3911600" cy="12700"/>
          </a:xfrm>
          <a:prstGeom prst="rect">
            <a:avLst/>
          </a:prstGeom>
          <a:solidFill>
            <a:srgbClr val="E3E1DC"/>
          </a:solidFill>
          <a:ln>
            <a:noFill/>
          </a:ln>
        </p:spPr>
      </p:sp>
      <p:sp>
        <p:nvSpPr>
          <p:cNvPr id="22" name="sec02-cost-head"/>
          <p:cNvSpPr txBox="1"/>
          <p:nvPr/>
        </p:nvSpPr>
        <p:spPr>
          <a:xfrm>
            <a:off x="7670800" y="3962400"/>
            <a:ext cx="3911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91919"/>
                </a:solidFill>
                <a:latin typeface="MiSans"/>
                <a:ea typeface="MiSans"/>
              </a:rPr>
              <a:t>存储量对比（H 个 head、链长 L）</a:t>
            </a:r>
            <a:endParaRPr lang="en-US" sz="12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sec02-cost"/>
              <p:cNvSpPr txBox="1"/>
              <p:nvPr/>
            </p:nvSpPr>
            <p:spPr>
              <a:xfrm>
                <a:off x="7670800" y="4241800"/>
                <a:ext cx="39116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70000"/>
                  </a:lnSpc>
                </a:pPr>
                <a:r>
                  <a:rPr lang="en-US" sz="1200" noProof="1" b="1">
                    <a:solidFill>
                      <a:srgbClr val="0F766E"/>
                    </a:solidFill>
                    <a:latin typeface="MiSans"/>
                    <a:ea typeface="MiSans"/>
                  </a:rPr>
                  <a:t>RecoverSSM</a:t>
                </a:r>
                <a:r>
                  <a:rPr lang="en-US" sz="1200" noProof="1">
                    <a:solidFill>
                      <a:srgbClr val="191919"/>
                    </a:solidFill>
                    <a:latin typeface="MiSans"/>
                    <a:ea typeface="MiSans"/>
                  </a:rPr>
                  <a:t>　</a:t>
                </a:r>
                <a14:m>
                  <m:oMath>
                    <m:r>
                      <a:rPr lang="en-US" sz="1200" noProof="1" i="1">
                        <a:solidFill>
                          <a:srgbClr val="191919"/>
                        </a:solidFill>
                        <a:latin typeface="MiSans"/>
                      </a:rPr>
                      <m:t>O</m:t>
                    </m:r>
                    <m:r>
                      <a:rPr lang="en-US" sz="1200" noProof="1" i="0">
                        <a:solidFill>
                          <a:srgbClr val="191919"/>
                        </a:solidFill>
                        <a:latin typeface="MiSans"/>
                      </a:rPr>
                      <m:t>(</m:t>
                    </m:r>
                    <m:r>
                      <a:rPr lang="en-US" sz="1200" noProof="1" i="1">
                        <a:solidFill>
                          <a:srgbClr val="191919"/>
                        </a:solidFill>
                        <a:latin typeface="MiSans"/>
                      </a:rPr>
                      <m:t>H</m:t>
                    </m:r>
                    <m:r>
                      <a:rPr lang="en-US" sz="1200" noProof="1" i="1">
                        <a:solidFill>
                          <a:srgbClr val="191919"/>
                        </a:solidFill>
                        <a:latin typeface="MiSans"/>
                      </a:rPr>
                      <m:t>V</m:t>
                    </m:r>
                    <m:r>
                      <a:rPr lang="en-US" sz="1200" noProof="1" i="1">
                        <a:solidFill>
                          <a:srgbClr val="191919"/>
                        </a:solidFill>
                        <a:latin typeface="MiSans"/>
                      </a:rPr>
                      <m:t>K</m:t>
                    </m:r>
                    <m:r>
                      <a:rPr lang="en-US" sz="1200" noProof="1" i="0">
                        <a:solidFill>
                          <a:srgbClr val="191919"/>
                        </a:solidFill>
                        <a:latin typeface="MiSans"/>
                      </a:rPr>
                      <m:t>+</m:t>
                    </m:r>
                    <m:r>
                      <a:rPr lang="en-US" sz="1200" noProof="1" i="1">
                        <a:solidFill>
                          <a:srgbClr val="191919"/>
                        </a:solidFill>
                        <a:latin typeface="MiSans"/>
                      </a:rPr>
                      <m:t>L</m:t>
                    </m:r>
                    <m:r>
                      <a:rPr lang="en-US" sz="1200" noProof="1" i="1">
                        <a:solidFill>
                          <a:srgbClr val="191919"/>
                        </a:solidFill>
                        <a:latin typeface="MiSans"/>
                      </a:rPr>
                      <m:t>H</m:t>
                    </m:r>
                    <m:r>
                      <a:rPr lang="en-US" sz="1200" noProof="1" i="0">
                        <a:solidFill>
                          <a:srgbClr val="191919"/>
                        </a:solidFill>
                        <a:latin typeface="MiSans"/>
                      </a:rPr>
                      <m:t>(</m:t>
                    </m:r>
                    <m:r>
                      <a:rPr lang="en-US" sz="1200" noProof="1" i="1">
                        <a:solidFill>
                          <a:srgbClr val="191919"/>
                        </a:solidFill>
                        <a:latin typeface="MiSans"/>
                      </a:rPr>
                      <m:t>V</m:t>
                    </m:r>
                    <m:r>
                      <a:rPr lang="en-US" sz="1200" noProof="1" i="0">
                        <a:solidFill>
                          <a:srgbClr val="191919"/>
                        </a:solidFill>
                        <a:latin typeface="MiSans"/>
                      </a:rPr>
                      <m:t>+</m:t>
                    </m:r>
                    <m:r>
                      <a:rPr lang="en-US" sz="1200" noProof="1" i="0">
                        <a:solidFill>
                          <a:srgbClr val="191919"/>
                        </a:solidFill>
                        <a:latin typeface="MiSans"/>
                      </a:rPr>
                      <m:t>2</m:t>
                    </m:r>
                    <m:r>
                      <a:rPr lang="en-US" sz="1200" noProof="1" i="1">
                        <a:solidFill>
                          <a:srgbClr val="191919"/>
                        </a:solidFill>
                        <a:latin typeface="MiSans"/>
                      </a:rPr>
                      <m:t>K</m:t>
                    </m:r>
                    <m:r>
                      <a:rPr lang="en-US" sz="1200" noProof="1" i="0">
                        <a:solidFill>
                          <a:srgbClr val="191919"/>
                        </a:solidFill>
                        <a:latin typeface="MiSans"/>
                      </a:rPr>
                      <m:t>)</m:t>
                    </m:r>
                    <m:r>
                      <a:rPr lang="en-US" sz="1200" noProof="1" i="0">
                        <a:solidFill>
                          <a:srgbClr val="191919"/>
                        </a:solidFill>
                        <a:latin typeface="MiSans"/>
                      </a:rPr>
                      <m:t>)</m:t>
                    </m:r>
                  </m:oMath>
                </a14:m>
                <a:endParaRPr lang="en-US" sz="1200" noProof="1"/>
              </a:p>
              <a:p>
                <a:pPr>
                  <a:lnSpc>
                    <a:spcPct val="170000"/>
                  </a:lnSpc>
                </a:pPr>
                <a:r>
                  <a:rPr lang="en-US" sz="1200" noProof="1">
                    <a:solidFill>
                      <a:srgbClr val="8A8A8A"/>
                    </a:solidFill>
                    <a:latin typeface="MiSans"/>
                    <a:ea typeface="MiSans"/>
                  </a:rPr>
                  <a:t>原始方案</a:t>
                </a:r>
                <a:r>
                  <a:rPr lang="en-US" sz="1200" noProof="1">
                    <a:solidFill>
                      <a:srgbClr val="191919"/>
                    </a:solidFill>
                    <a:latin typeface="MiSans"/>
                    <a:ea typeface="MiSans"/>
                  </a:rPr>
                  <a:t>　　</a:t>
                </a:r>
                <a14:m>
                  <m:oMath>
                    <m:r>
                      <a:rPr lang="en-US" sz="1200" noProof="1" i="1">
                        <a:solidFill>
                          <a:srgbClr val="191919"/>
                        </a:solidFill>
                        <a:latin typeface="MiSans"/>
                      </a:rPr>
                      <m:t>O</m:t>
                    </m:r>
                    <m:r>
                      <a:rPr lang="en-US" sz="1200" noProof="1" i="0">
                        <a:solidFill>
                          <a:srgbClr val="191919"/>
                        </a:solidFill>
                        <a:latin typeface="MiSans"/>
                      </a:rPr>
                      <m:t>(</m:t>
                    </m:r>
                    <m:r>
                      <a:rPr lang="en-US" sz="1200" noProof="1" i="1">
                        <a:solidFill>
                          <a:srgbClr val="191919"/>
                        </a:solidFill>
                        <a:latin typeface="MiSans"/>
                      </a:rPr>
                      <m:t>L</m:t>
                    </m:r>
                    <m:r>
                      <a:rPr lang="en-US" sz="1200" noProof="1" i="1">
                        <a:solidFill>
                          <a:srgbClr val="191919"/>
                        </a:solidFill>
                        <a:latin typeface="MiSans"/>
                      </a:rPr>
                      <m:t>H</m:t>
                    </m:r>
                    <m:r>
                      <a:rPr lang="en-US" sz="1200" noProof="1" i="1">
                        <a:solidFill>
                          <a:srgbClr val="191919"/>
                        </a:solidFill>
                        <a:latin typeface="MiSans"/>
                      </a:rPr>
                      <m:t>V</m:t>
                    </m:r>
                    <m:r>
                      <a:rPr lang="en-US" sz="1200" noProof="1" i="1">
                        <a:solidFill>
                          <a:srgbClr val="191919"/>
                        </a:solidFill>
                        <a:latin typeface="MiSans"/>
                      </a:rPr>
                      <m:t>K</m:t>
                    </m:r>
                    <m:r>
                      <a:rPr lang="en-US" sz="1200" noProof="1" i="0">
                        <a:solidFill>
                          <a:srgbClr val="191919"/>
                        </a:solidFill>
                        <a:latin typeface="MiSans"/>
                      </a:rPr>
                      <m:t>)</m:t>
                    </m:r>
                  </m:oMath>
                </a14:m>
                <a:endParaRPr lang="en-US" sz="1200" noProof="1"/>
              </a:p>
            </p:txBody>
          </p:sp>
        </mc:Choice>
        <mc:Fallback xmlns="">
          <p:sp>
            <p:nvSpPr>
              <p:cNvPr id="23" name="sec02-cost"/>
              <p:cNvSpPr txBox="1"/>
              <p:nvPr/>
            </p:nvSpPr>
            <p:spPr>
              <a:xfrm>
                <a:off x="7670800" y="4241800"/>
                <a:ext cx="39116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70000"/>
                  </a:lnSpc>
                </a:pPr>
                <a:r>
                  <a:rPr lang="en-US" sz="1200" noProof="1" b="1">
                    <a:solidFill>
                      <a:srgbClr val="0F766E"/>
                    </a:solidFill>
                    <a:latin typeface="MiSans"/>
                    <a:ea typeface="MiSans"/>
                  </a:rPr>
                  <a:t>RecoverSSM</a:t>
                </a:r>
                <a:r>
                  <a:rPr lang="en-US" sz="1200" noProof="1">
                    <a:solidFill>
                      <a:srgbClr val="191919"/>
                    </a:solidFill>
                    <a:latin typeface="MiSans"/>
                    <a:ea typeface="MiSans"/>
                  </a:rPr>
                  <a:t>　\(O\bigl(HVK + LH(V+2K)\bigr)\)</a:t>
                </a:r>
                <a:endParaRPr lang="en-US" sz="1200" noProof="1"/>
              </a:p>
              <a:p>
                <a:pPr>
                  <a:lnSpc>
                    <a:spcPct val="170000"/>
                  </a:lnSpc>
                </a:pPr>
                <a:r>
                  <a:rPr lang="en-US" sz="1200" noProof="1">
                    <a:solidFill>
                      <a:srgbClr val="8A8A8A"/>
                    </a:solidFill>
                    <a:latin typeface="MiSans"/>
                    <a:ea typeface="MiSans"/>
                  </a:rPr>
                  <a:t>原始方案</a:t>
                </a:r>
                <a:r>
                  <a:rPr lang="en-US" sz="1200" noProof="1">
                    <a:solidFill>
                      <a:srgbClr val="191919"/>
                    </a:solidFill>
                    <a:latin typeface="MiSans"/>
                    <a:ea typeface="MiSans"/>
                  </a:rPr>
                  <a:t>　　\(O(LHVK)\)</a:t>
                </a:r>
                <a:endParaRPr lang="en-US" sz="1200" noProof="1"/>
              </a:p>
            </p:txBody>
          </p:sp>
        </mc:Fallback>
      </mc:AlternateContent>
      <p:sp>
        <p:nvSpPr>
          <p:cNvPr id="24" name="sec02-note"/>
          <p:cNvSpPr txBox="1"/>
          <p:nvPr/>
        </p:nvSpPr>
        <p:spPr>
          <a:xfrm>
            <a:off x="7670800" y="5003800"/>
            <a:ext cx="39116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000" noProof="1">
                <a:solidFill>
                  <a:srgbClr val="8A8A8A"/>
                </a:solidFill>
                <a:latin typeface="MiSans"/>
                <a:ea typeface="MiSans"/>
              </a:rPr>
              <a:t>verify 期间 checkpoint 保持不变；commit 只重建接受前缀并写回原 slot，随后释放本轮记录。下一轮从已写回状态继续，递推链保持连续。</a:t>
            </a:r>
            <a:endParaRPr lang="en-US" sz="1000" noProof="1"/>
          </a:p>
        </p:txBody>
      </p:sp>
      <p:sp>
        <p:nvSpPr>
          <p:cNvPr id="25" name="footer"/>
          <p:cNvSpPr txBox="1"/>
          <p:nvPr/>
        </p:nvSpPr>
        <p:spPr>
          <a:xfrm>
            <a:off x="609600" y="6654800"/>
            <a:ext cx="109728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A8A8A"/>
                </a:solidFill>
                <a:latin typeface="MiSans"/>
                <a:ea typeface="MiSans"/>
              </a:rPr>
              <a:t>依据 </a:t>
            </a:r>
            <a:r>
              <a:rPr lang="en-US" sz="90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vllm-ascend PR #19087</a:t>
            </a:r>
            <a:r>
              <a:rPr lang="en-US" sz="900" noProof="1">
                <a:solidFill>
                  <a:srgbClr val="8A8A8A"/>
                </a:solidFill>
                <a:latin typeface="MiSans"/>
                <a:ea typeface="MiSans"/>
              </a:rPr>
              <a:t>（kda_recoverssm_verify / kda_recoverssm_commit）实现整理　·　存储量为逻辑 tensor size，非 allocator 实际缩减</a:t>
            </a:r>
            <a:endParaRPr lang="en-US" sz="9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556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8A8A8A"/>
                </a:solidFill>
                <a:latin typeface="MiSans"/>
                <a:ea typeface="MiSans"/>
              </a:rPr>
              <a:t>KIMI K3 · SPECULATIVE DECODING · RECOVERSSM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096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191919"/>
                </a:solidFill>
                <a:latin typeface="思源宋体"/>
                <a:ea typeface="思源宋体"/>
              </a:rPr>
              <a:t>Verify → Commit 时序：候选链全量展开，仅接受前缀被重建写回</a:t>
            </a:r>
            <a:endParaRPr lang="en-US" sz="2200" noProof="1"/>
          </a:p>
        </p:txBody>
      </p:sp>
      <p:sp>
        <p:nvSpPr>
          <p:cNvPr id="4" name="head-rule"/>
          <p:cNvSpPr/>
          <p:nvPr/>
        </p:nvSpPr>
        <p:spPr>
          <a:xfrm>
            <a:off x="609600" y="1193800"/>
            <a:ext cx="10972800" cy="12700"/>
          </a:xfrm>
          <a:prstGeom prst="rect">
            <a:avLst/>
          </a:prstGeom>
          <a:solidFill>
            <a:srgbClr val="E3E1DC"/>
          </a:solidFill>
          <a:ln>
            <a:noFill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verify-head"/>
              <p:cNvSpPr txBox="1"/>
              <p:nvPr/>
            </p:nvSpPr>
            <p:spPr>
              <a:xfrm>
                <a:off x="609600" y="1447800"/>
                <a:ext cx="10160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/>
              <a:lstStyle/>
              <a:p>
                <a:pPr>
                  <a:lnSpc>
                    <a:spcPct val="120000"/>
                  </a:lnSpc>
                </a:pPr>
                <a:r>
                  <a:rPr lang="en-US" sz="1300" noProof="1">
                    <a:solidFill>
                      <a:srgbClr val="C2410C"/>
                    </a:solidFill>
                    <a:latin typeface="MiSans"/>
                    <a:ea typeface="MiSans"/>
                  </a:rPr>
                  <a:t>①</a:t>
                </a:r>
                <a:r>
                  <a:rPr lang="en-US" sz="1300" noProof="1">
                    <a:solidFill>
                      <a:srgbClr val="C2410C"/>
                    </a:solidFill>
                    <a:latin typeface="MiSans"/>
                    <a:ea typeface="MiSans"/>
                  </a:rPr>
                  <a:t>　</a:t>
                </a:r>
                <a:r>
                  <a:rPr lang="en-US" sz="1300" noProof="1" b="1">
                    <a:solidFill>
                      <a:srgbClr val="191919"/>
                    </a:solidFill>
                    <a:latin typeface="MiSans"/>
                    <a:ea typeface="MiSans"/>
                  </a:rPr>
                  <a:t>Verify —— 从已提交 checkpoint 前向展开整条候选链，输出 </a:t>
                </a:r>
                <a14:m>
                  <m:oMath>
                    <m:sSub>
                      <m:sSubPr>
                        <m:ctrlPr>
                          <a:rPr lang="en-US" sz="1300" noProof="1" b="1">
                            <a:solidFill>
                              <a:srgbClr val="191919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300" noProof="1" b="1" i="1">
                            <a:solidFill>
                              <a:srgbClr val="191919"/>
                            </a:solidFill>
                            <a:latin typeface="MiSans"/>
                          </a:rPr>
                          <m:t>y</m:t>
                        </m:r>
                      </m:e>
                      <m:sub>
                        <m:r>
                          <a:rPr lang="en-US" sz="1300" noProof="1" b="1" i="1">
                            <a:solidFill>
                              <a:srgbClr val="191919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sz="1300" noProof="1" b="1">
                    <a:solidFill>
                      <a:srgbClr val="191919"/>
                    </a:solidFill>
                    <a:latin typeface="MiSans"/>
                    <a:ea typeface="MiSans"/>
                  </a:rPr>
                  <a:t>并保存 </a:t>
                </a:r>
                <a14:m>
                  <m:oMath>
                    <m:sSub>
                      <m:sSubPr>
                        <m:ctrlPr>
                          <a:rPr lang="en-US" sz="1300" noProof="1" b="1">
                            <a:solidFill>
                              <a:srgbClr val="191919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300" noProof="1" b="1" i="1">
                            <a:solidFill>
                              <a:srgbClr val="191919"/>
                            </a:solidFill>
                            <a:latin typeface="MiSans"/>
                          </a:rPr>
                          <m:t>R</m:t>
                        </m:r>
                      </m:e>
                      <m:sub>
                        <m:r>
                          <a:rPr lang="en-US" sz="1300" noProof="1" b="1" i="1">
                            <a:solidFill>
                              <a:srgbClr val="191919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sz="1300" noProof="1" b="1">
                    <a:solidFill>
                      <a:srgbClr val="191919"/>
                    </a:solidFill>
                    <a:latin typeface="MiSans"/>
                    <a:ea typeface="MiSans"/>
                  </a:rPr>
                  <a:t>，checkpoint 不变</a:t>
                </a:r>
                <a:endParaRPr lang="en-US" sz="1600" noProof="1"/>
              </a:p>
            </p:txBody>
          </p:sp>
        </mc:Choice>
        <mc:Fallback xmlns="">
          <p:sp>
            <p:nvSpPr>
              <p:cNvPr id="5" name="verify-head"/>
              <p:cNvSpPr txBox="1"/>
              <p:nvPr/>
            </p:nvSpPr>
            <p:spPr>
              <a:xfrm>
                <a:off x="609600" y="1447800"/>
                <a:ext cx="10160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/>
              <a:lstStyle/>
              <a:p>
                <a:pPr>
                  <a:lnSpc>
                    <a:spcPct val="120000"/>
                  </a:lnSpc>
                </a:pPr>
                <a:r>
                  <a:rPr lang="en-US" sz="1300" noProof="1">
                    <a:solidFill>
                      <a:srgbClr val="C2410C"/>
                    </a:solidFill>
                    <a:latin typeface="MiSans"/>
                    <a:ea typeface="MiSans"/>
                  </a:rPr>
                  <a:t>①</a:t>
                </a:r>
                <a:r>
                  <a:rPr lang="en-US" sz="1300" noProof="1">
                    <a:solidFill>
                      <a:srgbClr val="C2410C"/>
                    </a:solidFill>
                    <a:latin typeface="MiSans"/>
                    <a:ea typeface="MiSans"/>
                  </a:rPr>
                  <a:t>　</a:t>
                </a:r>
                <a:r>
                  <a:rPr lang="en-US" sz="1300" noProof="1" b="1">
                    <a:solidFill>
                      <a:srgbClr val="191919"/>
                    </a:solidFill>
                    <a:latin typeface="MiSans"/>
                    <a:ea typeface="MiSans"/>
                  </a:rPr>
                  <a:t>Verify —— 从已提交 checkpoint 前向展开整条候选链，输出 \(y_t\)并保存 \(R_t\)，checkpoint 不变</a:t>
                </a:r>
                <a:endParaRPr lang="en-US" sz="1600" noProof="1"/>
              </a:p>
            </p:txBody>
          </p:sp>
        </mc:Fallback>
      </mc:AlternateContent>
      <p:sp>
        <p:nvSpPr>
          <p:cNvPr id="6" name="verify-bracket"/>
          <p:cNvSpPr/>
          <p:nvPr>
            <p:extLst>
              <p:ext uri="{F5677B7D-0D2A-4D9B-9A5C-6D8D7D0E5A5D}">
                <pptd:line encoding="base64url">eyJ2aWV3Qm94IjpbNTgyLDhdLCJwb2ludHMiOiIwLDggMCwwIDU4MiwwIDU4Miw4IiwiY3VydmUiOiJzaGFycCJ9</pptd:line>
              </p:ext>
            </p:extLst>
          </p:nvPr>
        </p:nvSpPr>
        <p:spPr>
          <a:xfrm>
            <a:off x="1117600" y="1803400"/>
            <a:ext cx="7391400" cy="101600"/>
          </a:xfrm>
          <a:custGeom>
            <a:avLst/>
            <a:gdLst/>
            <a:ahLst/>
            <a:cxnLst/>
            <a:rect l="l" t="t" r="r" b="b"/>
            <a:pathLst>
              <a:path w="582" h="8">
                <a:moveTo>
                  <a:pt x="0" y="8"/>
                </a:moveTo>
                <a:lnTo>
                  <a:pt x="0" y="0"/>
                </a:lnTo>
                <a:lnTo>
                  <a:pt x="582" y="0"/>
                </a:lnTo>
                <a:lnTo>
                  <a:pt x="582" y="8"/>
                </a:lnTo>
              </a:path>
            </a:pathLst>
          </a:custGeom>
          <a:noFill/>
          <a:ln w="12700">
            <a:solidFill>
              <a:srgbClr val="8A8A8A"/>
            </a:solidFill>
          </a:ln>
        </p:spPr>
      </p:sp>
      <p:sp>
        <p:nvSpPr>
          <p:cNvPr id="7" name="accept-label"/>
          <p:cNvSpPr txBox="1"/>
          <p:nvPr/>
        </p:nvSpPr>
        <p:spPr>
          <a:xfrm>
            <a:off x="3632200" y="2006600"/>
            <a:ext cx="233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C2410C"/>
                </a:solidFill>
                <a:latin typeface="MiSans"/>
                <a:ea typeface="MiSans"/>
              </a:rPr>
              <a:t>接受前缀 1…n（参与重建）</a:t>
            </a:r>
            <a:endParaRPr lang="en-US" sz="900" noProof="1"/>
          </a:p>
        </p:txBody>
      </p:sp>
      <p:sp>
        <p:nvSpPr>
          <p:cNvPr id="8" name="reject-label"/>
          <p:cNvSpPr txBox="1"/>
          <p:nvPr/>
        </p:nvSpPr>
        <p:spPr>
          <a:xfrm>
            <a:off x="6223000" y="20066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A8A8A"/>
                </a:solidFill>
                <a:latin typeface="MiSans"/>
                <a:ea typeface="MiSans"/>
              </a:rPr>
              <a:t>被拒绝 suffix（不读取）</a:t>
            </a:r>
            <a:endParaRPr lang="en-US" sz="900" noProof="1"/>
          </a:p>
        </p:txBody>
      </p:sp>
      <p:sp>
        <p:nvSpPr>
          <p:cNvPr id="9" name="node-s0"/>
          <p:cNvSpPr/>
          <p:nvPr/>
        </p:nvSpPr>
        <p:spPr>
          <a:xfrm>
            <a:off x="812800" y="2362200"/>
            <a:ext cx="609600" cy="609600"/>
          </a:xfrm>
          <a:prstGeom prst="rect">
            <a:avLst/>
          </a:prstGeom>
          <a:solidFill>
            <a:srgbClr val="191919"/>
          </a:solidFill>
          <a:ln>
            <a:noFill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node-s0-text"/>
              <p:cNvSpPr txBox="1"/>
              <p:nvPr/>
            </p:nvSpPr>
            <p:spPr>
              <a:xfrm>
                <a:off x="812800" y="2362200"/>
                <a:ext cx="6096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 anchor="ctr"/>
              <a:lstStyle/>
              <a:p>
                <a:pPr algn="ctr">
                  <a:lnSpc>
                    <a:spcPct val="120000"/>
                  </a:lnSpc>
                </a:pPr>
                <a14:m>
                  <m:oMath>
                    <m:sSub>
                      <m:sSubPr>
                        <m:ctrlPr>
                          <a:rPr lang="en-US" sz="1500" noProof="1">
                            <a:solidFill>
                              <a:srgbClr val="FFFFFF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500" noProof="1" i="1">
                            <a:solidFill>
                              <a:srgbClr val="FFFFFF"/>
                            </a:solidFill>
                            <a:latin typeface="MiSans"/>
                          </a:rPr>
                          <m:t>S</m:t>
                        </m:r>
                      </m:e>
                      <m:sub>
                        <m:r>
                          <a:rPr lang="en-US" sz="1500" noProof="1" i="0">
                            <a:solidFill>
                              <a:srgbClr val="FFFFFF"/>
                            </a:solidFill>
                            <a:latin typeface="MiSans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500" noProof="1"/>
                  <a:t xml:space="preserve"> </a:t>
                </a:r>
                <a:endParaRPr lang="en-US" sz="1500" noProof="1"/>
              </a:p>
            </p:txBody>
          </p:sp>
        </mc:Choice>
        <mc:Fallback xmlns="">
          <p:sp>
            <p:nvSpPr>
              <p:cNvPr id="10" name="node-s0-text"/>
              <p:cNvSpPr txBox="1"/>
              <p:nvPr/>
            </p:nvSpPr>
            <p:spPr>
              <a:xfrm>
                <a:off x="812800" y="2362200"/>
                <a:ext cx="6096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1500" noProof="1">
                    <a:solidFill>
                      <a:srgbClr val="FFFFFF"/>
                    </a:solidFill>
                    <a:latin typeface="MiSans"/>
                    <a:ea typeface="MiSans"/>
                  </a:rPr>
                  <a:t>\(S_0\)</a:t>
                </a:r>
                <a:endParaRPr lang="en-US" sz="1500" noProof="1"/>
              </a:p>
            </p:txBody>
          </p:sp>
        </mc:Fallback>
      </mc:AlternateContent>
      <p:sp>
        <p:nvSpPr>
          <p:cNvPr id="11" name="node-s0-label"/>
          <p:cNvSpPr txBox="1"/>
          <p:nvPr/>
        </p:nvSpPr>
        <p:spPr>
          <a:xfrm>
            <a:off x="482600" y="3022600"/>
            <a:ext cx="127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5B5B5B"/>
                </a:solidFill>
                <a:latin typeface="MiSans"/>
                <a:ea typeface="MiSans"/>
              </a:rPr>
              <a:t>checkpoint（已提交）</a:t>
            </a:r>
            <a:endParaRPr lang="en-US" sz="900" noProof="1"/>
          </a:p>
        </p:txBody>
      </p:sp>
      <p:sp>
        <p:nvSpPr>
          <p:cNvPr id="12" name="arrow-1"/>
          <p:cNvSpPr/>
          <p:nvPr>
            <p:extLst>
              <p:ext uri="{F5677B7D-0D2A-4D9B-9A5C-6D8D7D0E5A5D}">
                <pptd:line encoding="base64url">eyJ2aWV3Qm94IjpbNTQsNF0sInBvaW50cyI6IjAsMiA1NCwyIn0</pptd:line>
              </p:ext>
            </p:extLst>
          </p:nvPr>
        </p:nvSpPr>
        <p:spPr>
          <a:xfrm>
            <a:off x="1447800" y="2616200"/>
            <a:ext cx="685800" cy="50800"/>
          </a:xfrm>
          <a:custGeom>
            <a:avLst/>
            <a:gdLst/>
            <a:ahLst/>
            <a:cxnLst/>
            <a:rect l="l" t="t" r="r" b="b"/>
            <a:pathLst>
              <a:path w="54" h="4">
                <a:moveTo>
                  <a:pt x="0" y="2"/>
                </a:moveTo>
                <a:lnTo>
                  <a:pt x="54" y="2"/>
                </a:lnTo>
              </a:path>
            </a:pathLst>
          </a:custGeom>
          <a:noFill/>
          <a:ln w="19050" cap="rnd">
            <a:solidFill>
              <a:srgbClr val="191919"/>
            </a:solidFill>
            <a:round/>
            <a:tailEnd type="arrow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arrow-1-label"/>
              <p:cNvSpPr txBox="1"/>
              <p:nvPr/>
            </p:nvSpPr>
            <p:spPr>
              <a:xfrm>
                <a:off x="1320800" y="2133600"/>
                <a:ext cx="1778000" cy="16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/>
              <a:lstStyle/>
              <a:p>
                <a:pPr>
                  <a:lnSpc>
                    <a:spcPct val="120000"/>
                  </a:lnSpc>
                </a:pPr>
                <a:r>
                  <a:rPr lang="en-US" sz="900" noProof="1">
                    <a:solidFill>
                      <a:srgbClr val="5B5B5B"/>
                    </a:solidFill>
                    <a:latin typeface="MiSans"/>
                    <a:ea typeface="MiSans"/>
                  </a:rPr>
                  <a:t>每步输入</a:t>
                </a:r>
                <a14:m>
                  <m:oMath>
                    <m:r>
                      <a:rPr lang="en-US" sz="900" noProof="1" i="0">
                        <a:solidFill>
                          <a:srgbClr val="5B5B5B"/>
                        </a:solidFill>
                        <a:latin typeface="MiSans"/>
                      </a:rPr>
                      <m:t>(</m:t>
                    </m:r>
                    <m:sSub>
                      <m:sSubPr>
                        <m:ctrlPr>
                          <a:rPr lang="en-US" sz="900" noProof="1">
                            <a:solidFill>
                              <a:srgbClr val="5B5B5B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900" noProof="1" i="1">
                            <a:solidFill>
                              <a:srgbClr val="5B5B5B"/>
                            </a:solidFill>
                            <a:latin typeface="MiSans"/>
                          </a:rPr>
                          <m:t>k</m:t>
                        </m:r>
                      </m:e>
                      <m:sub>
                        <m:r>
                          <a:rPr lang="en-US" sz="900" noProof="1" i="1">
                            <a:solidFill>
                              <a:srgbClr val="5B5B5B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  <m:r>
                      <a:rPr lang="en-US" sz="900" noProof="1" i="0">
                        <a:solidFill>
                          <a:srgbClr val="5B5B5B"/>
                        </a:solidFill>
                        <a:latin typeface="MiSans"/>
                      </a:rPr>
                      <m:t>,</m:t>
                    </m:r>
                    <m:r>
                      <a:rPr lang="en-US" sz="900" noProof="1" i="0">
                        <a:solidFill>
                          <a:srgbClr val="5B5B5B"/>
                        </a:solidFill>
                        <a:latin typeface="MiSans"/>
                      </a:rPr>
                      <m:t> </m:t>
                    </m:r>
                    <m:sSub>
                      <m:sSubPr>
                        <m:ctrlPr>
                          <a:rPr lang="en-US" sz="900" noProof="1">
                            <a:solidFill>
                              <a:srgbClr val="5B5B5B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900" noProof="1" i="1">
                            <a:solidFill>
                              <a:srgbClr val="5B5B5B"/>
                            </a:solidFill>
                            <a:latin typeface="MiSans"/>
                          </a:rPr>
                          <m:t>g</m:t>
                        </m:r>
                      </m:e>
                      <m:sub>
                        <m:r>
                          <a:rPr lang="en-US" sz="900" noProof="1" i="1">
                            <a:solidFill>
                              <a:srgbClr val="5B5B5B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  <m:r>
                      <a:rPr lang="en-US" sz="900" noProof="1" i="0">
                        <a:solidFill>
                          <a:srgbClr val="5B5B5B"/>
                        </a:solidFill>
                        <a:latin typeface="MiSans"/>
                      </a:rPr>
                      <m:t>,</m:t>
                    </m:r>
                    <m:r>
                      <a:rPr lang="en-US" sz="900" noProof="1" i="0">
                        <a:solidFill>
                          <a:srgbClr val="5B5B5B"/>
                        </a:solidFill>
                        <a:latin typeface="MiSans"/>
                      </a:rPr>
                      <m:t> </m:t>
                    </m:r>
                    <m:sSub>
                      <m:sSubPr>
                        <m:ctrlPr>
                          <a:rPr lang="en-US" sz="900" noProof="1">
                            <a:solidFill>
                              <a:srgbClr val="5B5B5B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900" noProof="1" i="1">
                            <a:solidFill>
                              <a:srgbClr val="5B5B5B"/>
                            </a:solidFill>
                            <a:latin typeface="MiSans"/>
                          </a:rPr>
                          <m:t>u</m:t>
                        </m:r>
                      </m:e>
                      <m:sub>
                        <m:r>
                          <a:rPr lang="en-US" sz="900" noProof="1" i="1">
                            <a:solidFill>
                              <a:srgbClr val="5B5B5B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  <m:r>
                      <a:rPr lang="en-US" sz="900" noProof="1" i="0">
                        <a:solidFill>
                          <a:srgbClr val="5B5B5B"/>
                        </a:solidFill>
                        <a:latin typeface="MiSans"/>
                      </a:rPr>
                      <m:t>)</m:t>
                    </m:r>
                  </m:oMath>
                </a14:m>
                <a:endParaRPr lang="en-US" sz="900" noProof="1"/>
              </a:p>
            </p:txBody>
          </p:sp>
        </mc:Choice>
        <mc:Fallback xmlns="">
          <p:sp>
            <p:nvSpPr>
              <p:cNvPr id="13" name="arrow-1-label"/>
              <p:cNvSpPr txBox="1"/>
              <p:nvPr/>
            </p:nvSpPr>
            <p:spPr>
              <a:xfrm>
                <a:off x="1320800" y="2133600"/>
                <a:ext cx="1778000" cy="16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/>
              <a:lstStyle/>
              <a:p>
                <a:pPr>
                  <a:lnSpc>
                    <a:spcPct val="120000"/>
                  </a:lnSpc>
                </a:pPr>
                <a:r>
                  <a:rPr lang="en-US" sz="900" noProof="1">
                    <a:solidFill>
                      <a:srgbClr val="5B5B5B"/>
                    </a:solidFill>
                    <a:latin typeface="MiSans"/>
                    <a:ea typeface="MiSans"/>
                  </a:rPr>
                  <a:t>每步输入\((k_t,\,g_t,\,u_t)\)</a:t>
                </a:r>
                <a:endParaRPr lang="en-US" sz="900" noProof="1"/>
              </a:p>
            </p:txBody>
          </p:sp>
        </mc:Fallback>
      </mc:AlternateContent>
      <p:sp>
        <p:nvSpPr>
          <p:cNvPr id="14" name="node-s1"/>
          <p:cNvSpPr/>
          <p:nvPr/>
        </p:nvSpPr>
        <p:spPr>
          <a:xfrm>
            <a:off x="2159000" y="2362200"/>
            <a:ext cx="558800" cy="55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919"/>
            </a:solidFill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node-s1-text"/>
              <p:cNvSpPr txBox="1"/>
              <p:nvPr/>
            </p:nvSpPr>
            <p:spPr>
              <a:xfrm>
                <a:off x="2159000" y="2362200"/>
                <a:ext cx="558800" cy="55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 anchor="ctr"/>
              <a:lstStyle/>
              <a:p>
                <a:pPr algn="ctr">
                  <a:lnSpc>
                    <a:spcPct val="120000"/>
                  </a:lnSpc>
                </a:pPr>
                <a14:m>
                  <m:oMath>
                    <m:sSub>
                      <m:sSubPr>
                        <m:ctrlPr>
                          <a:rPr lang="en-US" sz="1400" noProof="1">
                            <a:solidFill>
                              <a:srgbClr val="191919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4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S</m:t>
                        </m:r>
                      </m:e>
                      <m:sub>
                        <m:r>
                          <a:rPr lang="en-US" sz="1400" noProof="1" i="0">
                            <a:solidFill>
                              <a:srgbClr val="191919"/>
                            </a:solidFill>
                            <a:latin typeface="MiSans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400" noProof="1"/>
                  <a:t xml:space="preserve"> </a:t>
                </a:r>
                <a:endParaRPr lang="en-US" sz="1400" noProof="1"/>
              </a:p>
            </p:txBody>
          </p:sp>
        </mc:Choice>
        <mc:Fallback xmlns="">
          <p:sp>
            <p:nvSpPr>
              <p:cNvPr id="15" name="node-s1-text"/>
              <p:cNvSpPr txBox="1"/>
              <p:nvPr/>
            </p:nvSpPr>
            <p:spPr>
              <a:xfrm>
                <a:off x="2159000" y="2362200"/>
                <a:ext cx="558800" cy="55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1400" noProof="1">
                    <a:solidFill>
                      <a:srgbClr val="191919"/>
                    </a:solidFill>
                    <a:latin typeface="MiSans"/>
                    <a:ea typeface="MiSans"/>
                  </a:rPr>
                  <a:t>\(S_1\)</a:t>
                </a:r>
                <a:endParaRPr lang="en-US" sz="1400" noProof="1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node-s1-rec"/>
              <p:cNvSpPr txBox="1"/>
              <p:nvPr/>
            </p:nvSpPr>
            <p:spPr>
              <a:xfrm>
                <a:off x="2159000" y="3022600"/>
                <a:ext cx="558800" cy="16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 anchor="t"/>
              <a:lstStyle/>
              <a:p>
                <a:pPr algn="ctr">
                  <a:lnSpc>
                    <a:spcPct val="120000"/>
                  </a:lnSpc>
                </a:pPr>
                <a14:m>
                  <m:oMath>
                    <m:sSub>
                      <m:sSubPr>
                        <m:ctrlPr>
                          <a:rPr lang="en-US" sz="900" noProof="1">
                            <a:solidFill>
                              <a:srgbClr val="5B5B5B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900" noProof="1" i="1">
                            <a:solidFill>
                              <a:srgbClr val="5B5B5B"/>
                            </a:solidFill>
                            <a:latin typeface="MiSans"/>
                          </a:rPr>
                          <m:t>R</m:t>
                        </m:r>
                      </m:e>
                      <m:sub>
                        <m:r>
                          <a:rPr lang="en-US" sz="900" noProof="1" i="0">
                            <a:solidFill>
                              <a:srgbClr val="5B5B5B"/>
                            </a:solidFill>
                            <a:latin typeface="MiSans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900" noProof="1"/>
                  <a:t xml:space="preserve"> </a:t>
                </a:r>
                <a:endParaRPr lang="en-US" sz="900" noProof="1"/>
              </a:p>
            </p:txBody>
          </p:sp>
        </mc:Choice>
        <mc:Fallback xmlns="">
          <p:sp>
            <p:nvSpPr>
              <p:cNvPr id="16" name="node-s1-rec"/>
              <p:cNvSpPr txBox="1"/>
              <p:nvPr/>
            </p:nvSpPr>
            <p:spPr>
              <a:xfrm>
                <a:off x="2159000" y="3022600"/>
                <a:ext cx="558800" cy="16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 anchor="t"/>
              <a:lstStyle/>
              <a:p>
                <a:pPr algn="ctr">
                  <a:lnSpc>
                    <a:spcPct val="120000"/>
                  </a:lnSpc>
                </a:pPr>
                <a:r>
                  <a:rPr lang="en-US" sz="900" noProof="1">
                    <a:solidFill>
                      <a:srgbClr val="5B5B5B"/>
                    </a:solidFill>
                    <a:latin typeface="MiSans"/>
                    <a:ea typeface="MiSans"/>
                  </a:rPr>
                  <a:t>\(R_1\)</a:t>
                </a:r>
                <a:endParaRPr lang="en-US" sz="900" noProof="1"/>
              </a:p>
            </p:txBody>
          </p:sp>
        </mc:Fallback>
      </mc:AlternateContent>
      <p:sp>
        <p:nvSpPr>
          <p:cNvPr id="17" name="arrow-2"/>
          <p:cNvSpPr/>
          <p:nvPr>
            <p:extLst>
              <p:ext uri="{F5677B7D-0D2A-4D9B-9A5C-6D8D7D0E5A5D}">
                <pptd:line encoding="base64url">eyJ2aWV3Qm94IjpbNTgsNF0sInBvaW50cyI6IjAsMiA1OCwyIn0</pptd:line>
              </p:ext>
            </p:extLst>
          </p:nvPr>
        </p:nvSpPr>
        <p:spPr>
          <a:xfrm>
            <a:off x="2743200" y="2616200"/>
            <a:ext cx="736600" cy="50800"/>
          </a:xfrm>
          <a:custGeom>
            <a:avLst/>
            <a:gdLst/>
            <a:ahLst/>
            <a:cxnLst/>
            <a:rect l="l" t="t" r="r" b="b"/>
            <a:pathLst>
              <a:path w="58" h="4">
                <a:moveTo>
                  <a:pt x="0" y="2"/>
                </a:moveTo>
                <a:lnTo>
                  <a:pt x="58" y="2"/>
                </a:lnTo>
              </a:path>
            </a:pathLst>
          </a:custGeom>
          <a:noFill/>
          <a:ln w="19050" cap="rnd">
            <a:solidFill>
              <a:srgbClr val="191919"/>
            </a:solidFill>
            <a:round/>
            <a:tailEnd type="arrow"/>
          </a:ln>
        </p:spPr>
      </p:sp>
      <p:sp>
        <p:nvSpPr>
          <p:cNvPr id="18" name="node-s2"/>
          <p:cNvSpPr/>
          <p:nvPr/>
        </p:nvSpPr>
        <p:spPr>
          <a:xfrm>
            <a:off x="3505200" y="2362200"/>
            <a:ext cx="558800" cy="55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919"/>
            </a:solidFill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node-s2-text"/>
              <p:cNvSpPr txBox="1"/>
              <p:nvPr/>
            </p:nvSpPr>
            <p:spPr>
              <a:xfrm>
                <a:off x="3505200" y="2362200"/>
                <a:ext cx="558800" cy="55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 anchor="ctr"/>
              <a:lstStyle/>
              <a:p>
                <a:pPr algn="ctr">
                  <a:lnSpc>
                    <a:spcPct val="120000"/>
                  </a:lnSpc>
                </a:pPr>
                <a14:m>
                  <m:oMath>
                    <m:sSub>
                      <m:sSubPr>
                        <m:ctrlPr>
                          <a:rPr lang="en-US" sz="1400" noProof="1">
                            <a:solidFill>
                              <a:srgbClr val="191919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4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S</m:t>
                        </m:r>
                      </m:e>
                      <m:sub>
                        <m:r>
                          <a:rPr lang="en-US" sz="1400" noProof="1" i="0">
                            <a:solidFill>
                              <a:srgbClr val="191919"/>
                            </a:solidFill>
                            <a:latin typeface="MiSans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noProof="1"/>
                  <a:t xml:space="preserve"> </a:t>
                </a:r>
                <a:endParaRPr lang="en-US" sz="1400" noProof="1"/>
              </a:p>
            </p:txBody>
          </p:sp>
        </mc:Choice>
        <mc:Fallback xmlns="">
          <p:sp>
            <p:nvSpPr>
              <p:cNvPr id="19" name="node-s2-text"/>
              <p:cNvSpPr txBox="1"/>
              <p:nvPr/>
            </p:nvSpPr>
            <p:spPr>
              <a:xfrm>
                <a:off x="3505200" y="2362200"/>
                <a:ext cx="558800" cy="55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1400" noProof="1">
                    <a:solidFill>
                      <a:srgbClr val="191919"/>
                    </a:solidFill>
                    <a:latin typeface="MiSans"/>
                    <a:ea typeface="MiSans"/>
                  </a:rPr>
                  <a:t>\(S_2\)</a:t>
                </a:r>
                <a:endParaRPr lang="en-US" sz="1400" noProof="1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node-s2-rec"/>
              <p:cNvSpPr txBox="1"/>
              <p:nvPr/>
            </p:nvSpPr>
            <p:spPr>
              <a:xfrm>
                <a:off x="3505200" y="3022600"/>
                <a:ext cx="558800" cy="16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 anchor="t"/>
              <a:lstStyle/>
              <a:p>
                <a:pPr algn="ctr">
                  <a:lnSpc>
                    <a:spcPct val="120000"/>
                  </a:lnSpc>
                </a:pPr>
                <a14:m>
                  <m:oMath>
                    <m:sSub>
                      <m:sSubPr>
                        <m:ctrlPr>
                          <a:rPr lang="en-US" sz="900" noProof="1">
                            <a:solidFill>
                              <a:srgbClr val="5B5B5B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900" noProof="1" i="1">
                            <a:solidFill>
                              <a:srgbClr val="5B5B5B"/>
                            </a:solidFill>
                            <a:latin typeface="MiSans"/>
                          </a:rPr>
                          <m:t>R</m:t>
                        </m:r>
                      </m:e>
                      <m:sub>
                        <m:r>
                          <a:rPr lang="en-US" sz="900" noProof="1" i="0">
                            <a:solidFill>
                              <a:srgbClr val="5B5B5B"/>
                            </a:solidFill>
                            <a:latin typeface="MiSans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900" noProof="1"/>
                  <a:t xml:space="preserve"> </a:t>
                </a:r>
                <a:endParaRPr lang="en-US" sz="900" noProof="1"/>
              </a:p>
            </p:txBody>
          </p:sp>
        </mc:Choice>
        <mc:Fallback xmlns="">
          <p:sp>
            <p:nvSpPr>
              <p:cNvPr id="20" name="node-s2-rec"/>
              <p:cNvSpPr txBox="1"/>
              <p:nvPr/>
            </p:nvSpPr>
            <p:spPr>
              <a:xfrm>
                <a:off x="3505200" y="3022600"/>
                <a:ext cx="558800" cy="16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 anchor="t"/>
              <a:lstStyle/>
              <a:p>
                <a:pPr algn="ctr">
                  <a:lnSpc>
                    <a:spcPct val="120000"/>
                  </a:lnSpc>
                </a:pPr>
                <a:r>
                  <a:rPr lang="en-US" sz="900" noProof="1">
                    <a:solidFill>
                      <a:srgbClr val="5B5B5B"/>
                    </a:solidFill>
                    <a:latin typeface="MiSans"/>
                    <a:ea typeface="MiSans"/>
                  </a:rPr>
                  <a:t>\(R_2\)</a:t>
                </a:r>
                <a:endParaRPr lang="en-US" sz="900" noProof="1"/>
              </a:p>
            </p:txBody>
          </p:sp>
        </mc:Fallback>
      </mc:AlternateContent>
      <p:sp>
        <p:nvSpPr>
          <p:cNvPr id="21" name="arrow-3"/>
          <p:cNvSpPr/>
          <p:nvPr>
            <p:extLst>
              <p:ext uri="{F5677B7D-0D2A-4D9B-9A5C-6D8D7D0E5A5D}">
                <pptd:line encoding="base64url">eyJ2aWV3Qm94IjpbMjAsNF0sInBvaW50cyI6IjAsMiAyMCwyIn0</pptd:line>
              </p:ext>
            </p:extLst>
          </p:nvPr>
        </p:nvSpPr>
        <p:spPr>
          <a:xfrm>
            <a:off x="4089400" y="2616200"/>
            <a:ext cx="254000" cy="50800"/>
          </a:xfrm>
          <a:custGeom>
            <a:avLst/>
            <a:gdLst/>
            <a:ahLst/>
            <a:cxnLst/>
            <a:rect l="l" t="t" r="r" b="b"/>
            <a:pathLst>
              <a:path w="20" h="4">
                <a:moveTo>
                  <a:pt x="0" y="2"/>
                </a:moveTo>
                <a:lnTo>
                  <a:pt x="20" y="2"/>
                </a:lnTo>
              </a:path>
            </a:pathLst>
          </a:custGeom>
          <a:noFill/>
          <a:ln w="19050" cap="rnd">
            <a:solidFill>
              <a:srgbClr val="191919"/>
            </a:solidFill>
            <a:round/>
          </a:ln>
        </p:spPr>
      </p:sp>
      <p:sp>
        <p:nvSpPr>
          <p:cNvPr id="22" name="dots-1"/>
          <p:cNvSpPr txBox="1"/>
          <p:nvPr/>
        </p:nvSpPr>
        <p:spPr>
          <a:xfrm>
            <a:off x="4368800" y="24638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5B5B5B"/>
                </a:solidFill>
                <a:latin typeface="MiSans"/>
                <a:ea typeface="MiSans"/>
              </a:rPr>
              <a:t>…</a:t>
            </a:r>
            <a:endParaRPr lang="en-US" sz="1600" noProof="1"/>
          </a:p>
        </p:txBody>
      </p:sp>
      <p:sp>
        <p:nvSpPr>
          <p:cNvPr id="23" name="arrow-4"/>
          <p:cNvSpPr/>
          <p:nvPr>
            <p:extLst>
              <p:ext uri="{F5677B7D-0D2A-4D9B-9A5C-6D8D7D0E5A5D}">
                <pptd:line encoding="base64url">eyJ2aWV3Qm94IjpbMjAsNF0sInBvaW50cyI6IjAsMiAyMCwyIn0</pptd:line>
              </p:ext>
            </p:extLst>
          </p:nvPr>
        </p:nvSpPr>
        <p:spPr>
          <a:xfrm>
            <a:off x="4851400" y="2616200"/>
            <a:ext cx="254000" cy="50800"/>
          </a:xfrm>
          <a:custGeom>
            <a:avLst/>
            <a:gdLst/>
            <a:ahLst/>
            <a:cxnLst/>
            <a:rect l="l" t="t" r="r" b="b"/>
            <a:pathLst>
              <a:path w="20" h="4">
                <a:moveTo>
                  <a:pt x="0" y="2"/>
                </a:moveTo>
                <a:lnTo>
                  <a:pt x="20" y="2"/>
                </a:lnTo>
              </a:path>
            </a:pathLst>
          </a:custGeom>
          <a:noFill/>
          <a:ln w="19050" cap="rnd">
            <a:solidFill>
              <a:srgbClr val="191919"/>
            </a:solidFill>
            <a:round/>
            <a:tailEnd type="arrow"/>
          </a:ln>
        </p:spPr>
      </p:sp>
      <p:sp>
        <p:nvSpPr>
          <p:cNvPr id="24" name="node-sn"/>
          <p:cNvSpPr/>
          <p:nvPr/>
        </p:nvSpPr>
        <p:spPr>
          <a:xfrm>
            <a:off x="5130800" y="2362200"/>
            <a:ext cx="558800" cy="55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2410C"/>
            </a:solidFill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node-sn-text"/>
              <p:cNvSpPr txBox="1"/>
              <p:nvPr/>
            </p:nvSpPr>
            <p:spPr>
              <a:xfrm>
                <a:off x="5130800" y="2362200"/>
                <a:ext cx="558800" cy="55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 anchor="ctr"/>
              <a:lstStyle/>
              <a:p>
                <a:pPr algn="ctr">
                  <a:lnSpc>
                    <a:spcPct val="120000"/>
                  </a:lnSpc>
                </a:pPr>
                <a14:m>
                  <m:oMath>
                    <m:sSub>
                      <m:sSubPr>
                        <m:ctrlPr>
                          <a:rPr lang="en-US" sz="1400" noProof="1">
                            <a:solidFill>
                              <a:srgbClr val="C2410C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400" noProof="1" i="1">
                            <a:solidFill>
                              <a:srgbClr val="C2410C"/>
                            </a:solidFill>
                            <a:latin typeface="MiSans"/>
                          </a:rPr>
                          <m:t>S</m:t>
                        </m:r>
                      </m:e>
                      <m:sub>
                        <m:r>
                          <a:rPr lang="en-US" sz="1400" noProof="1" i="1">
                            <a:solidFill>
                              <a:srgbClr val="C2410C"/>
                            </a:solidFill>
                            <a:latin typeface="MiSans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1400" noProof="1"/>
                  <a:t xml:space="preserve"> </a:t>
                </a:r>
                <a:endParaRPr lang="en-US" sz="1400" noProof="1"/>
              </a:p>
            </p:txBody>
          </p:sp>
        </mc:Choice>
        <mc:Fallback xmlns="">
          <p:sp>
            <p:nvSpPr>
              <p:cNvPr id="25" name="node-sn-text"/>
              <p:cNvSpPr txBox="1"/>
              <p:nvPr/>
            </p:nvSpPr>
            <p:spPr>
              <a:xfrm>
                <a:off x="5130800" y="2362200"/>
                <a:ext cx="558800" cy="55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1400" noProof="1">
                    <a:solidFill>
                      <a:srgbClr val="C2410C"/>
                    </a:solidFill>
                    <a:latin typeface="MiSans"/>
                    <a:ea typeface="MiSans"/>
                  </a:rPr>
                  <a:t>\(S_n\)</a:t>
                </a:r>
                <a:endParaRPr lang="en-US" sz="1400" noProof="1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node-sn-rec"/>
              <p:cNvSpPr txBox="1"/>
              <p:nvPr/>
            </p:nvSpPr>
            <p:spPr>
              <a:xfrm>
                <a:off x="5130800" y="3022600"/>
                <a:ext cx="558800" cy="16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 anchor="t"/>
              <a:lstStyle/>
              <a:p>
                <a:pPr algn="ctr">
                  <a:lnSpc>
                    <a:spcPct val="120000"/>
                  </a:lnSpc>
                </a:pPr>
                <a14:m>
                  <m:oMath>
                    <m:sSub>
                      <m:sSubPr>
                        <m:ctrlPr>
                          <a:rPr lang="en-US" sz="900" noProof="1">
                            <a:solidFill>
                              <a:srgbClr val="C2410C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900" noProof="1" i="1">
                            <a:solidFill>
                              <a:srgbClr val="C2410C"/>
                            </a:solidFill>
                            <a:latin typeface="MiSans"/>
                          </a:rPr>
                          <m:t>R</m:t>
                        </m:r>
                      </m:e>
                      <m:sub>
                        <m:r>
                          <a:rPr lang="en-US" sz="900" noProof="1" i="1">
                            <a:solidFill>
                              <a:srgbClr val="C2410C"/>
                            </a:solidFill>
                            <a:latin typeface="MiSans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900" noProof="1"/>
                  <a:t xml:space="preserve"> </a:t>
                </a:r>
                <a:endParaRPr lang="en-US" sz="900" noProof="1"/>
              </a:p>
            </p:txBody>
          </p:sp>
        </mc:Choice>
        <mc:Fallback xmlns="">
          <p:sp>
            <p:nvSpPr>
              <p:cNvPr id="26" name="node-sn-rec"/>
              <p:cNvSpPr txBox="1"/>
              <p:nvPr/>
            </p:nvSpPr>
            <p:spPr>
              <a:xfrm>
                <a:off x="5130800" y="3022600"/>
                <a:ext cx="558800" cy="16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 anchor="t"/>
              <a:lstStyle/>
              <a:p>
                <a:pPr algn="ctr">
                  <a:lnSpc>
                    <a:spcPct val="120000"/>
                  </a:lnSpc>
                </a:pPr>
                <a:r>
                  <a:rPr lang="en-US" sz="900" noProof="1">
                    <a:solidFill>
                      <a:srgbClr val="C2410C"/>
                    </a:solidFill>
                    <a:latin typeface="MiSans"/>
                    <a:ea typeface="MiSans"/>
                  </a:rPr>
                  <a:t>\(R_n\)</a:t>
                </a:r>
                <a:endParaRPr lang="en-US" sz="900" noProof="1"/>
              </a:p>
            </p:txBody>
          </p:sp>
        </mc:Fallback>
      </mc:AlternateContent>
      <p:sp>
        <p:nvSpPr>
          <p:cNvPr id="27" name="arrow-5"/>
          <p:cNvSpPr/>
          <p:nvPr>
            <p:extLst>
              <p:ext uri="{F5677B7D-0D2A-4D9B-9A5C-6D8D7D0E5A5D}">
                <pptd:line encoding="base64url">eyJ2aWV3Qm94IjpbMjQsNF0sInBvaW50cyI6IjAsMiAyNCwyIn0</pptd:line>
              </p:ext>
            </p:extLst>
          </p:nvPr>
        </p:nvSpPr>
        <p:spPr>
          <a:xfrm>
            <a:off x="5715000" y="2616200"/>
            <a:ext cx="304800" cy="50800"/>
          </a:xfrm>
          <a:custGeom>
            <a:avLst/>
            <a:gdLst/>
            <a:ahLst/>
            <a:cxnLst/>
            <a:rect l="l" t="t" r="r" b="b"/>
            <a:pathLst>
              <a:path w="24" h="4">
                <a:moveTo>
                  <a:pt x="0" y="2"/>
                </a:moveTo>
                <a:lnTo>
                  <a:pt x="24" y="2"/>
                </a:lnTo>
              </a:path>
            </a:pathLst>
          </a:custGeom>
          <a:noFill/>
          <a:ln w="19050" cap="rnd">
            <a:solidFill>
              <a:srgbClr val="191919"/>
            </a:solidFill>
            <a:round/>
          </a:ln>
        </p:spPr>
      </p:sp>
      <p:sp>
        <p:nvSpPr>
          <p:cNvPr id="28" name="boundary"/>
          <p:cNvSpPr/>
          <p:nvPr>
            <p:extLst>
              <p:ext uri="{F5677B7D-0D2A-4D9B-9A5C-6D8D7D0E5A5D}">
                <pptd:line encoding="base64url">eyJ2aWV3Qm94IjpbNCwxNDRdLCJwb2ludHMiOiIyLDAgMiwxNDQifQ</pptd:line>
              </p:ext>
            </p:extLst>
          </p:nvPr>
        </p:nvSpPr>
        <p:spPr>
          <a:xfrm>
            <a:off x="6045200" y="1981200"/>
            <a:ext cx="50800" cy="1828800"/>
          </a:xfrm>
          <a:custGeom>
            <a:avLst/>
            <a:gdLst/>
            <a:ahLst/>
            <a:cxnLst/>
            <a:rect l="l" t="t" r="r" b="b"/>
            <a:pathLst>
              <a:path w="4" h="144">
                <a:moveTo>
                  <a:pt x="2" y="0"/>
                </a:moveTo>
                <a:lnTo>
                  <a:pt x="2" y="144"/>
                </a:lnTo>
              </a:path>
            </a:pathLst>
          </a:custGeom>
          <a:noFill/>
          <a:ln w="19050" cap="rnd">
            <a:solidFill>
              <a:srgbClr val="8A8A8A"/>
            </a:solidFill>
            <a:prstDash val="dash"/>
            <a:round/>
          </a:ln>
        </p:spPr>
      </p:sp>
      <p:sp>
        <p:nvSpPr>
          <p:cNvPr id="29" name="arrow-6"/>
          <p:cNvSpPr/>
          <p:nvPr>
            <p:extLst>
              <p:ext uri="{F5677B7D-0D2A-4D9B-9A5C-6D8D7D0E5A5D}">
                <pptd:line encoding="base64url">eyJ2aWV3Qm94IjpbMjgsNF0sInBvaW50cyI6IjAsMiAyOCwyIn0</pptd:line>
              </p:ext>
            </p:extLst>
          </p:nvPr>
        </p:nvSpPr>
        <p:spPr>
          <a:xfrm>
            <a:off x="6172200" y="2616200"/>
            <a:ext cx="355600" cy="50800"/>
          </a:xfrm>
          <a:custGeom>
            <a:avLst/>
            <a:gdLst/>
            <a:ahLst/>
            <a:cxnLst/>
            <a:rect l="l" t="t" r="r" b="b"/>
            <a:pathLst>
              <a:path w="28" h="4">
                <a:moveTo>
                  <a:pt x="0" y="2"/>
                </a:moveTo>
                <a:lnTo>
                  <a:pt x="28" y="2"/>
                </a:lnTo>
              </a:path>
            </a:pathLst>
          </a:custGeom>
          <a:noFill/>
          <a:ln w="19050" cap="rnd">
            <a:solidFill>
              <a:srgbClr val="8A8A8A"/>
            </a:solidFill>
            <a:prstDash val="dash"/>
            <a:round/>
            <a:tailEnd type="arrow"/>
          </a:ln>
        </p:spPr>
      </p:sp>
      <p:sp>
        <p:nvSpPr>
          <p:cNvPr id="30" name="node-sn1"/>
          <p:cNvSpPr/>
          <p:nvPr/>
        </p:nvSpPr>
        <p:spPr>
          <a:xfrm>
            <a:off x="6553200" y="2362200"/>
            <a:ext cx="558800" cy="55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8A8A8A"/>
            </a:solidFill>
            <a:prstDash val="dash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node-sn1-text"/>
              <p:cNvSpPr txBox="1"/>
              <p:nvPr/>
            </p:nvSpPr>
            <p:spPr>
              <a:xfrm>
                <a:off x="6553200" y="2362200"/>
                <a:ext cx="558800" cy="55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 anchor="ctr"/>
              <a:lstStyle/>
              <a:p>
                <a:pPr algn="ctr">
                  <a:lnSpc>
                    <a:spcPct val="120000"/>
                  </a:lnSpc>
                </a:pPr>
                <a14:m>
                  <m:oMath>
                    <m:sSub>
                      <m:sSubPr>
                        <m:ctrlPr>
                          <a:rPr lang="en-US" sz="1400" noProof="1">
                            <a:solidFill>
                              <a:srgbClr val="8A8A8A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400" noProof="1" i="1">
                            <a:solidFill>
                              <a:srgbClr val="8A8A8A"/>
                            </a:solidFill>
                            <a:latin typeface="MiSans"/>
                          </a:rPr>
                          <m:t>S</m:t>
                        </m:r>
                      </m:e>
                      <m:sub>
                        <m:r>
                          <a:rPr lang="en-US" sz="1400" noProof="1" i="1">
                            <a:solidFill>
                              <a:srgbClr val="8A8A8A"/>
                            </a:solidFill>
                            <a:latin typeface="MiSans"/>
                          </a:rPr>
                          <m:t>n</m:t>
                        </m:r>
                        <m:r>
                          <a:rPr lang="en-US" sz="1400" noProof="1" i="0">
                            <a:solidFill>
                              <a:srgbClr val="8A8A8A"/>
                            </a:solidFill>
                            <a:latin typeface="MiSans"/>
                          </a:rPr>
                          <m:t>+</m:t>
                        </m:r>
                        <m:r>
                          <a:rPr lang="en-US" sz="1400" noProof="1" i="0">
                            <a:solidFill>
                              <a:srgbClr val="8A8A8A"/>
                            </a:solidFill>
                            <a:latin typeface="MiSans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400" noProof="1"/>
                  <a:t xml:space="preserve"> </a:t>
                </a:r>
                <a:endParaRPr lang="en-US" sz="1400" noProof="1"/>
              </a:p>
            </p:txBody>
          </p:sp>
        </mc:Choice>
        <mc:Fallback xmlns="">
          <p:sp>
            <p:nvSpPr>
              <p:cNvPr id="31" name="node-sn1-text"/>
              <p:cNvSpPr txBox="1"/>
              <p:nvPr/>
            </p:nvSpPr>
            <p:spPr>
              <a:xfrm>
                <a:off x="6553200" y="2362200"/>
                <a:ext cx="558800" cy="55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1400" noProof="1">
                    <a:solidFill>
                      <a:srgbClr val="8A8A8A"/>
                    </a:solidFill>
                    <a:latin typeface="MiSans"/>
                    <a:ea typeface="MiSans"/>
                  </a:rPr>
                  <a:t>\(S_{n+1}\)</a:t>
                </a:r>
                <a:endParaRPr lang="en-US" sz="1400" noProof="1"/>
              </a:p>
            </p:txBody>
          </p:sp>
        </mc:Fallback>
      </mc:AlternateContent>
      <p:sp>
        <p:nvSpPr>
          <p:cNvPr id="32" name="arrow-7"/>
          <p:cNvSpPr/>
          <p:nvPr>
            <p:extLst>
              <p:ext uri="{F5677B7D-0D2A-4D9B-9A5C-6D8D7D0E5A5D}">
                <pptd:line encoding="base64url">eyJ2aWV3Qm94IjpbMTgsNF0sInBvaW50cyI6IjAsMiAxOCwyIn0</pptd:line>
              </p:ext>
            </p:extLst>
          </p:nvPr>
        </p:nvSpPr>
        <p:spPr>
          <a:xfrm>
            <a:off x="7137400" y="2616200"/>
            <a:ext cx="228600" cy="50800"/>
          </a:xfrm>
          <a:custGeom>
            <a:avLst/>
            <a:gdLst/>
            <a:ahLst/>
            <a:cxnLst/>
            <a:rect l="l" t="t" r="r" b="b"/>
            <a:pathLst>
              <a:path w="18" h="4">
                <a:moveTo>
                  <a:pt x="0" y="2"/>
                </a:moveTo>
                <a:lnTo>
                  <a:pt x="18" y="2"/>
                </a:lnTo>
              </a:path>
            </a:pathLst>
          </a:custGeom>
          <a:noFill/>
          <a:ln w="19050" cap="rnd">
            <a:solidFill>
              <a:srgbClr val="8A8A8A"/>
            </a:solidFill>
            <a:prstDash val="dash"/>
            <a:round/>
          </a:ln>
        </p:spPr>
      </p:sp>
      <p:sp>
        <p:nvSpPr>
          <p:cNvPr id="33" name="dots-2"/>
          <p:cNvSpPr txBox="1"/>
          <p:nvPr/>
        </p:nvSpPr>
        <p:spPr>
          <a:xfrm>
            <a:off x="7391400" y="24638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8A8A8A"/>
                </a:solidFill>
                <a:latin typeface="MiSans"/>
                <a:ea typeface="MiSans"/>
              </a:rPr>
              <a:t>…</a:t>
            </a:r>
            <a:endParaRPr lang="en-US" sz="1600" noProof="1"/>
          </a:p>
        </p:txBody>
      </p:sp>
      <p:sp>
        <p:nvSpPr>
          <p:cNvPr id="34" name="arrow-8"/>
          <p:cNvSpPr/>
          <p:nvPr>
            <p:extLst>
              <p:ext uri="{F5677B7D-0D2A-4D9B-9A5C-6D8D7D0E5A5D}">
                <pptd:line encoding="base64url">eyJ2aWV3Qm94IjpbMjQsNF0sInBvaW50cyI6IjAsMiAyNCwyIn0</pptd:line>
              </p:ext>
            </p:extLst>
          </p:nvPr>
        </p:nvSpPr>
        <p:spPr>
          <a:xfrm>
            <a:off x="7874000" y="2616200"/>
            <a:ext cx="304800" cy="50800"/>
          </a:xfrm>
          <a:custGeom>
            <a:avLst/>
            <a:gdLst/>
            <a:ahLst/>
            <a:cxnLst/>
            <a:rect l="l" t="t" r="r" b="b"/>
            <a:pathLst>
              <a:path w="24" h="4">
                <a:moveTo>
                  <a:pt x="0" y="2"/>
                </a:moveTo>
                <a:lnTo>
                  <a:pt x="24" y="2"/>
                </a:lnTo>
              </a:path>
            </a:pathLst>
          </a:custGeom>
          <a:noFill/>
          <a:ln w="19050" cap="rnd">
            <a:solidFill>
              <a:srgbClr val="8A8A8A"/>
            </a:solidFill>
            <a:prstDash val="dash"/>
            <a:round/>
            <a:tailEnd type="arrow"/>
          </a:ln>
        </p:spPr>
      </p:sp>
      <p:sp>
        <p:nvSpPr>
          <p:cNvPr id="35" name="node-sl"/>
          <p:cNvSpPr/>
          <p:nvPr/>
        </p:nvSpPr>
        <p:spPr>
          <a:xfrm>
            <a:off x="8229600" y="2362200"/>
            <a:ext cx="558800" cy="55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8A8A8A"/>
            </a:solidFill>
            <a:prstDash val="dash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node-sl-text"/>
              <p:cNvSpPr txBox="1"/>
              <p:nvPr/>
            </p:nvSpPr>
            <p:spPr>
              <a:xfrm>
                <a:off x="8229600" y="2362200"/>
                <a:ext cx="558800" cy="55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 anchor="ctr"/>
              <a:lstStyle/>
              <a:p>
                <a:pPr algn="ctr">
                  <a:lnSpc>
                    <a:spcPct val="120000"/>
                  </a:lnSpc>
                </a:pPr>
                <a14:m>
                  <m:oMath>
                    <m:sSub>
                      <m:sSubPr>
                        <m:ctrlPr>
                          <a:rPr lang="en-US" sz="1400" noProof="1">
                            <a:solidFill>
                              <a:srgbClr val="8A8A8A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400" noProof="1" i="1">
                            <a:solidFill>
                              <a:srgbClr val="8A8A8A"/>
                            </a:solidFill>
                            <a:latin typeface="MiSans"/>
                          </a:rPr>
                          <m:t>S</m:t>
                        </m:r>
                      </m:e>
                      <m:sub>
                        <m:r>
                          <a:rPr lang="en-US" sz="1400" noProof="1" i="1">
                            <a:solidFill>
                              <a:srgbClr val="8A8A8A"/>
                            </a:solidFill>
                            <a:latin typeface="MiSans"/>
                          </a:rPr>
                          <m:t>L</m:t>
                        </m:r>
                      </m:sub>
                    </m:sSub>
                  </m:oMath>
                </a14:m>
                <a:r>
                  <a:rPr lang="en-US" sz="1400" noProof="1"/>
                  <a:t xml:space="preserve"> </a:t>
                </a:r>
                <a:endParaRPr lang="en-US" sz="1400" noProof="1"/>
              </a:p>
            </p:txBody>
          </p:sp>
        </mc:Choice>
        <mc:Fallback xmlns="">
          <p:sp>
            <p:nvSpPr>
              <p:cNvPr id="36" name="node-sl-text"/>
              <p:cNvSpPr txBox="1"/>
              <p:nvPr/>
            </p:nvSpPr>
            <p:spPr>
              <a:xfrm>
                <a:off x="8229600" y="2362200"/>
                <a:ext cx="558800" cy="55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1400" noProof="1">
                    <a:solidFill>
                      <a:srgbClr val="8A8A8A"/>
                    </a:solidFill>
                    <a:latin typeface="MiSans"/>
                    <a:ea typeface="MiSans"/>
                  </a:rPr>
                  <a:t>\(S_L\)</a:t>
                </a:r>
                <a:endParaRPr lang="en-US" sz="1400" noProof="1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-legend"/>
              <p:cNvSpPr txBox="1"/>
              <p:nvPr/>
            </p:nvSpPr>
            <p:spPr>
              <a:xfrm>
                <a:off x="1905000" y="3276600"/>
                <a:ext cx="4064000" cy="17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/>
              <a:lstStyle/>
              <a:p>
                <a:pPr>
                  <a:lnSpc>
                    <a:spcPct val="120000"/>
                  </a:lnSpc>
                </a:pPr>
                <a:r>
                  <a:rPr lang="en-US" sz="900" noProof="1">
                    <a:solidFill>
                      <a:srgbClr val="8A8A8A"/>
                    </a:solidFill>
                    <a:latin typeface="MiSans"/>
                    <a:ea typeface="MiSans"/>
                  </a:rPr>
                  <a:t>每位置记录</a:t>
                </a:r>
                <a14:m>
                  <m:oMath>
                    <m:sSub>
                      <m:sSubPr>
                        <m:ctrlPr>
                          <a:rPr lang="en-US" sz="900" noProof="1">
                            <a:solidFill>
                              <a:srgbClr val="8A8A8A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900" noProof="1" i="1">
                            <a:solidFill>
                              <a:srgbClr val="8A8A8A"/>
                            </a:solidFill>
                            <a:latin typeface="MiSans"/>
                          </a:rPr>
                          <m:t>R</m:t>
                        </m:r>
                      </m:e>
                      <m:sub>
                        <m:r>
                          <a:rPr lang="en-US" sz="900" noProof="1" i="1">
                            <a:solidFill>
                              <a:srgbClr val="8A8A8A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  <m:r>
                      <a:rPr lang="en-US" sz="900" noProof="1" i="0">
                        <a:solidFill>
                          <a:srgbClr val="8A8A8A"/>
                        </a:solidFill>
                        <a:latin typeface="MiSans"/>
                      </a:rPr>
                      <m:t>=</m:t>
                    </m:r>
                    <m:r>
                      <a:rPr lang="en-US" sz="900" noProof="1" i="0">
                        <a:solidFill>
                          <a:srgbClr val="8A8A8A"/>
                        </a:solidFill>
                        <a:latin typeface="MiSans"/>
                      </a:rPr>
                      <m:t>(</m:t>
                    </m:r>
                    <m:sSub>
                      <m:sSubPr>
                        <m:ctrlPr>
                          <a:rPr lang="en-US" sz="900" noProof="1">
                            <a:solidFill>
                              <a:srgbClr val="8A8A8A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900" noProof="1" i="1">
                            <a:solidFill>
                              <a:srgbClr val="8A8A8A"/>
                            </a:solidFill>
                            <a:latin typeface="MiSans"/>
                          </a:rPr>
                          <m:t>u</m:t>
                        </m:r>
                      </m:e>
                      <m:sub>
                        <m:r>
                          <a:rPr lang="en-US" sz="900" noProof="1" i="1">
                            <a:solidFill>
                              <a:srgbClr val="8A8A8A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  <m:r>
                      <a:rPr lang="en-US" sz="900" noProof="1" i="0">
                        <a:solidFill>
                          <a:srgbClr val="8A8A8A"/>
                        </a:solidFill>
                        <a:latin typeface="MiSans"/>
                      </a:rPr>
                      <m:t>,</m:t>
                    </m:r>
                    <m:r>
                      <a:rPr lang="en-US" sz="900" noProof="1" i="0">
                        <a:solidFill>
                          <a:srgbClr val="8A8A8A"/>
                        </a:solidFill>
                        <a:latin typeface="MiSans"/>
                      </a:rPr>
                      <m:t> </m:t>
                    </m:r>
                    <m:sSub>
                      <m:sSubPr>
                        <m:ctrlPr>
                          <a:rPr lang="en-US" sz="900" noProof="1">
                            <a:solidFill>
                              <a:srgbClr val="8A8A8A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900" noProof="1" i="1">
                            <a:solidFill>
                              <a:srgbClr val="8A8A8A"/>
                            </a:solidFill>
                            <a:latin typeface="MiSans"/>
                          </a:rPr>
                          <m:t>k</m:t>
                        </m:r>
                      </m:e>
                      <m:sub>
                        <m:r>
                          <a:rPr lang="en-US" sz="900" noProof="1" i="1">
                            <a:solidFill>
                              <a:srgbClr val="8A8A8A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  <m:r>
                      <a:rPr lang="en-US" sz="900" noProof="1" i="0">
                        <a:solidFill>
                          <a:srgbClr val="8A8A8A"/>
                        </a:solidFill>
                        <a:latin typeface="MiSans"/>
                      </a:rPr>
                      <m:t>,</m:t>
                    </m:r>
                    <m:r>
                      <a:rPr lang="en-US" sz="900" noProof="1" i="0">
                        <a:solidFill>
                          <a:srgbClr val="8A8A8A"/>
                        </a:solidFill>
                        <a:latin typeface="MiSans"/>
                      </a:rPr>
                      <m:t> </m:t>
                    </m:r>
                    <m:sSubSup>
                      <m:sSubSupPr>
                        <m:ctrlPr>
                          <a:rPr lang="en-US" sz="900" noProof="1">
                            <a:solidFill>
                              <a:srgbClr val="8A8A8A"/>
                            </a:solidFill>
                            <a:latin typeface="MiSans"/>
                          </a:rPr>
                        </m:ctrlPr>
                      </m:sSubSupPr>
                      <m:e>
                        <m:r>
                          <a:rPr lang="en-US" sz="900" noProof="1" i="1">
                            <a:solidFill>
                              <a:srgbClr val="8A8A8A"/>
                            </a:solidFill>
                            <a:latin typeface="MiSans"/>
                          </a:rPr>
                          <m:t>g</m:t>
                        </m:r>
                      </m:e>
                      <m:sub>
                        <m:r>
                          <a:rPr lang="en-US" sz="900" noProof="1" i="1">
                            <a:solidFill>
                              <a:srgbClr val="8A8A8A"/>
                            </a:solidFill>
                            <a:latin typeface="MiSans"/>
                          </a:rPr>
                          <m:t>t</m:t>
                        </m:r>
                      </m:sub>
                      <m:sup>
                        <m:r>
                          <a:rPr lang="en-US" sz="900" noProof="1" i="0">
                            <a:solidFill>
                              <a:srgbClr val="8A8A8A"/>
                            </a:solidFill>
                            <a:latin typeface="MiSans"/>
                          </a:rPr>
                          <m:t>r</m:t>
                        </m:r>
                        <m:r>
                          <a:rPr lang="en-US" sz="900" noProof="1" i="0">
                            <a:solidFill>
                              <a:srgbClr val="8A8A8A"/>
                            </a:solidFill>
                            <a:latin typeface="MiSans"/>
                          </a:rPr>
                          <m:t>a</m:t>
                        </m:r>
                        <m:r>
                          <a:rPr lang="en-US" sz="900" noProof="1" i="0">
                            <a:solidFill>
                              <a:srgbClr val="8A8A8A"/>
                            </a:solidFill>
                            <a:latin typeface="MiSans"/>
                          </a:rPr>
                          <m:t>w</m:t>
                        </m:r>
                      </m:sup>
                    </m:sSubSup>
                    <m:r>
                      <a:rPr lang="en-US" sz="900" noProof="1" i="0">
                        <a:solidFill>
                          <a:srgbClr val="8A8A8A"/>
                        </a:solidFill>
                        <a:latin typeface="MiSans"/>
                      </a:rPr>
                      <m:t>)</m:t>
                    </m:r>
                  </m:oMath>
                </a14:m>
                <a:r>
                  <a:rPr lang="en-US" sz="900" noProof="1">
                    <a:solidFill>
                      <a:srgbClr val="8A8A8A"/>
                    </a:solidFill>
                    <a:latin typeface="MiSans"/>
                    <a:ea typeface="MiSans"/>
                  </a:rPr>
                  <a:t>，开销</a:t>
                </a:r>
                <a14:m>
                  <m:oMath>
                    <m:r>
                      <a:rPr lang="en-US" sz="900" noProof="1" i="1">
                        <a:solidFill>
                          <a:srgbClr val="8A8A8A"/>
                        </a:solidFill>
                        <a:latin typeface="MiSans"/>
                      </a:rPr>
                      <m:t>O</m:t>
                    </m:r>
                    <m:r>
                      <a:rPr lang="en-US" sz="900" noProof="1" i="0">
                        <a:solidFill>
                          <a:srgbClr val="8A8A8A"/>
                        </a:solidFill>
                        <a:latin typeface="MiSans"/>
                      </a:rPr>
                      <m:t>(</m:t>
                    </m:r>
                    <m:r>
                      <a:rPr lang="en-US" sz="900" noProof="1" i="1">
                        <a:solidFill>
                          <a:srgbClr val="8A8A8A"/>
                        </a:solidFill>
                        <a:latin typeface="MiSans"/>
                      </a:rPr>
                      <m:t>V</m:t>
                    </m:r>
                    <m:r>
                      <a:rPr lang="en-US" sz="900" noProof="1" i="0">
                        <a:solidFill>
                          <a:srgbClr val="8A8A8A"/>
                        </a:solidFill>
                        <a:latin typeface="MiSans"/>
                      </a:rPr>
                      <m:t>+</m:t>
                    </m:r>
                    <m:r>
                      <a:rPr lang="en-US" sz="900" noProof="1" i="0">
                        <a:solidFill>
                          <a:srgbClr val="8A8A8A"/>
                        </a:solidFill>
                        <a:latin typeface="MiSans"/>
                      </a:rPr>
                      <m:t>2</m:t>
                    </m:r>
                    <m:r>
                      <a:rPr lang="en-US" sz="900" noProof="1" i="1">
                        <a:solidFill>
                          <a:srgbClr val="8A8A8A"/>
                        </a:solidFill>
                        <a:latin typeface="MiSans"/>
                      </a:rPr>
                      <m:t>K</m:t>
                    </m:r>
                    <m:r>
                      <a:rPr lang="en-US" sz="900" noProof="1" i="0">
                        <a:solidFill>
                          <a:srgbClr val="8A8A8A"/>
                        </a:solidFill>
                        <a:latin typeface="MiSans"/>
                      </a:rPr>
                      <m:t>)</m:t>
                    </m:r>
                  </m:oMath>
                </a14:m>
                <a:endParaRPr lang="en-US" sz="900" noProof="1"/>
              </a:p>
            </p:txBody>
          </p:sp>
        </mc:Choice>
        <mc:Fallback xmlns="">
          <p:sp>
            <p:nvSpPr>
              <p:cNvPr id="37" name="rec-legend"/>
              <p:cNvSpPr txBox="1"/>
              <p:nvPr/>
            </p:nvSpPr>
            <p:spPr>
              <a:xfrm>
                <a:off x="1905000" y="3276600"/>
                <a:ext cx="4064000" cy="17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/>
              <a:lstStyle/>
              <a:p>
                <a:pPr>
                  <a:lnSpc>
                    <a:spcPct val="120000"/>
                  </a:lnSpc>
                </a:pPr>
                <a:r>
                  <a:rPr lang="en-US" sz="900" noProof="1">
                    <a:solidFill>
                      <a:srgbClr val="8A8A8A"/>
                    </a:solidFill>
                    <a:latin typeface="MiSans"/>
                    <a:ea typeface="MiSans"/>
                  </a:rPr>
                  <a:t>每位置记录\(R_t=(u_t,\,k_t,\,g^{\mathrm{raw}}_t)\)，开销\(O(V+2K)\)</a:t>
                </a:r>
                <a:endParaRPr lang="en-US" sz="900" noProof="1"/>
              </a:p>
            </p:txBody>
          </p:sp>
        </mc:Fallback>
      </mc:AlternateContent>
      <p:sp>
        <p:nvSpPr>
          <p:cNvPr id="38" name="reject-note"/>
          <p:cNvSpPr txBox="1"/>
          <p:nvPr/>
        </p:nvSpPr>
        <p:spPr>
          <a:xfrm>
            <a:off x="6553200" y="3022600"/>
            <a:ext cx="22352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8A8A8A"/>
                </a:solidFill>
                <a:latin typeface="MiSans"/>
                <a:ea typeface="MiSans"/>
              </a:rPr>
              <a:t>suffix 记录本轮结束后释放</a:t>
            </a:r>
            <a:endParaRPr lang="en-US" sz="900" noProof="1"/>
          </a:p>
        </p:txBody>
      </p:sp>
      <p:sp>
        <p:nvSpPr>
          <p:cNvPr id="39" name="commit-arrow"/>
          <p:cNvSpPr/>
          <p:nvPr>
            <p:extLst>
              <p:ext uri="{F5677B7D-0D2A-4D9B-9A5C-6D8D7D0E5A5D}">
                <pptd:line encoding="base64url">eyJ2aWV3Qm94IjpbNCwzNl0sInBvaW50cyI6IjIsMCAyLDM2In0</pptd:line>
              </p:ext>
            </p:extLst>
          </p:nvPr>
        </p:nvSpPr>
        <p:spPr>
          <a:xfrm>
            <a:off x="6045200" y="3810000"/>
            <a:ext cx="50800" cy="457200"/>
          </a:xfrm>
          <a:custGeom>
            <a:avLst/>
            <a:gdLst/>
            <a:ahLst/>
            <a:cxnLst/>
            <a:rect l="l" t="t" r="r" b="b"/>
            <a:pathLst>
              <a:path w="4" h="36">
                <a:moveTo>
                  <a:pt x="2" y="0"/>
                </a:moveTo>
                <a:lnTo>
                  <a:pt x="2" y="36"/>
                </a:lnTo>
              </a:path>
            </a:pathLst>
          </a:custGeom>
          <a:noFill/>
          <a:ln w="19050" cap="rnd">
            <a:solidFill>
              <a:srgbClr val="C2410C"/>
            </a:solidFill>
            <a:round/>
            <a:tailEnd type="arrow"/>
          </a:ln>
        </p:spPr>
      </p:sp>
      <p:sp>
        <p:nvSpPr>
          <p:cNvPr id="40" name="commit-arrow-label"/>
          <p:cNvSpPr txBox="1"/>
          <p:nvPr/>
        </p:nvSpPr>
        <p:spPr>
          <a:xfrm>
            <a:off x="6223000" y="3911600"/>
            <a:ext cx="2286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C2410C"/>
                </a:solidFill>
                <a:latin typeface="MiSans"/>
                <a:ea typeface="MiSans"/>
              </a:rPr>
              <a:t>commit 只读前 n 条记录</a:t>
            </a:r>
            <a:endParaRPr lang="en-US" sz="900" noProof="1"/>
          </a:p>
        </p:txBody>
      </p:sp>
      <p:sp>
        <p:nvSpPr>
          <p:cNvPr id="41" name="step2-rule"/>
          <p:cNvSpPr/>
          <p:nvPr/>
        </p:nvSpPr>
        <p:spPr>
          <a:xfrm>
            <a:off x="609600" y="4267200"/>
            <a:ext cx="3175000" cy="12700"/>
          </a:xfrm>
          <a:prstGeom prst="rect">
            <a:avLst/>
          </a:prstGeom>
          <a:solidFill>
            <a:srgbClr val="E3E1DC"/>
          </a:solidFill>
          <a:ln>
            <a:noFill/>
          </a:ln>
        </p:spPr>
      </p:sp>
      <p:sp>
        <p:nvSpPr>
          <p:cNvPr id="42" name="step2-head"/>
          <p:cNvSpPr txBox="1"/>
          <p:nvPr/>
        </p:nvSpPr>
        <p:spPr>
          <a:xfrm>
            <a:off x="609600" y="4419600"/>
            <a:ext cx="3175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C2410C"/>
                </a:solidFill>
                <a:latin typeface="MiSans"/>
                <a:ea typeface="MiSans"/>
              </a:rPr>
              <a:t>②</a:t>
            </a:r>
            <a:r>
              <a:rPr lang="en-US" sz="1300" noProof="1">
                <a:solidFill>
                  <a:srgbClr val="C2410C"/>
                </a:solidFill>
                <a:latin typeface="MiSans"/>
                <a:ea typeface="MiSans"/>
              </a:rPr>
              <a:t>　</a:t>
            </a:r>
            <a:r>
              <a:rPr lang="en-US" sz="1300" noProof="1" b="1">
                <a:solidFill>
                  <a:srgbClr val="191919"/>
                </a:solidFill>
                <a:latin typeface="MiSans"/>
                <a:ea typeface="MiSans"/>
              </a:rPr>
              <a:t>Rejection sampling</a:t>
            </a:r>
            <a:endParaRPr lang="en-US" sz="16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step2-body"/>
              <p:cNvSpPr txBox="1"/>
              <p:nvPr/>
            </p:nvSpPr>
            <p:spPr>
              <a:xfrm>
                <a:off x="609600" y="4724400"/>
                <a:ext cx="3175000" cy="12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60000"/>
                  </a:lnSpc>
                </a:pPr>
                <a:r>
                  <a:rPr lang="en-US" sz="1000" noProof="1">
                    <a:solidFill>
                      <a:srgbClr val="5B5B5B"/>
                    </a:solidFill>
                    <a:latin typeface="MiSans"/>
                    <a:ea typeface="MiSans"/>
                  </a:rPr>
                  <a:t>MRV1 采样器返回 num_accepted_tokens </a:t>
                </a:r>
                <a14:m>
                  <m:oMath>
                    <m:r>
                      <a:rPr lang="en-US" sz="1000" noProof="1" i="1">
                        <a:solidFill>
                          <a:srgbClr val="5B5B5B"/>
                        </a:solidFill>
                        <a:latin typeface="MiSans"/>
                      </a:rPr>
                      <m:t>n</m:t>
                    </m:r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∈</m:t>
                    </m:r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[</m:t>
                    </m:r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0</m:t>
                    </m:r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,</m:t>
                    </m:r>
                    <m:r>
                      <a:rPr lang="en-US" sz="1000" noProof="1" i="1">
                        <a:solidFill>
                          <a:srgbClr val="5B5B5B"/>
                        </a:solidFill>
                        <a:latin typeface="MiSans"/>
                      </a:rPr>
                      <m:t>L</m:t>
                    </m:r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]</m:t>
                    </m:r>
                  </m:oMath>
                </a14:m>
                <a:r>
                  <a:rPr lang="en-US" sz="1000" noProof="1">
                    <a:solidFill>
                      <a:srgbClr val="5B5B5B"/>
                    </a:solidFill>
                    <a:latin typeface="MiSans"/>
                    <a:ea typeface="MiSans"/>
                  </a:rPr>
                  <a:t>（含 leading target token）；packed KDA 行经 speculative request mask 映射到 sampler 行，填充 ID </a:t>
                </a:r>
                <a14:m>
                  <m:oMath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-</m:t>
                    </m:r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1</m:t>
                    </m:r>
                  </m:oMath>
                </a14:m>
                <a:r>
                  <a:rPr lang="en-US" sz="1000" noProof="1">
                    <a:solidFill>
                      <a:srgbClr val="5B5B5B"/>
                    </a:solidFill>
                    <a:latin typeface="MiSans"/>
                    <a:ea typeface="MiSans"/>
                  </a:rPr>
                  <a:t>被排除。</a:t>
                </a:r>
                <a:endParaRPr lang="en-US" sz="1000" noProof="1"/>
              </a:p>
            </p:txBody>
          </p:sp>
        </mc:Choice>
        <mc:Fallback xmlns="">
          <p:sp>
            <p:nvSpPr>
              <p:cNvPr id="43" name="step2-body"/>
              <p:cNvSpPr txBox="1"/>
              <p:nvPr/>
            </p:nvSpPr>
            <p:spPr>
              <a:xfrm>
                <a:off x="609600" y="4724400"/>
                <a:ext cx="3175000" cy="12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60000"/>
                  </a:lnSpc>
                </a:pPr>
                <a:r>
                  <a:rPr lang="en-US" sz="1000" noProof="1">
                    <a:solidFill>
                      <a:srgbClr val="5B5B5B"/>
                    </a:solidFill>
                    <a:latin typeface="MiSans"/>
                    <a:ea typeface="MiSans"/>
                  </a:rPr>
                  <a:t>MRV1 采样器返回 num_accepted_tokens \(n\in[0,L]\)（含 leading target token）；packed KDA 行经 speculative request mask 映射到 sampler 行，填充 ID \(-1\)被排除。</a:t>
                </a:r>
                <a:endParaRPr lang="en-US" sz="1000" noProof="1"/>
              </a:p>
            </p:txBody>
          </p:sp>
        </mc:Fallback>
      </mc:AlternateContent>
      <p:sp>
        <p:nvSpPr>
          <p:cNvPr id="44" name="step3-rule"/>
          <p:cNvSpPr/>
          <p:nvPr/>
        </p:nvSpPr>
        <p:spPr>
          <a:xfrm>
            <a:off x="4191000" y="4267200"/>
            <a:ext cx="4064000" cy="12700"/>
          </a:xfrm>
          <a:prstGeom prst="rect">
            <a:avLst/>
          </a:prstGeom>
          <a:solidFill>
            <a:srgbClr val="E3E1DC"/>
          </a:solidFill>
          <a:ln>
            <a:noFill/>
          </a:ln>
        </p:spPr>
      </p:sp>
      <p:sp>
        <p:nvSpPr>
          <p:cNvPr id="45" name="step3-head"/>
          <p:cNvSpPr txBox="1"/>
          <p:nvPr/>
        </p:nvSpPr>
        <p:spPr>
          <a:xfrm>
            <a:off x="4191000" y="4419600"/>
            <a:ext cx="406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C2410C"/>
                </a:solidFill>
                <a:latin typeface="MiSans"/>
                <a:ea typeface="MiSans"/>
              </a:rPr>
              <a:t>③</a:t>
            </a:r>
            <a:r>
              <a:rPr lang="en-US" sz="1300" noProof="1">
                <a:solidFill>
                  <a:srgbClr val="C2410C"/>
                </a:solidFill>
                <a:latin typeface="MiSans"/>
                <a:ea typeface="MiSans"/>
              </a:rPr>
              <a:t>　</a:t>
            </a:r>
            <a:r>
              <a:rPr lang="en-US" sz="1300" noProof="1" b="1">
                <a:solidFill>
                  <a:srgbClr val="191919"/>
                </a:solidFill>
                <a:latin typeface="MiSans"/>
                <a:ea typeface="MiSans"/>
              </a:rPr>
              <a:t>Commit —— 反向累积，写回原 slot</a:t>
            </a:r>
            <a:endParaRPr lang="en-US" sz="16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step3-formula"/>
              <p:cNvSpPr txBox="1"/>
              <p:nvPr/>
            </p:nvSpPr>
            <p:spPr>
              <a:xfrm>
                <a:off x="4191000" y="4724400"/>
                <a:ext cx="4064000" cy="27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/>
              <a:lstStyle/>
              <a:p>
                <a:pPr>
                  <a:lnSpc>
                    <a:spcPct val="120000"/>
                  </a:lnSpc>
                </a:pPr>
                <a14:m>
                  <m:oMath>
                    <m:sSub>
                      <m:sSubPr>
                        <m:ctrlPr>
                          <a:rPr lang="en-US" sz="1300" noProof="1">
                            <a:solidFill>
                              <a:srgbClr val="191919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3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S</m:t>
                        </m:r>
                      </m:e>
                      <m:sub>
                        <m:r>
                          <a:rPr lang="en-US" sz="1300" noProof="1" i="0">
                            <a:solidFill>
                              <a:srgbClr val="191919"/>
                            </a:solidFill>
                            <a:latin typeface="MiSans"/>
                          </a:rPr>
                          <m:t>r</m:t>
                        </m:r>
                        <m:r>
                          <a:rPr lang="en-US" sz="1300" noProof="1" i="0">
                            <a:solidFill>
                              <a:srgbClr val="191919"/>
                            </a:solidFill>
                            <a:latin typeface="MiSans"/>
                          </a:rPr>
                          <m:t>e</m:t>
                        </m:r>
                        <m:r>
                          <a:rPr lang="en-US" sz="1300" noProof="1" i="0">
                            <a:solidFill>
                              <a:srgbClr val="191919"/>
                            </a:solidFill>
                            <a:latin typeface="MiSans"/>
                          </a:rPr>
                          <m:t>b</m:t>
                        </m:r>
                        <m:r>
                          <a:rPr lang="en-US" sz="1300" noProof="1" i="0">
                            <a:solidFill>
                              <a:srgbClr val="191919"/>
                            </a:solidFill>
                            <a:latin typeface="MiSans"/>
                          </a:rPr>
                          <m:t>u</m:t>
                        </m:r>
                        <m:r>
                          <a:rPr lang="en-US" sz="1300" noProof="1" i="0">
                            <a:solidFill>
                              <a:srgbClr val="191919"/>
                            </a:solidFill>
                            <a:latin typeface="MiSans"/>
                          </a:rPr>
                          <m:t>i</m:t>
                        </m:r>
                        <m:r>
                          <a:rPr lang="en-US" sz="1300" noProof="1" i="0">
                            <a:solidFill>
                              <a:srgbClr val="191919"/>
                            </a:solidFill>
                            <a:latin typeface="MiSans"/>
                          </a:rPr>
                          <m:t>l</m:t>
                        </m:r>
                        <m:r>
                          <a:rPr lang="en-US" sz="1300" noProof="1" i="0">
                            <a:solidFill>
                              <a:srgbClr val="191919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  <m:r>
                      <a:rPr lang="en-US" sz="1300" noProof="1" i="0">
                        <a:solidFill>
                          <a:srgbClr val="191919"/>
                        </a:solidFill>
                        <a:latin typeface="MiSans"/>
                      </a:rPr>
                      <m:t>=</m:t>
                    </m:r>
                    <m:sSub>
                      <m:sSubPr>
                        <m:ctrlPr>
                          <a:rPr lang="en-US" sz="1300" noProof="1">
                            <a:solidFill>
                              <a:srgbClr val="191919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300" noProof="1" i="1">
                            <a:solidFill>
                              <a:srgbClr val="191919"/>
                            </a:solidFill>
                            <a:latin typeface="MiSans"/>
                          </a:rPr>
                          <m:t>S</m:t>
                        </m:r>
                      </m:e>
                      <m:sub>
                        <m:r>
                          <a:rPr lang="en-US" sz="1300" noProof="1" i="0">
                            <a:solidFill>
                              <a:srgbClr val="191919"/>
                            </a:solidFill>
                            <a:latin typeface="MiSans"/>
                          </a:rPr>
                          <m:t>0</m:t>
                        </m:r>
                      </m:sub>
                    </m:sSub>
                    <m:r>
                      <a:rPr lang="en-US" sz="1300" noProof="1" i="0">
                        <a:solidFill>
                          <a:srgbClr val="191919"/>
                        </a:solidFill>
                        <a:latin typeface="MiSans"/>
                      </a:rPr>
                      <m:t> </m:t>
                    </m:r>
                    <m:r>
                      <a:rPr lang="en-US" sz="1300" noProof="1" i="1">
                        <a:solidFill>
                          <a:srgbClr val="191919"/>
                        </a:solidFill>
                        <a:latin typeface="MiSans"/>
                      </a:rPr>
                      <m:t>P</m:t>
                    </m:r>
                    <m:r>
                      <a:rPr lang="en-US" sz="1300" noProof="1" i="0">
                        <a:solidFill>
                          <a:srgbClr val="191919"/>
                        </a:solidFill>
                        <a:latin typeface="MiSans"/>
                      </a:rPr>
                      <m:t>+</m:t>
                    </m:r>
                    <m:r>
                      <a:rPr lang="en-US" sz="1300" noProof="1" i="1">
                        <a:solidFill>
                          <a:srgbClr val="191919"/>
                        </a:solidFill>
                        <a:latin typeface="MiSans"/>
                      </a:rPr>
                      <m:t>U</m:t>
                    </m:r>
                  </m:oMath>
                </a14:m>
                <a:r>
                  <a:rPr lang="en-US" sz="1300" noProof="1"/>
                  <a:t xml:space="preserve"> </a:t>
                </a:r>
                <a:endParaRPr lang="en-US" sz="1300" noProof="1"/>
              </a:p>
            </p:txBody>
          </p:sp>
        </mc:Choice>
        <mc:Fallback xmlns="">
          <p:sp>
            <p:nvSpPr>
              <p:cNvPr id="46" name="step3-formula"/>
              <p:cNvSpPr txBox="1"/>
              <p:nvPr/>
            </p:nvSpPr>
            <p:spPr>
              <a:xfrm>
                <a:off x="4191000" y="4724400"/>
                <a:ext cx="4064000" cy="27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/>
              <a:lstStyle/>
              <a:p>
                <a:pPr>
                  <a:lnSpc>
                    <a:spcPct val="120000"/>
                  </a:lnSpc>
                </a:pPr>
                <a:r>
                  <a:rPr lang="en-US" sz="1300" noProof="1">
                    <a:solidFill>
                      <a:srgbClr val="191919"/>
                    </a:solidFill>
                    <a:latin typeface="MiSans"/>
                    <a:ea typeface="MiSans"/>
                  </a:rPr>
                  <a:t>\(S_{\mathrm{rebuilt}} = S_0\,P + U\)</a:t>
                </a:r>
                <a:endParaRPr lang="en-US" sz="1300" noProof="1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step3-body"/>
              <p:cNvSpPr txBox="1"/>
              <p:nvPr/>
            </p:nvSpPr>
            <p:spPr>
              <a:xfrm>
                <a:off x="4191000" y="5080000"/>
                <a:ext cx="4064000" cy="9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60000"/>
                  </a:lnSpc>
                </a:pPr>
                <a:r>
                  <a:rPr lang="en-US" sz="1000" noProof="1">
                    <a:solidFill>
                      <a:srgbClr val="5B5B5B"/>
                    </a:solidFill>
                    <a:latin typeface="MiSans"/>
                    <a:ea typeface="MiSans"/>
                  </a:rPr>
                  <a:t>从 </a:t>
                </a:r>
                <a14:m>
                  <m:oMath>
                    <m:r>
                      <a:rPr lang="en-US" sz="1000" noProof="1" i="1">
                        <a:solidFill>
                          <a:srgbClr val="5B5B5B"/>
                        </a:solidFill>
                        <a:latin typeface="MiSans"/>
                      </a:rPr>
                      <m:t>t</m:t>
                    </m:r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=</m:t>
                    </m:r>
                    <m:r>
                      <a:rPr lang="en-US" sz="1000" noProof="1" i="1">
                        <a:solidFill>
                          <a:srgbClr val="5B5B5B"/>
                        </a:solidFill>
                        <a:latin typeface="MiSans"/>
                      </a:rPr>
                      <m:t>n</m:t>
                    </m:r>
                  </m:oMath>
                </a14:m>
                <a:r>
                  <a:rPr lang="en-US" sz="1000" noProof="1">
                    <a:solidFill>
                      <a:srgbClr val="5B5B5B"/>
                    </a:solidFill>
                    <a:latin typeface="MiSans"/>
                    <a:ea typeface="MiSans"/>
                  </a:rPr>
                  <a:t>反向遍历到 </a:t>
                </a:r>
                <a14:m>
                  <m:oMath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1</m:t>
                    </m:r>
                  </m:oMath>
                </a14:m>
                <a:r>
                  <a:rPr lang="en-US" sz="1000" noProof="1">
                    <a:solidFill>
                      <a:srgbClr val="5B5B5B"/>
                    </a:solidFill>
                    <a:latin typeface="MiSans"/>
                    <a:ea typeface="MiSans"/>
                  </a:rPr>
                  <a:t>：</a:t>
                </a:r>
                <a14:m>
                  <m:oMath>
                    <m:r>
                      <a:rPr lang="en-US" sz="1000" noProof="1" i="1">
                        <a:solidFill>
                          <a:srgbClr val="5B5B5B"/>
                        </a:solidFill>
                        <a:latin typeface="MiSans"/>
                      </a:rPr>
                      <m:t>U</m:t>
                    </m:r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←</m:t>
                    </m:r>
                    <m:r>
                      <a:rPr lang="en-US" sz="1000" noProof="1" i="1">
                        <a:solidFill>
                          <a:srgbClr val="5B5B5B"/>
                        </a:solidFill>
                        <a:latin typeface="MiSans"/>
                      </a:rPr>
                      <m:t>U</m:t>
                    </m:r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+</m:t>
                    </m:r>
                    <m:sSub>
                      <m:sSubPr>
                        <m:ctrlPr>
                          <a:rPr lang="en-US" sz="1000" noProof="1">
                            <a:solidFill>
                              <a:srgbClr val="5B5B5B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000" noProof="1" i="1">
                            <a:solidFill>
                              <a:srgbClr val="5B5B5B"/>
                            </a:solidFill>
                            <a:latin typeface="MiSans"/>
                          </a:rPr>
                          <m:t>u</m:t>
                        </m:r>
                      </m:e>
                      <m:sub>
                        <m:r>
                          <a:rPr lang="en-US" sz="1000" noProof="1" i="1">
                            <a:solidFill>
                              <a:srgbClr val="5B5B5B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  <m:sSubSup>
                      <m:sSubSupPr>
                        <m:ctrlPr>
                          <a:rPr lang="en-US" sz="1000" noProof="1">
                            <a:solidFill>
                              <a:srgbClr val="5B5B5B"/>
                            </a:solidFill>
                            <a:latin typeface="MiSans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000" noProof="1">
                                <a:solidFill>
                                  <a:srgbClr val="5B5B5B"/>
                                </a:solidFill>
                                <a:latin typeface="MiSans"/>
                              </a:rPr>
                            </m:ctrlPr>
                          </m:accPr>
                          <m:e>
                            <m:r>
                              <a:rPr lang="en-US" sz="1000" noProof="1" i="1">
                                <a:solidFill>
                                  <a:srgbClr val="5B5B5B"/>
                                </a:solidFill>
                                <a:latin typeface="MiSans"/>
                              </a:rPr>
                              <m:t>k</m:t>
                            </m:r>
                          </m:e>
                        </m:acc>
                      </m:e>
                      <m:sub>
                        <m:r>
                          <a:rPr lang="en-US" sz="1000" noProof="1" i="1">
                            <a:solidFill>
                              <a:srgbClr val="5B5B5B"/>
                            </a:solidFill>
                            <a:latin typeface="MiSans"/>
                          </a:rPr>
                          <m:t>t</m:t>
                        </m:r>
                      </m:sub>
                      <m:sup>
                        <m:r>
                          <m:rPr>
                            <m:scr m:val="sans-serif"/>
                          </m:rPr>
                          <a:rPr lang="en-US" sz="1000" noProof="1" i="0">
                            <a:solidFill>
                              <a:srgbClr val="5B5B5B"/>
                            </a:solidFill>
                            <a:latin typeface="MiSans"/>
                          </a:rPr>
                          <m:t>T</m:t>
                        </m:r>
                      </m:sup>
                    </m:sSubSup>
                    <m:r>
                      <a:rPr lang="en-US" sz="1000" noProof="1" i="1">
                        <a:solidFill>
                          <a:srgbClr val="5B5B5B"/>
                        </a:solidFill>
                        <a:latin typeface="MiSans"/>
                      </a:rPr>
                      <m:t>P</m:t>
                    </m:r>
                  </m:oMath>
                </a14:m>
                <a:r>
                  <a:rPr lang="en-US" sz="1000" noProof="1">
                    <a:solidFill>
                      <a:srgbClr val="5B5B5B"/>
                    </a:solidFill>
                    <a:latin typeface="MiSans"/>
                    <a:ea typeface="MiSans"/>
                  </a:rPr>
                  <a:t>，</a:t>
                </a:r>
                <a14:m>
                  <m:oMath>
                    <m:r>
                      <a:rPr lang="en-US" sz="1000" noProof="1" i="1">
                        <a:solidFill>
                          <a:srgbClr val="5B5B5B"/>
                        </a:solidFill>
                        <a:latin typeface="MiSans"/>
                      </a:rPr>
                      <m:t>P</m:t>
                    </m:r>
                    <m:r>
                      <a:rPr lang="en-US" sz="1000" noProof="1" i="0">
                        <a:solidFill>
                          <a:srgbClr val="5B5B5B"/>
                        </a:solidFill>
                        <a:latin typeface="MiSans"/>
                      </a:rPr>
                      <m:t>←</m:t>
                    </m:r>
                    <m:sSub>
                      <m:sSubPr>
                        <m:ctrlPr>
                          <a:rPr lang="en-US" sz="1000" noProof="1">
                            <a:solidFill>
                              <a:srgbClr val="5B5B5B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000" noProof="1" i="1">
                            <a:solidFill>
                              <a:srgbClr val="5B5B5B"/>
                            </a:solidFill>
                            <a:latin typeface="MiSans"/>
                          </a:rPr>
                          <m:t>D</m:t>
                        </m:r>
                      </m:e>
                      <m:sub>
                        <m:r>
                          <a:rPr lang="en-US" sz="1000" noProof="1" i="1">
                            <a:solidFill>
                              <a:srgbClr val="5B5B5B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  <m:r>
                      <a:rPr lang="en-US" sz="1000" noProof="1" i="1">
                        <a:solidFill>
                          <a:srgbClr val="5B5B5B"/>
                        </a:solidFill>
                        <a:latin typeface="MiSans"/>
                      </a:rPr>
                      <m:t>P</m:t>
                    </m:r>
                  </m:oMath>
                </a14:m>
                <a:r>
                  <a:rPr lang="en-US" sz="1000" noProof="1">
                    <a:solidFill>
                      <a:srgbClr val="5B5B5B"/>
                    </a:solidFill>
                    <a:latin typeface="MiSans"/>
                    <a:ea typeface="MiSans"/>
                  </a:rPr>
                  <a:t>，与闭式表达等价；结果写回该 request 的原生 checkpoint slot，随后释放本轮 pending records。</a:t>
                </a:r>
                <a:endParaRPr lang="en-US" sz="1000" noProof="1"/>
              </a:p>
            </p:txBody>
          </p:sp>
        </mc:Choice>
        <mc:Fallback xmlns="">
          <p:sp>
            <p:nvSpPr>
              <p:cNvPr id="47" name="step3-body"/>
              <p:cNvSpPr txBox="1"/>
              <p:nvPr/>
            </p:nvSpPr>
            <p:spPr>
              <a:xfrm>
                <a:off x="4191000" y="5080000"/>
                <a:ext cx="4064000" cy="9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60000"/>
                  </a:lnSpc>
                </a:pPr>
                <a:r>
                  <a:rPr lang="en-US" sz="1000" noProof="1">
                    <a:solidFill>
                      <a:srgbClr val="5B5B5B"/>
                    </a:solidFill>
                    <a:latin typeface="MiSans"/>
                    <a:ea typeface="MiSans"/>
                  </a:rPr>
                  <a:t>从 \(t=n\)反向遍历到 \(1\)：\(U\gets U+u_t\hat{k}_t^{\mathsf{T}}P\)，\(P\gets D_tP\)，与闭式表达等价；结果写回该 request 的原生 checkpoint slot，随后释放本轮 pending records。</a:t>
                </a:r>
                <a:endParaRPr lang="en-US" sz="1000" noProof="1"/>
              </a:p>
            </p:txBody>
          </p:sp>
        </mc:Fallback>
      </mc:AlternateContent>
      <p:sp>
        <p:nvSpPr>
          <p:cNvPr id="48" name="step4-rule"/>
          <p:cNvSpPr/>
          <p:nvPr/>
        </p:nvSpPr>
        <p:spPr>
          <a:xfrm>
            <a:off x="8661400" y="4267200"/>
            <a:ext cx="2921000" cy="12700"/>
          </a:xfrm>
          <a:prstGeom prst="rect">
            <a:avLst/>
          </a:prstGeom>
          <a:solidFill>
            <a:srgbClr val="E3E1DC"/>
          </a:solidFill>
          <a:ln>
            <a:noFill/>
          </a:ln>
        </p:spPr>
      </p:sp>
      <p:sp>
        <p:nvSpPr>
          <p:cNvPr id="49" name="step4-head"/>
          <p:cNvSpPr txBox="1"/>
          <p:nvPr/>
        </p:nvSpPr>
        <p:spPr>
          <a:xfrm>
            <a:off x="8661400" y="4419600"/>
            <a:ext cx="292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C2410C"/>
                </a:solidFill>
                <a:latin typeface="MiSans"/>
                <a:ea typeface="MiSans"/>
              </a:rPr>
              <a:t>④</a:t>
            </a:r>
            <a:r>
              <a:rPr lang="en-US" sz="1300" noProof="1">
                <a:solidFill>
                  <a:srgbClr val="C2410C"/>
                </a:solidFill>
                <a:latin typeface="MiSans"/>
                <a:ea typeface="MiSans"/>
              </a:rPr>
              <a:t>　</a:t>
            </a:r>
            <a:r>
              <a:rPr lang="en-US" sz="1300" noProof="1" b="1">
                <a:solidFill>
                  <a:srgbClr val="191919"/>
                </a:solidFill>
                <a:latin typeface="MiSans"/>
                <a:ea typeface="MiSans"/>
              </a:rPr>
              <a:t>下一轮</a:t>
            </a:r>
            <a:endParaRPr lang="en-US" sz="1600" noProof="1"/>
          </a:p>
        </p:txBody>
      </p:sp>
      <p:sp>
        <p:nvSpPr>
          <p:cNvPr id="50" name="step4-body"/>
          <p:cNvSpPr txBox="1"/>
          <p:nvPr/>
        </p:nvSpPr>
        <p:spPr>
          <a:xfrm>
            <a:off x="8661400" y="4724400"/>
            <a:ext cx="2921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000" noProof="1">
                <a:solidFill>
                  <a:srgbClr val="5B5B5B"/>
                </a:solidFill>
                <a:latin typeface="MiSans"/>
                <a:ea typeface="MiSans"/>
              </a:rPr>
              <a:t>state copy 从已写回的 slot 开始，KDA 递推链在数学上保持连续；卷积历史沿原有 accepted-length 逻辑处理。</a:t>
            </a:r>
            <a:endParaRPr lang="en-US" sz="1000" noProof="1"/>
          </a:p>
        </p:txBody>
      </p:sp>
      <p:sp>
        <p:nvSpPr>
          <p:cNvPr id="51" name="footer"/>
          <p:cNvSpPr txBox="1"/>
          <p:nvPr/>
        </p:nvSpPr>
        <p:spPr>
          <a:xfrm>
            <a:off x="609600" y="6654800"/>
            <a:ext cx="109728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A8A8A"/>
                </a:solidFill>
                <a:latin typeface="MiSans"/>
                <a:ea typeface="MiSans"/>
              </a:rPr>
              <a:t>依据 </a:t>
            </a:r>
            <a:r>
              <a:rPr lang="en-US" sz="90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vllm-ascend PR #19087</a:t>
            </a:r>
            <a:r>
              <a:rPr lang="en-US" sz="900" noProof="1">
                <a:solidFill>
                  <a:srgbClr val="8A8A8A"/>
                </a:solidFill>
                <a:latin typeface="MiSans"/>
                <a:ea typeface="MiSans"/>
              </a:rPr>
              <a:t>（kda_recoverssm_verify / kda_recoverssm_commit）实现整理</a:t>
            </a:r>
            <a:endParaRPr lang="en-US" sz="9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2</Slides>
</Properties>
</file>

<file path=docProps/core.xml><?xml version="1.0" encoding="utf-8"?>
<cp:coreProperties xmlns:dc="http://purl.org/dc/elements/1.1/" xmlns:cp="http://schemas.openxmlformats.org/package/2006/metadata/core-properties">
  <dc:title>KDA State 重建原理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