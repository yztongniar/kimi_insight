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37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llm-project/vllm-ascend/pull/1908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llm-project/vllm-ascend/pull/19087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kern="0" spc="200" noProof="1">
                <a:solidFill>
                  <a:srgbClr val="8A8A8A"/>
                </a:solidFill>
                <a:latin typeface="MiSans"/>
                <a:ea typeface="MiSans"/>
              </a:rPr>
              <a:t>KIMI K3 · SPECULATIVE DECODING · RECOVERSSM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91919"/>
                </a:solidFill>
                <a:latin typeface="思源宋体"/>
                <a:ea typeface="思源宋体"/>
              </a:rPr>
              <a:t>KDA State 重建原理：一份 checkpoint + 每步三个向量，恢复任意接受前缀</a:t>
            </a:r>
            <a:endParaRPr lang="en-US" sz="2200" noProof="1"/>
          </a:p>
        </p:txBody>
      </p:sp>
      <p:sp>
        <p:nvSpPr>
          <p:cNvPr id="4" name="head-rule"/>
          <p:cNvSpPr/>
          <p:nvPr/>
        </p:nvSpPr>
        <p:spPr>
          <a:xfrm>
            <a:off x="609600" y="1193800"/>
            <a:ext cx="109728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5" name="sec01-head"/>
          <p:cNvSpPr txBox="1"/>
          <p:nvPr/>
        </p:nvSpPr>
        <p:spPr>
          <a:xfrm>
            <a:off x="609600" y="14732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01　</a:t>
            </a:r>
            <a:r>
              <a:rPr lang="en-US" sz="1400" b="1" noProof="1">
                <a:solidFill>
                  <a:srgbClr val="191919"/>
                </a:solidFill>
                <a:latin typeface="MiSans"/>
                <a:ea typeface="MiSans"/>
              </a:rPr>
              <a:t>原理 —— 单步递推是仿射变换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c01-formula"/>
              <p:cNvSpPr txBox="1"/>
              <p:nvPr/>
            </p:nvSpPr>
            <p:spPr>
              <a:xfrm>
                <a:off x="609600" y="1803400"/>
                <a:ext cx="660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600" i="1" noProof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noProof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sz="16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6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𝘛</m:t>
                        </m:r>
                      </m:sup>
                    </m:sSubSup>
                  </m:oMath>
                </a14:m>
                <a:r>
                  <a:rPr lang="en-US" sz="16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6" name="sec01-formula"/>
              <p:cNvSpPr txBox="1"/>
              <p:nvPr/>
            </p:nvSpPr>
            <p:spPr>
              <a:xfrm>
                <a:off x="609600" y="1803400"/>
                <a:ext cx="660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l">
                  <a:lnSpc>
                    <a:spcPct val="120000"/>
                  </a:lnSpc>
                </a:pPr>
                <a:r>
                  <a:rPr lang="en-US" sz="16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\(S_t = S_{t-1}\,D_t + u_t\,\hat{k}_t^{\mathsf{T}}\)</a:t>
                </a:r>
                <a:endParaRPr lang="en-US" sz="16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c01-note"/>
              <p:cNvSpPr txBox="1"/>
              <p:nvPr/>
            </p:nvSpPr>
            <p:spPr>
              <a:xfrm>
                <a:off x="609600" y="2235200"/>
                <a:ext cx="6604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5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000" i="0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0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 沿 key 维逐列衰减；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1000" i="0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i="0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000" i="0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𝑟𝑎𝑤</m:t>
                        </m:r>
                      </m:sup>
                    </m:sSubSup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)⊙(</m:t>
                    </m:r>
                    <m:sSub>
                      <m:sSubPr>
                        <m:ctrlP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000" i="1" noProof="1">
                                <a:solidFill>
                                  <a:srgbClr val="5B5B5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i="1" noProof="1">
                                <a:solidFill>
                                  <a:srgbClr val="5B5B5B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000" i="1" noProof="1">
                                <a:solidFill>
                                  <a:srgbClr val="5B5B5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i="1" noProof="1">
                                <a:solidFill>
                                  <a:srgbClr val="5B5B5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 为 rank-1 修正向量</a:t>
                </a:r>
                <a:endParaRPr lang="en-US" sz="10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7" name="sec01-note"/>
              <p:cNvSpPr txBox="1"/>
              <p:nvPr/>
            </p:nvSpPr>
            <p:spPr>
              <a:xfrm>
                <a:off x="609600" y="2235200"/>
                <a:ext cx="6604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5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其中 \(D_t=\mathrm{diag}(\exp(\gamma_t))\) 沿 key 维逐列衰减；\(u_t=\sigma(\beta^{\mathrm{raw}}_t)\odot\bigl(v_t-\widetilde{S}_t\hat{k}_t\bigr)\) 为 rank-1 修正向量</a:t>
                </a:r>
                <a:endParaRPr lang="en-US" sz="10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ec01-arrow"/>
              <p:cNvSpPr txBox="1"/>
              <p:nvPr/>
            </p:nvSpPr>
            <p:spPr>
              <a:xfrm>
                <a:off x="609600" y="2717800"/>
                <a:ext cx="6604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/>
              <a:lstStyle/>
              <a:p>
                <a:pPr>
                  <a:lnSpc>
                    <a:spcPct val="120000"/>
                  </a:lnSpc>
                </a:pPr>
                <a:r>
                  <a:rPr lang="en-US" sz="1100" noProof="1">
                    <a:solidFill>
                      <a:srgbClr val="C2410C"/>
                    </a:solidFill>
                    <a:latin typeface="MiSans"/>
                    <a:ea typeface="MiSans"/>
                  </a:rPr>
                  <a:t>⇓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 均为对角矩阵、彼此可交换 → 递推可展开为闭式</a:t>
                </a:r>
                <a:endParaRPr lang="en-US" sz="11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8" name="sec01-arrow"/>
              <p:cNvSpPr txBox="1"/>
              <p:nvPr/>
            </p:nvSpPr>
            <p:spPr>
              <a:xfrm>
                <a:off x="609600" y="2717800"/>
                <a:ext cx="6604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100" noProof="1">
                    <a:solidFill>
                      <a:srgbClr val="C2410C"/>
                    </a:solidFill>
                    <a:latin typeface="MiSans"/>
                    <a:ea typeface="MiSans"/>
                  </a:rPr>
                  <a:t>⇓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　\(D_t\) 均为对角矩阵、彼此可交换 → 递推可展开为闭式</a:t>
                </a:r>
                <a:endParaRPr lang="en-US" sz="1100" noProof="1"/>
              </a:p>
            </p:txBody>
          </p:sp>
        </mc:Fallback>
      </mc:AlternateContent>
      <p:sp>
        <p:nvSpPr>
          <p:cNvPr id="9" name="sec01-panel"/>
          <p:cNvSpPr/>
          <p:nvPr/>
        </p:nvSpPr>
        <p:spPr>
          <a:xfrm>
            <a:off x="609600" y="2997200"/>
            <a:ext cx="6604000" cy="685800"/>
          </a:xfrm>
          <a:prstGeom prst="rect">
            <a:avLst/>
          </a:prstGeom>
          <a:solidFill>
            <a:srgbClr val="FAF6F0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ec01-closed"/>
              <p:cNvSpPr txBox="1"/>
              <p:nvPr/>
            </p:nvSpPr>
            <p:spPr>
              <a:xfrm>
                <a:off x="812800" y="2997200"/>
                <a:ext cx="6197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5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5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nary>
                      <m:naryPr>
                        <m:chr m:val="∏"/>
                        <m:limLoc m:val="undOvr"/>
                        <m:ctrlP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5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/>
                    </m:nary>
                    <m:sSub>
                      <m:sSubPr>
                        <m:ctrlP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5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/>
                    </m:nary>
                    <m:sSub>
                      <m:sSubPr>
                        <m:ctrlP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500" i="1" noProof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500" i="1" noProof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𝘛</m:t>
                        </m:r>
                      </m:sup>
                    </m:sSubSup>
                    <m:nary>
                      <m:naryPr>
                        <m:chr m:val="∏"/>
                        <m:limLoc m:val="undOvr"/>
                        <m:ctrlP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5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5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/>
                    </m:nary>
                    <m:sSub>
                      <m:sSubPr>
                        <m:ctrlP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5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5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0" name="sec01-closed"/>
              <p:cNvSpPr txBox="1"/>
              <p:nvPr/>
            </p:nvSpPr>
            <p:spPr>
              <a:xfrm>
                <a:off x="812800" y="2997200"/>
                <a:ext cx="61976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5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\(S_n = S_0\prod_{t=1}^{n}D_t + \sum_{i=1}^{n} u_i\,\hat{k}_i^{\mathsf{T}}\prod_{j=i+1}^{n}D_j\)</a:t>
                </a:r>
                <a:endParaRPr lang="en-US" sz="1500" noProof="1"/>
              </a:p>
            </p:txBody>
          </p:sp>
        </mc:Fallback>
      </mc:AlternateContent>
      <p:sp>
        <p:nvSpPr>
          <p:cNvPr id="11" name="rule-1"/>
          <p:cNvSpPr/>
          <p:nvPr/>
        </p:nvSpPr>
        <p:spPr>
          <a:xfrm>
            <a:off x="609600" y="3911600"/>
            <a:ext cx="66040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12" name="sec03-head"/>
          <p:cNvSpPr txBox="1"/>
          <p:nvPr/>
        </p:nvSpPr>
        <p:spPr>
          <a:xfrm>
            <a:off x="609600" y="40894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03　</a:t>
            </a:r>
            <a:r>
              <a:rPr lang="en-US" sz="1400" b="1" noProof="1">
                <a:solidFill>
                  <a:srgbClr val="191919"/>
                </a:solidFill>
                <a:latin typeface="MiSans"/>
                <a:ea typeface="MiSans"/>
              </a:rPr>
              <a:t>为什么存这些就够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ec03-body"/>
              <p:cNvSpPr txBox="1"/>
              <p:nvPr/>
            </p:nvSpPr>
            <p:spPr>
              <a:xfrm>
                <a:off x="609600" y="4368800"/>
                <a:ext cx="6604000" cy="7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递推对状态是仿射的，每步的全部影响浓缩在 </a:t>
                </a:r>
                <a14:m>
                  <m:oMath xmlns:m="http://schemas.openxmlformats.org/officeDocument/2006/math">
                    <m:r>
                      <a:rPr lang="en-US" sz="11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100" i="1" noProof="1">
                                <a:solidFill>
                                  <a:srgbClr val="5B5B5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i="1" noProof="1">
                                <a:solidFill>
                                  <a:srgbClr val="5B5B5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 中；给早期 correction 补上后续衰减权重再累加，即得任意前缀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。被拒绝的 suffix 不读取、天然排除；commit 用同一份 raw gate 重算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，与 verify 数值路径一致。</a:t>
                </a:r>
                <a:endParaRPr lang="en-US" sz="11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3" name="sec03-body"/>
              <p:cNvSpPr txBox="1"/>
              <p:nvPr/>
            </p:nvSpPr>
            <p:spPr>
              <a:xfrm>
                <a:off x="609600" y="4368800"/>
                <a:ext cx="6604000" cy="7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递推对状态是仿射的，每步的全部影响浓缩在 \((u_t,\hat{k}_t,D_t)\) 中；给早期 correction 补上后续衰减权重再累加，即得任意前缀 \(S_n\)。被拒绝的 suffix 不读取、天然排除；commit 用同一份 raw gate 重算 \(D_t\)，与 verify 数值路径一致。</a:t>
                </a:r>
                <a:endParaRPr lang="en-US" sz="1100" noProof="1"/>
              </a:p>
            </p:txBody>
          </p:sp>
        </mc:Fallback>
      </mc:AlternateContent>
      <p:sp>
        <p:nvSpPr>
          <p:cNvPr id="14" name="rule-2"/>
          <p:cNvSpPr/>
          <p:nvPr/>
        </p:nvSpPr>
        <p:spPr>
          <a:xfrm>
            <a:off x="609600" y="5283200"/>
            <a:ext cx="66040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15" name="sec04-head"/>
          <p:cNvSpPr txBox="1"/>
          <p:nvPr/>
        </p:nvSpPr>
        <p:spPr>
          <a:xfrm>
            <a:off x="609600" y="54356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04　</a:t>
            </a:r>
            <a:r>
              <a:rPr lang="en-US" sz="1400" b="1" noProof="1">
                <a:solidFill>
                  <a:srgbClr val="191919"/>
                </a:solidFill>
                <a:latin typeface="MiSans"/>
                <a:ea typeface="MiSans"/>
              </a:rPr>
              <a:t>怎么重建 —— commit 反向累积一趟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ec04-algo"/>
              <p:cNvSpPr txBox="1"/>
              <p:nvPr/>
            </p:nvSpPr>
            <p:spPr>
              <a:xfrm>
                <a:off x="609600" y="5689600"/>
                <a:ext cx="6604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1200" b="1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b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2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1200" noProof="1"/>
                  <a:t> </a:t>
                </a:r>
              </a:p>
              <a:p>
                <a:pPr>
                  <a:lnSpc>
                    <a:spcPct val="160000"/>
                  </a:lnSpc>
                </a:pP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−1,⋯,1</m:t>
                    </m:r>
                  </m:oMath>
                </a14:m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：　</a:t>
                </a:r>
                <a14:m>
                  <m:oMath xmlns:m="http://schemas.openxmlformats.org/officeDocument/2006/math"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200" i="1" noProof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 noProof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2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𝘛</m:t>
                        </m:r>
                      </m:sup>
                    </m:sSubSup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1200" noProof="1"/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𝑟𝑒𝑏𝑢𝑖𝑙𝑡</m:t>
                        </m:r>
                      </m:sub>
                    </m:sSub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→ 写回该 request 的 checkpoint slot</a:t>
                </a:r>
                <a:endParaRPr lang="en-US" sz="12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6" name="sec04-algo"/>
              <p:cNvSpPr txBox="1"/>
              <p:nvPr/>
            </p:nvSpPr>
            <p:spPr>
              <a:xfrm>
                <a:off x="609600" y="5689600"/>
                <a:ext cx="6604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\(P \gets I_K,\quad U \gets \mathbf{0}_{V\times K}\)</a:t>
                </a:r>
                <a:endParaRPr lang="en-US" sz="1200" noProof="1"/>
              </a:p>
              <a:p>
                <a:pPr>
                  <a:lnSpc>
                    <a:spcPct val="160000"/>
                  </a:lnSpc>
                </a:pP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for \(t = n, n-1, \dots, 1\)：　\(U \gets U + u_t\,\hat{k}_t^{\mathsf{T}} P,\quad P \gets D_t\,P\)</a:t>
                </a:r>
                <a:endParaRPr lang="en-US" sz="1200" noProof="1"/>
              </a:p>
              <a:p>
                <a:pPr>
                  <a:lnSpc>
                    <a:spcPct val="160000"/>
                  </a:lnSpc>
                </a:pP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\(S_{\mathrm{rebuilt}} \gets S_0\,P + U\)　→ 写回该 request 的 checkpoint slot</a:t>
                </a:r>
                <a:endParaRPr lang="en-US" sz="1200" noProof="1"/>
              </a:p>
            </p:txBody>
          </p:sp>
        </mc:Fallback>
      </mc:AlternateContent>
      <p:sp>
        <p:nvSpPr>
          <p:cNvPr id="17" name="col-divider"/>
          <p:cNvSpPr/>
          <p:nvPr/>
        </p:nvSpPr>
        <p:spPr>
          <a:xfrm>
            <a:off x="7391400" y="1473200"/>
            <a:ext cx="12700" cy="50292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18" name="sec02-head"/>
          <p:cNvSpPr txBox="1"/>
          <p:nvPr/>
        </p:nvSpPr>
        <p:spPr>
          <a:xfrm>
            <a:off x="7670800" y="1473200"/>
            <a:ext cx="3911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C2410C"/>
                </a:solidFill>
                <a:latin typeface="MiSans"/>
                <a:ea typeface="MiSans"/>
              </a:rPr>
              <a:t>02　</a:t>
            </a:r>
            <a:r>
              <a:rPr lang="en-US" sz="1400" b="1" noProof="1">
                <a:solidFill>
                  <a:srgbClr val="191919"/>
                </a:solidFill>
                <a:latin typeface="MiSans"/>
                <a:ea typeface="MiSans"/>
              </a:rPr>
              <a:t>存什么 —— verify 阶段只记录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sec02-list"/>
              <p:cNvSpPr txBox="1"/>
              <p:nvPr/>
            </p:nvSpPr>
            <p:spPr>
              <a:xfrm>
                <a:off x="7670800" y="1803400"/>
                <a:ext cx="3911600" cy="154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rank-1 修正向量</a:t>
                </a:r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1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原始 key，commit 重新归一化</a:t>
                </a:r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𝑟𝑎𝑤</m:t>
                        </m:r>
                      </m:sup>
                    </m:sSubSup>
                    <m:r>
                      <a:rPr lang="en-US" sz="11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原始 gate，重算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1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1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1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1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已提交 checkpoint，全局一份</a:t>
                </a:r>
                <a:endParaRPr lang="en-US" sz="11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9" name="sec02-list"/>
              <p:cNvSpPr txBox="1"/>
              <p:nvPr/>
            </p:nvSpPr>
            <p:spPr>
              <a:xfrm>
                <a:off x="7670800" y="1803400"/>
                <a:ext cx="3911600" cy="154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50000"/>
                  </a:lnSpc>
                </a:pPr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\(u_t \in \mathbb{R}^{V}\)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rank-1 修正向量</a:t>
                </a:r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\(k_t \in \mathbb{R}^{K}\)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原始 key，commit 重新归一化</a:t>
                </a:r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\(g^{\mathrm{raw}}_t \in \mathbb{R}^{K}\)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原始 gate，重算 \(D_t\)</a:t>
                </a:r>
                <a:endParaRPr lang="en-US" sz="1100" noProof="1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11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\(S_0 \in \mathbb{R}^{V\times K}\)　</a:t>
                </a:r>
                <a:r>
                  <a:rPr lang="en-US" sz="1100" noProof="1">
                    <a:solidFill>
                      <a:srgbClr val="5B5B5B"/>
                    </a:solidFill>
                    <a:latin typeface="MiSans"/>
                    <a:ea typeface="MiSans"/>
                  </a:rPr>
                  <a:t>已提交 checkpoint，全局一份</a:t>
                </a:r>
                <a:endParaRPr lang="en-US" sz="11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ec02-accent"/>
              <p:cNvSpPr txBox="1"/>
              <p:nvPr/>
            </p:nvSpPr>
            <p:spPr>
              <a:xfrm>
                <a:off x="7670800" y="3429000"/>
                <a:ext cx="3911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/>
              <a:lstStyle/>
              <a:p>
                <a:pPr>
                  <a:lnSpc>
                    <a:spcPct val="120000"/>
                  </a:lnSpc>
                </a:pPr>
                <a:r>
                  <a:rPr lang="en-US" sz="1100" b="1" noProof="1">
                    <a:solidFill>
                      <a:srgbClr val="C2410C"/>
                    </a:solidFill>
                    <a:latin typeface="MiSans"/>
                    <a:ea typeface="MiSans"/>
                  </a:rPr>
                  <a:t>每位置仅 </a:t>
                </a:r>
                <a14:m>
                  <m:oMath xmlns:m="http://schemas.openxmlformats.org/officeDocument/2006/math">
                    <m:r>
                      <a:rPr lang="en-US" sz="1100" b="1" i="1" noProof="1">
                        <a:solidFill>
                          <a:srgbClr val="C2410C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100" b="1" i="0" noProof="1">
                        <a:solidFill>
                          <a:srgbClr val="C2410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b="1" i="1" noProof="1">
                        <a:solidFill>
                          <a:srgbClr val="C2410C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100" b="1" i="0" noProof="1">
                        <a:solidFill>
                          <a:srgbClr val="C2410C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1100" b="1" i="1" noProof="1">
                        <a:solidFill>
                          <a:srgbClr val="C2410C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b="1" i="0" noProof="1">
                        <a:solidFill>
                          <a:srgbClr val="C2410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100" b="1" noProof="1">
                    <a:solidFill>
                      <a:srgbClr val="C2410C"/>
                    </a:solidFill>
                    <a:latin typeface="MiSans"/>
                    <a:ea typeface="MiSans"/>
                  </a:rPr>
                  <a:t>，而非完整矩阵 </a:t>
                </a:r>
                <a14:m>
                  <m:oMath xmlns:m="http://schemas.openxmlformats.org/officeDocument/2006/math">
                    <m:r>
                      <a:rPr lang="en-US" sz="1100" b="1" i="1" noProof="1">
                        <a:solidFill>
                          <a:srgbClr val="C2410C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100" b="1" i="0" noProof="1">
                        <a:solidFill>
                          <a:srgbClr val="C2410C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100" b="1" i="1" noProof="1">
                        <a:solidFill>
                          <a:srgbClr val="C2410C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1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20" name="sec02-accent"/>
              <p:cNvSpPr txBox="1"/>
              <p:nvPr/>
            </p:nvSpPr>
            <p:spPr>
              <a:xfrm>
                <a:off x="7670800" y="3429000"/>
                <a:ext cx="3911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100" noProof="1" b="1">
                    <a:solidFill>
                      <a:srgbClr val="C2410C"/>
                    </a:solidFill>
                    <a:latin typeface="MiSans"/>
                    <a:ea typeface="MiSans"/>
                  </a:rPr>
                  <a:t>每位置仅 \(O(V+2K)\)，而非完整矩阵 \(V\times K\)</a:t>
                </a:r>
                <a:endParaRPr lang="en-US" sz="1100" noProof="1"/>
              </a:p>
            </p:txBody>
          </p:sp>
        </mc:Fallback>
      </mc:AlternateContent>
      <p:sp>
        <p:nvSpPr>
          <p:cNvPr id="21" name="rule-3"/>
          <p:cNvSpPr/>
          <p:nvPr/>
        </p:nvSpPr>
        <p:spPr>
          <a:xfrm>
            <a:off x="7670800" y="3784600"/>
            <a:ext cx="39116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22" name="sec02-cost-head"/>
          <p:cNvSpPr txBox="1"/>
          <p:nvPr/>
        </p:nvSpPr>
        <p:spPr>
          <a:xfrm>
            <a:off x="7670800" y="3962400"/>
            <a:ext cx="3911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91919"/>
                </a:solidFill>
                <a:latin typeface="MiSans"/>
                <a:ea typeface="MiSans"/>
              </a:rPr>
              <a:t>存储量对比（H 个 head、链长 L）</a:t>
            </a:r>
            <a:endParaRPr lang="en-US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c02-cost"/>
              <p:cNvSpPr txBox="1"/>
              <p:nvPr/>
            </p:nvSpPr>
            <p:spPr>
              <a:xfrm>
                <a:off x="7670800" y="4241800"/>
                <a:ext cx="3911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70000"/>
                  </a:lnSpc>
                </a:pPr>
                <a:r>
                  <a:rPr lang="en-US" sz="1200" b="1" noProof="1">
                    <a:solidFill>
                      <a:srgbClr val="0F766E"/>
                    </a:solidFill>
                    <a:latin typeface="MiSans"/>
                    <a:ea typeface="MiSans"/>
                  </a:rPr>
                  <a:t>RecoverSSM</a:t>
                </a: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</a:t>
                </a:r>
                <a14:m>
                  <m:oMath xmlns:m="http://schemas.openxmlformats.org/officeDocument/2006/math"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𝐻𝑉𝐾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𝐿𝐻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1200" noProof="1"/>
              </a:p>
              <a:p>
                <a:pPr>
                  <a:lnSpc>
                    <a:spcPct val="170000"/>
                  </a:lnSpc>
                </a:pPr>
                <a:r>
                  <a:rPr lang="en-US" sz="1200" noProof="1">
                    <a:solidFill>
                      <a:srgbClr val="8A8A8A"/>
                    </a:solidFill>
                    <a:latin typeface="MiSans"/>
                    <a:ea typeface="MiSans"/>
                  </a:rPr>
                  <a:t>原始方案</a:t>
                </a: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　</a:t>
                </a:r>
                <a14:m>
                  <m:oMath xmlns:m="http://schemas.openxmlformats.org/officeDocument/2006/math"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𝐿𝐻𝑉𝐾</m:t>
                    </m:r>
                    <m:r>
                      <a:rPr lang="en-US" sz="12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23" name="sec02-cost"/>
              <p:cNvSpPr txBox="1"/>
              <p:nvPr/>
            </p:nvSpPr>
            <p:spPr>
              <a:xfrm>
                <a:off x="7670800" y="4241800"/>
                <a:ext cx="3911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70000"/>
                  </a:lnSpc>
                </a:pPr>
                <a:r>
                  <a:rPr lang="en-US" sz="1200" noProof="1" b="1">
                    <a:solidFill>
                      <a:srgbClr val="0F766E"/>
                    </a:solidFill>
                    <a:latin typeface="MiSans"/>
                    <a:ea typeface="MiSans"/>
                  </a:rPr>
                  <a:t>RecoverSSM</a:t>
                </a: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\(O\bigl(HVK + LH(V+2K)\bigr)\)</a:t>
                </a:r>
                <a:endParaRPr lang="en-US" sz="1200" noProof="1"/>
              </a:p>
              <a:p>
                <a:pPr>
                  <a:lnSpc>
                    <a:spcPct val="170000"/>
                  </a:lnSpc>
                </a:pPr>
                <a:r>
                  <a:rPr lang="en-US" sz="1200" noProof="1">
                    <a:solidFill>
                      <a:srgbClr val="8A8A8A"/>
                    </a:solidFill>
                    <a:latin typeface="MiSans"/>
                    <a:ea typeface="MiSans"/>
                  </a:rPr>
                  <a:t>原始方案</a:t>
                </a:r>
                <a:r>
                  <a:rPr lang="en-US" sz="1200" noProof="1">
                    <a:solidFill>
                      <a:srgbClr val="191919"/>
                    </a:solidFill>
                    <a:latin typeface="MiSans"/>
                    <a:ea typeface="MiSans"/>
                  </a:rPr>
                  <a:t>　　\(O(LHVK)\)</a:t>
                </a:r>
                <a:endParaRPr lang="en-US" sz="1200" noProof="1"/>
              </a:p>
            </p:txBody>
          </p:sp>
        </mc:Fallback>
      </mc:AlternateContent>
      <p:sp>
        <p:nvSpPr>
          <p:cNvPr id="24" name="sec02-note"/>
          <p:cNvSpPr txBox="1"/>
          <p:nvPr/>
        </p:nvSpPr>
        <p:spPr>
          <a:xfrm>
            <a:off x="7670800" y="5003800"/>
            <a:ext cx="3911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00" noProof="1">
                <a:solidFill>
                  <a:srgbClr val="8A8A8A"/>
                </a:solidFill>
                <a:latin typeface="MiSans"/>
                <a:ea typeface="MiSans"/>
              </a:rPr>
              <a:t>verify 期间 checkpoint 保持不变；commit 只重建接受前缀并写回原 slot，随后释放本轮记录。下一轮从已写回状态继续，递推链保持连续。</a:t>
            </a:r>
            <a:endParaRPr lang="en-US" sz="1000" noProof="1"/>
          </a:p>
        </p:txBody>
      </p:sp>
      <p:sp>
        <p:nvSpPr>
          <p:cNvPr id="25" name="footer"/>
          <p:cNvSpPr txBox="1"/>
          <p:nvPr/>
        </p:nvSpPr>
        <p:spPr>
          <a:xfrm>
            <a:off x="609600" y="6654800"/>
            <a:ext cx="10972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依据 </a:t>
            </a:r>
            <a:r>
              <a:rPr lang="en-US" sz="900" u="sng" noProof="1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vllm-ascend PR #19087</a:t>
            </a: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（kda_recoverssm_verify / kda_recoverssm_commit）实现整理　·　存储量为逻辑 tensor size，非 allocator 实际缩减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kern="0" spc="200" noProof="1">
                <a:solidFill>
                  <a:srgbClr val="8A8A8A"/>
                </a:solidFill>
                <a:latin typeface="MiSans"/>
                <a:ea typeface="MiSans"/>
              </a:rPr>
              <a:t>KIMI K3 · SPECULATIVE DECODING · RECOVERSSM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91919"/>
                </a:solidFill>
                <a:latin typeface="思源宋体"/>
                <a:ea typeface="思源宋体"/>
              </a:rPr>
              <a:t>Verify → Commit 时序：候选链全量展开，仅接受前缀被重建写回</a:t>
            </a:r>
            <a:endParaRPr lang="en-US" sz="2200" noProof="1"/>
          </a:p>
        </p:txBody>
      </p:sp>
      <p:sp>
        <p:nvSpPr>
          <p:cNvPr id="4" name="head-rule"/>
          <p:cNvSpPr/>
          <p:nvPr/>
        </p:nvSpPr>
        <p:spPr>
          <a:xfrm>
            <a:off x="609600" y="1193800"/>
            <a:ext cx="109728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verify-head"/>
              <p:cNvSpPr txBox="1"/>
              <p:nvPr/>
            </p:nvSpPr>
            <p:spPr>
              <a:xfrm>
                <a:off x="609600" y="1447800"/>
                <a:ext cx="10160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/>
              <a:lstStyle/>
              <a:p>
                <a:pPr>
                  <a:lnSpc>
                    <a:spcPct val="120000"/>
                  </a:lnSpc>
                </a:pPr>
                <a:r>
                  <a:rPr lang="en-US" sz="1300" noProof="1">
                    <a:solidFill>
                      <a:srgbClr val="C2410C"/>
                    </a:solidFill>
                    <a:latin typeface="MiSans"/>
                    <a:ea typeface="MiSans"/>
                  </a:rPr>
                  <a:t>①　</a:t>
                </a:r>
                <a:r>
                  <a:rPr lang="en-US" sz="1300" b="1" noProof="1">
                    <a:solidFill>
                      <a:srgbClr val="191919"/>
                    </a:solidFill>
                    <a:latin typeface="MiSans"/>
                    <a:ea typeface="MiSans"/>
                  </a:rPr>
                  <a:t>Verify —— 从已提交 checkpoint 前向展开整条候选链，输出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1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1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300" b="1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300" b="1" noProof="1">
                    <a:solidFill>
                      <a:srgbClr val="191919"/>
                    </a:solidFill>
                    <a:latin typeface="MiSans"/>
                    <a:ea typeface="MiSans"/>
                  </a:rPr>
                  <a:t> 并保存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1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1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300" b="1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300" b="1" noProof="1">
                    <a:solidFill>
                      <a:srgbClr val="191919"/>
                    </a:solidFill>
                    <a:latin typeface="MiSans"/>
                    <a:ea typeface="MiSans"/>
                  </a:rPr>
                  <a:t>，checkpoint 不变</a:t>
                </a:r>
                <a:endParaRPr lang="en-US" sz="16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5" name="verify-head"/>
              <p:cNvSpPr txBox="1"/>
              <p:nvPr/>
            </p:nvSpPr>
            <p:spPr>
              <a:xfrm>
                <a:off x="609600" y="1447800"/>
                <a:ext cx="10160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300" noProof="1">
                    <a:solidFill>
                      <a:srgbClr val="C2410C"/>
                    </a:solidFill>
                    <a:latin typeface="MiSans"/>
                    <a:ea typeface="MiSans"/>
                  </a:rPr>
                  <a:t>①</a:t>
                </a:r>
                <a:r>
                  <a:rPr lang="en-US" sz="1300" noProof="1">
                    <a:solidFill>
                      <a:srgbClr val="C2410C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300" noProof="1" b="1">
                    <a:solidFill>
                      <a:srgbClr val="191919"/>
                    </a:solidFill>
                    <a:latin typeface="MiSans"/>
                    <a:ea typeface="MiSans"/>
                  </a:rPr>
                  <a:t>Verify —— 从已提交 checkpoint 前向展开整条候选链，输出 \(y_t\) 并保存 \(R_t\)，checkpoint 不变</a:t>
                </a:r>
                <a:endParaRPr lang="en-US" sz="1600" noProof="1"/>
              </a:p>
            </p:txBody>
          </p:sp>
        </mc:Fallback>
      </mc:AlternateContent>
      <p:sp>
        <p:nvSpPr>
          <p:cNvPr id="6" name="verify-bracket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eyJ2aWV3Qm94IjpbNTgyLDhdLCJwb2ludHMiOiIwLDggMCwwIDU4MiwwIDU4Miw4IiwiY3VydmUiOiJzaGFycCJ9</pptd:line>
              </p:ext>
            </p:extLst>
          </p:nvPr>
        </p:nvSpPr>
        <p:spPr>
          <a:xfrm>
            <a:off x="1117600" y="1803400"/>
            <a:ext cx="7391400" cy="101600"/>
          </a:xfrm>
          <a:custGeom>
            <a:avLst/>
            <a:gdLst/>
            <a:ahLst/>
            <a:cxnLst/>
            <a:rect l="l" t="t" r="r" b="b"/>
            <a:pathLst>
              <a:path w="582" h="8">
                <a:moveTo>
                  <a:pt x="0" y="8"/>
                </a:moveTo>
                <a:lnTo>
                  <a:pt x="0" y="0"/>
                </a:lnTo>
                <a:lnTo>
                  <a:pt x="582" y="0"/>
                </a:lnTo>
                <a:lnTo>
                  <a:pt x="582" y="8"/>
                </a:lnTo>
              </a:path>
            </a:pathLst>
          </a:custGeom>
          <a:noFill/>
          <a:ln w="12700">
            <a:solidFill>
              <a:srgbClr val="8A8A8A"/>
            </a:solidFill>
          </a:ln>
        </p:spPr>
      </p:sp>
      <p:sp>
        <p:nvSpPr>
          <p:cNvPr id="7" name="accept-label"/>
          <p:cNvSpPr txBox="1"/>
          <p:nvPr/>
        </p:nvSpPr>
        <p:spPr>
          <a:xfrm>
            <a:off x="3632200" y="2006600"/>
            <a:ext cx="2336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C2410C"/>
                </a:solidFill>
                <a:latin typeface="MiSans"/>
                <a:ea typeface="MiSans"/>
              </a:rPr>
              <a:t>接受前缀 1…n（参与重建）</a:t>
            </a:r>
            <a:endParaRPr lang="en-US" sz="900" noProof="1"/>
          </a:p>
        </p:txBody>
      </p:sp>
      <p:sp>
        <p:nvSpPr>
          <p:cNvPr id="8" name="reject-label"/>
          <p:cNvSpPr txBox="1"/>
          <p:nvPr/>
        </p:nvSpPr>
        <p:spPr>
          <a:xfrm>
            <a:off x="6223000" y="2006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被拒绝 suffix（不读取）</a:t>
            </a:r>
            <a:endParaRPr lang="en-US" sz="900" noProof="1"/>
          </a:p>
        </p:txBody>
      </p:sp>
      <p:sp>
        <p:nvSpPr>
          <p:cNvPr id="9" name="node-s0"/>
          <p:cNvSpPr/>
          <p:nvPr/>
        </p:nvSpPr>
        <p:spPr>
          <a:xfrm>
            <a:off x="812800" y="2362200"/>
            <a:ext cx="609600" cy="609600"/>
          </a:xfrm>
          <a:prstGeom prst="rect">
            <a:avLst/>
          </a:prstGeom>
          <a:solidFill>
            <a:srgbClr val="191919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node-s0-text"/>
              <p:cNvSpPr txBox="1"/>
              <p:nvPr/>
            </p:nvSpPr>
            <p:spPr>
              <a:xfrm>
                <a:off x="812800" y="23622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noProof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noProof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500" i="0" noProof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5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0" name="node-s0-text"/>
              <p:cNvSpPr txBox="1"/>
              <p:nvPr/>
            </p:nvSpPr>
            <p:spPr>
              <a:xfrm>
                <a:off x="812800" y="23622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500" noProof="1">
                    <a:solidFill>
                      <a:srgbClr val="FFFFFF"/>
                    </a:solidFill>
                    <a:latin typeface="MiSans"/>
                    <a:ea typeface="MiSans"/>
                  </a:rPr>
                  <a:t>\(S_0\)</a:t>
                </a:r>
                <a:endParaRPr lang="en-US" sz="1500" noProof="1"/>
              </a:p>
            </p:txBody>
          </p:sp>
        </mc:Fallback>
      </mc:AlternateContent>
      <p:sp>
        <p:nvSpPr>
          <p:cNvPr id="11" name="node-s0-label"/>
          <p:cNvSpPr txBox="1"/>
          <p:nvPr/>
        </p:nvSpPr>
        <p:spPr>
          <a:xfrm>
            <a:off x="482600" y="30226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5B5B5B"/>
                </a:solidFill>
                <a:latin typeface="MiSans"/>
                <a:ea typeface="MiSans"/>
              </a:rPr>
              <a:t>checkpoint（已提交）</a:t>
            </a:r>
            <a:endParaRPr lang="en-US" sz="900" noProof="1"/>
          </a:p>
        </p:txBody>
      </p:sp>
      <p:sp>
        <p:nvSpPr>
          <p:cNvPr id="12" name="arrow-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eyJ2aWV3Qm94IjpbNTQsNF0sInBvaW50cyI6IjAsMiA1NCwyIn0</pptd:line>
              </p:ext>
            </p:extLst>
          </p:nvPr>
        </p:nvSpPr>
        <p:spPr>
          <a:xfrm>
            <a:off x="1447800" y="2616200"/>
            <a:ext cx="685800" cy="50800"/>
          </a:xfrm>
          <a:custGeom>
            <a:avLst/>
            <a:gdLst/>
            <a:ahLst/>
            <a:cxnLst/>
            <a:rect l="l" t="t" r="r" b="b"/>
            <a:pathLst>
              <a:path w="54" h="4">
                <a:moveTo>
                  <a:pt x="0" y="2"/>
                </a:moveTo>
                <a:lnTo>
                  <a:pt x="54" y="2"/>
                </a:lnTo>
              </a:path>
            </a:pathLst>
          </a:custGeom>
          <a:noFill/>
          <a:ln w="19050" cap="rnd">
            <a:solidFill>
              <a:srgbClr val="191919"/>
            </a:solidFill>
            <a:round/>
            <a:tailEnd type="arrow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arrow-1-label"/>
              <p:cNvSpPr txBox="1"/>
              <p:nvPr/>
            </p:nvSpPr>
            <p:spPr>
              <a:xfrm>
                <a:off x="1320800" y="2133600"/>
                <a:ext cx="17780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/>
              <a:lstStyle/>
              <a:p>
                <a:pPr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5B5B5B"/>
                    </a:solidFill>
                    <a:latin typeface="MiSans"/>
                    <a:ea typeface="MiSans"/>
                  </a:rPr>
                  <a:t>每步输入 </a:t>
                </a:r>
                <a14:m>
                  <m:oMath xmlns:m="http://schemas.openxmlformats.org/officeDocument/2006/math">
                    <m:r>
                      <a:rPr lang="en-US" sz="9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9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9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9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9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3" name="arrow-1-label"/>
              <p:cNvSpPr txBox="1"/>
              <p:nvPr/>
            </p:nvSpPr>
            <p:spPr>
              <a:xfrm>
                <a:off x="1320800" y="2133600"/>
                <a:ext cx="17780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5B5B5B"/>
                    </a:solidFill>
                    <a:latin typeface="MiSans"/>
                    <a:ea typeface="MiSans"/>
                  </a:rPr>
                  <a:t>每步输入 \((k_t,\,g_t,\,u_t)\)</a:t>
                </a:r>
                <a:endParaRPr lang="en-US" sz="900" noProof="1"/>
              </a:p>
            </p:txBody>
          </p:sp>
        </mc:Fallback>
      </mc:AlternateContent>
      <p:sp>
        <p:nvSpPr>
          <p:cNvPr id="14" name="node-s1"/>
          <p:cNvSpPr/>
          <p:nvPr/>
        </p:nvSpPr>
        <p:spPr>
          <a:xfrm>
            <a:off x="2159000" y="2362200"/>
            <a:ext cx="5588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919"/>
            </a:solidFill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de-s1-text"/>
              <p:cNvSpPr txBox="1"/>
              <p:nvPr/>
            </p:nvSpPr>
            <p:spPr>
              <a:xfrm>
                <a:off x="21590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5" name="node-s1-text"/>
              <p:cNvSpPr txBox="1"/>
              <p:nvPr/>
            </p:nvSpPr>
            <p:spPr>
              <a:xfrm>
                <a:off x="21590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\(S_1\)</a:t>
                </a:r>
                <a:endParaRPr lang="en-US" sz="14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node-s1-rec"/>
              <p:cNvSpPr txBox="1"/>
              <p:nvPr/>
            </p:nvSpPr>
            <p:spPr>
              <a:xfrm>
                <a:off x="21590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900" i="0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9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6" name="node-s1-rec"/>
              <p:cNvSpPr txBox="1"/>
              <p:nvPr/>
            </p:nvSpPr>
            <p:spPr>
              <a:xfrm>
                <a:off x="21590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t"/>
              <a:lstStyle/>
              <a:p>
                <a:pPr algn="ctr"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5B5B5B"/>
                    </a:solidFill>
                    <a:latin typeface="MiSans"/>
                    <a:ea typeface="MiSans"/>
                  </a:rPr>
                  <a:t>\(R_1\)</a:t>
                </a:r>
                <a:endParaRPr lang="en-US" sz="900" noProof="1"/>
              </a:p>
            </p:txBody>
          </p:sp>
        </mc:Fallback>
      </mc:AlternateContent>
      <p:sp>
        <p:nvSpPr>
          <p:cNvPr id="17" name="arrow-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eyJ2aWV3Qm94IjpbNTgsNF0sInBvaW50cyI6IjAsMiA1OCwyIn0</pptd:line>
              </p:ext>
            </p:extLst>
          </p:nvPr>
        </p:nvSpPr>
        <p:spPr>
          <a:xfrm>
            <a:off x="2743200" y="2616200"/>
            <a:ext cx="736600" cy="50800"/>
          </a:xfrm>
          <a:custGeom>
            <a:avLst/>
            <a:gdLst/>
            <a:ahLst/>
            <a:cxnLst/>
            <a:rect l="l" t="t" r="r" b="b"/>
            <a:pathLst>
              <a:path w="58" h="4">
                <a:moveTo>
                  <a:pt x="0" y="2"/>
                </a:moveTo>
                <a:lnTo>
                  <a:pt x="58" y="2"/>
                </a:lnTo>
              </a:path>
            </a:pathLst>
          </a:custGeom>
          <a:noFill/>
          <a:ln w="19050" cap="rnd">
            <a:solidFill>
              <a:srgbClr val="191919"/>
            </a:solidFill>
            <a:round/>
            <a:tailEnd type="arrow"/>
          </a:ln>
        </p:spPr>
      </p:sp>
      <p:sp>
        <p:nvSpPr>
          <p:cNvPr id="18" name="node-s2"/>
          <p:cNvSpPr/>
          <p:nvPr/>
        </p:nvSpPr>
        <p:spPr>
          <a:xfrm>
            <a:off x="3505200" y="2362200"/>
            <a:ext cx="5588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91919"/>
            </a:solidFill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node-s2-text"/>
              <p:cNvSpPr txBox="1"/>
              <p:nvPr/>
            </p:nvSpPr>
            <p:spPr>
              <a:xfrm>
                <a:off x="35052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19" name="node-s2-text"/>
              <p:cNvSpPr txBox="1"/>
              <p:nvPr/>
            </p:nvSpPr>
            <p:spPr>
              <a:xfrm>
                <a:off x="35052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\(S_2\)</a:t>
                </a:r>
                <a:endParaRPr lang="en-US" sz="14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node-s2-rec"/>
              <p:cNvSpPr txBox="1"/>
              <p:nvPr/>
            </p:nvSpPr>
            <p:spPr>
              <a:xfrm>
                <a:off x="35052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900" i="0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9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20" name="node-s2-rec"/>
              <p:cNvSpPr txBox="1"/>
              <p:nvPr/>
            </p:nvSpPr>
            <p:spPr>
              <a:xfrm>
                <a:off x="35052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t"/>
              <a:lstStyle/>
              <a:p>
                <a:pPr algn="ctr"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5B5B5B"/>
                    </a:solidFill>
                    <a:latin typeface="MiSans"/>
                    <a:ea typeface="MiSans"/>
                  </a:rPr>
                  <a:t>\(R_2\)</a:t>
                </a:r>
                <a:endParaRPr lang="en-US" sz="900" noProof="1"/>
              </a:p>
            </p:txBody>
          </p:sp>
        </mc:Fallback>
      </mc:AlternateContent>
      <p:sp>
        <p:nvSpPr>
          <p:cNvPr id="21" name="arrow-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eyJ2aWV3Qm94IjpbMjAsNF0sInBvaW50cyI6IjAsMiAyMCwyIn0</pptd:line>
              </p:ext>
            </p:extLst>
          </p:nvPr>
        </p:nvSpPr>
        <p:spPr>
          <a:xfrm>
            <a:off x="4089400" y="26162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2"/>
                </a:moveTo>
                <a:lnTo>
                  <a:pt x="20" y="2"/>
                </a:lnTo>
              </a:path>
            </a:pathLst>
          </a:custGeom>
          <a:noFill/>
          <a:ln w="19050" cap="rnd">
            <a:solidFill>
              <a:srgbClr val="191919"/>
            </a:solidFill>
            <a:round/>
          </a:ln>
        </p:spPr>
      </p:sp>
      <p:sp>
        <p:nvSpPr>
          <p:cNvPr id="22" name="dots-1"/>
          <p:cNvSpPr txBox="1"/>
          <p:nvPr/>
        </p:nvSpPr>
        <p:spPr>
          <a:xfrm>
            <a:off x="4368800" y="24638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5B5B5B"/>
                </a:solidFill>
                <a:latin typeface="MiSans"/>
                <a:ea typeface="MiSans"/>
              </a:rPr>
              <a:t>…</a:t>
            </a:r>
            <a:endParaRPr lang="en-US" sz="1600" noProof="1"/>
          </a:p>
        </p:txBody>
      </p:sp>
      <p:sp>
        <p:nvSpPr>
          <p:cNvPr id="23" name="arrow-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eyJ2aWV3Qm94IjpbMjAsNF0sInBvaW50cyI6IjAsMiAyMCwyIn0</pptd:line>
              </p:ext>
            </p:extLst>
          </p:nvPr>
        </p:nvSpPr>
        <p:spPr>
          <a:xfrm>
            <a:off x="4851400" y="26162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2"/>
                </a:moveTo>
                <a:lnTo>
                  <a:pt x="20" y="2"/>
                </a:lnTo>
              </a:path>
            </a:pathLst>
          </a:custGeom>
          <a:noFill/>
          <a:ln w="19050" cap="rnd">
            <a:solidFill>
              <a:srgbClr val="191919"/>
            </a:solidFill>
            <a:round/>
            <a:tailEnd type="arrow"/>
          </a:ln>
        </p:spPr>
      </p:sp>
      <p:sp>
        <p:nvSpPr>
          <p:cNvPr id="24" name="node-sn"/>
          <p:cNvSpPr/>
          <p:nvPr/>
        </p:nvSpPr>
        <p:spPr>
          <a:xfrm>
            <a:off x="5130800" y="2362200"/>
            <a:ext cx="558800" cy="55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node-sn-text"/>
              <p:cNvSpPr txBox="1"/>
              <p:nvPr/>
            </p:nvSpPr>
            <p:spPr>
              <a:xfrm>
                <a:off x="51308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1">
                            <a:solidFill>
                              <a:srgbClr val="C2410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C2410C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C2410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25" name="node-sn-text"/>
              <p:cNvSpPr txBox="1"/>
              <p:nvPr/>
            </p:nvSpPr>
            <p:spPr>
              <a:xfrm>
                <a:off x="51308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noProof="1">
                    <a:solidFill>
                      <a:srgbClr val="C2410C"/>
                    </a:solidFill>
                    <a:latin typeface="MiSans"/>
                    <a:ea typeface="MiSans"/>
                  </a:rPr>
                  <a:t>\(S_n\)</a:t>
                </a:r>
                <a:endParaRPr lang="en-US" sz="14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node-sn-rec"/>
              <p:cNvSpPr txBox="1"/>
              <p:nvPr/>
            </p:nvSpPr>
            <p:spPr>
              <a:xfrm>
                <a:off x="51308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noProof="1">
                            <a:solidFill>
                              <a:srgbClr val="C2410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noProof="1">
                            <a:solidFill>
                              <a:srgbClr val="C2410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900" i="1" noProof="1">
                            <a:solidFill>
                              <a:srgbClr val="C2410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9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26" name="node-sn-rec"/>
              <p:cNvSpPr txBox="1"/>
              <p:nvPr/>
            </p:nvSpPr>
            <p:spPr>
              <a:xfrm>
                <a:off x="5130800" y="3022600"/>
                <a:ext cx="558800" cy="1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t"/>
              <a:lstStyle/>
              <a:p>
                <a:pPr algn="ctr"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C2410C"/>
                    </a:solidFill>
                    <a:latin typeface="MiSans"/>
                    <a:ea typeface="MiSans"/>
                  </a:rPr>
                  <a:t>\(R_n\)</a:t>
                </a:r>
                <a:endParaRPr lang="en-US" sz="900" noProof="1"/>
              </a:p>
            </p:txBody>
          </p:sp>
        </mc:Fallback>
      </mc:AlternateContent>
      <p:sp>
        <p:nvSpPr>
          <p:cNvPr id="27" name="arrow-5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eyJ2aWV3Qm94IjpbMjQsNF0sInBvaW50cyI6IjAsMiAyNCwyIn0</pptd:line>
              </p:ext>
            </p:extLst>
          </p:nvPr>
        </p:nvSpPr>
        <p:spPr>
          <a:xfrm>
            <a:off x="5715000" y="2616200"/>
            <a:ext cx="304800" cy="50800"/>
          </a:xfrm>
          <a:custGeom>
            <a:avLst/>
            <a:gdLst/>
            <a:ahLst/>
            <a:cxnLst/>
            <a:rect l="l" t="t" r="r" b="b"/>
            <a:pathLst>
              <a:path w="24" h="4">
                <a:moveTo>
                  <a:pt x="0" y="2"/>
                </a:moveTo>
                <a:lnTo>
                  <a:pt x="24" y="2"/>
                </a:lnTo>
              </a:path>
            </a:pathLst>
          </a:custGeom>
          <a:noFill/>
          <a:ln w="19050" cap="rnd">
            <a:solidFill>
              <a:srgbClr val="191919"/>
            </a:solidFill>
            <a:round/>
          </a:ln>
        </p:spPr>
      </p:sp>
      <p:sp>
        <p:nvSpPr>
          <p:cNvPr id="28" name="boundary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eyJ2aWV3Qm94IjpbNCwxNDRdLCJwb2ludHMiOiIyLDAgMiwxNDQifQ</pptd:line>
              </p:ext>
            </p:extLst>
          </p:nvPr>
        </p:nvSpPr>
        <p:spPr>
          <a:xfrm>
            <a:off x="6045200" y="19812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4" h="144">
                <a:moveTo>
                  <a:pt x="2" y="0"/>
                </a:moveTo>
                <a:lnTo>
                  <a:pt x="2" y="144"/>
                </a:lnTo>
              </a:path>
            </a:pathLst>
          </a:custGeom>
          <a:noFill/>
          <a:ln w="19050" cap="rnd">
            <a:solidFill>
              <a:srgbClr val="8A8A8A"/>
            </a:solidFill>
            <a:prstDash val="dash"/>
            <a:round/>
          </a:ln>
        </p:spPr>
      </p:sp>
      <p:sp>
        <p:nvSpPr>
          <p:cNvPr id="29" name="arrow-6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eyJ2aWV3Qm94IjpbMjgsNF0sInBvaW50cyI6IjAsMiAyOCwyIn0</pptd:line>
              </p:ext>
            </p:extLst>
          </p:nvPr>
        </p:nvSpPr>
        <p:spPr>
          <a:xfrm>
            <a:off x="6172200" y="2616200"/>
            <a:ext cx="355600" cy="50800"/>
          </a:xfrm>
          <a:custGeom>
            <a:avLst/>
            <a:gdLst/>
            <a:ahLst/>
            <a:cxnLst/>
            <a:rect l="l" t="t" r="r" b="b"/>
            <a:pathLst>
              <a:path w="28" h="4">
                <a:moveTo>
                  <a:pt x="0" y="2"/>
                </a:moveTo>
                <a:lnTo>
                  <a:pt x="28" y="2"/>
                </a:lnTo>
              </a:path>
            </a:pathLst>
          </a:custGeom>
          <a:noFill/>
          <a:ln w="19050" cap="rnd">
            <a:solidFill>
              <a:srgbClr val="8A8A8A"/>
            </a:solidFill>
            <a:prstDash val="dash"/>
            <a:round/>
            <a:tailEnd type="arrow"/>
          </a:ln>
        </p:spPr>
      </p:sp>
      <p:sp>
        <p:nvSpPr>
          <p:cNvPr id="30" name="node-sn1"/>
          <p:cNvSpPr/>
          <p:nvPr/>
        </p:nvSpPr>
        <p:spPr>
          <a:xfrm>
            <a:off x="6553200" y="2362200"/>
            <a:ext cx="5588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A8A"/>
            </a:solidFill>
            <a:prstDash val="dash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node-sn1-text"/>
              <p:cNvSpPr txBox="1"/>
              <p:nvPr/>
            </p:nvSpPr>
            <p:spPr>
              <a:xfrm>
                <a:off x="65532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400" i="0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4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31" name="node-sn1-text"/>
              <p:cNvSpPr txBox="1"/>
              <p:nvPr/>
            </p:nvSpPr>
            <p:spPr>
              <a:xfrm>
                <a:off x="65532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noProof="1">
                    <a:solidFill>
                      <a:srgbClr val="8A8A8A"/>
                    </a:solidFill>
                    <a:latin typeface="MiSans"/>
                    <a:ea typeface="MiSans"/>
                  </a:rPr>
                  <a:t>\(S_{n+1}\)</a:t>
                </a:r>
                <a:endParaRPr lang="en-US" sz="1400" noProof="1"/>
              </a:p>
            </p:txBody>
          </p:sp>
        </mc:Fallback>
      </mc:AlternateContent>
      <p:sp>
        <p:nvSpPr>
          <p:cNvPr id="32" name="arrow-7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eyJ2aWV3Qm94IjpbMTgsNF0sInBvaW50cyI6IjAsMiAxOCwyIn0</pptd:line>
              </p:ext>
            </p:extLst>
          </p:nvPr>
        </p:nvSpPr>
        <p:spPr>
          <a:xfrm>
            <a:off x="7137400" y="26162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8" h="4">
                <a:moveTo>
                  <a:pt x="0" y="2"/>
                </a:moveTo>
                <a:lnTo>
                  <a:pt x="18" y="2"/>
                </a:lnTo>
              </a:path>
            </a:pathLst>
          </a:custGeom>
          <a:noFill/>
          <a:ln w="19050" cap="rnd">
            <a:solidFill>
              <a:srgbClr val="8A8A8A"/>
            </a:solidFill>
            <a:prstDash val="dash"/>
            <a:round/>
          </a:ln>
        </p:spPr>
      </p:sp>
      <p:sp>
        <p:nvSpPr>
          <p:cNvPr id="33" name="dots-2"/>
          <p:cNvSpPr txBox="1"/>
          <p:nvPr/>
        </p:nvSpPr>
        <p:spPr>
          <a:xfrm>
            <a:off x="7391400" y="24638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8A8A8A"/>
                </a:solidFill>
                <a:latin typeface="MiSans"/>
                <a:ea typeface="MiSans"/>
              </a:rPr>
              <a:t>…</a:t>
            </a:r>
            <a:endParaRPr lang="en-US" sz="1600" noProof="1"/>
          </a:p>
        </p:txBody>
      </p:sp>
      <p:sp>
        <p:nvSpPr>
          <p:cNvPr id="34" name="arrow-8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eyJ2aWV3Qm94IjpbMjQsNF0sInBvaW50cyI6IjAsMiAyNCwyIn0</pptd:line>
              </p:ext>
            </p:extLst>
          </p:nvPr>
        </p:nvSpPr>
        <p:spPr>
          <a:xfrm>
            <a:off x="7874000" y="2616200"/>
            <a:ext cx="304800" cy="50800"/>
          </a:xfrm>
          <a:custGeom>
            <a:avLst/>
            <a:gdLst/>
            <a:ahLst/>
            <a:cxnLst/>
            <a:rect l="l" t="t" r="r" b="b"/>
            <a:pathLst>
              <a:path w="24" h="4">
                <a:moveTo>
                  <a:pt x="0" y="2"/>
                </a:moveTo>
                <a:lnTo>
                  <a:pt x="24" y="2"/>
                </a:lnTo>
              </a:path>
            </a:pathLst>
          </a:custGeom>
          <a:noFill/>
          <a:ln w="19050" cap="rnd">
            <a:solidFill>
              <a:srgbClr val="8A8A8A"/>
            </a:solidFill>
            <a:prstDash val="dash"/>
            <a:round/>
            <a:tailEnd type="arrow"/>
          </a:ln>
        </p:spPr>
      </p:sp>
      <p:sp>
        <p:nvSpPr>
          <p:cNvPr id="35" name="node-sl"/>
          <p:cNvSpPr/>
          <p:nvPr/>
        </p:nvSpPr>
        <p:spPr>
          <a:xfrm>
            <a:off x="8229600" y="2362200"/>
            <a:ext cx="5588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A8A"/>
            </a:solidFill>
            <a:prstDash val="dash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node-sl-text"/>
              <p:cNvSpPr txBox="1"/>
              <p:nvPr/>
            </p:nvSpPr>
            <p:spPr>
              <a:xfrm>
                <a:off x="82296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4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36" name="node-sl-text"/>
              <p:cNvSpPr txBox="1"/>
              <p:nvPr/>
            </p:nvSpPr>
            <p:spPr>
              <a:xfrm>
                <a:off x="8229600" y="2362200"/>
                <a:ext cx="558800" cy="55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noProof="1">
                    <a:solidFill>
                      <a:srgbClr val="8A8A8A"/>
                    </a:solidFill>
                    <a:latin typeface="MiSans"/>
                    <a:ea typeface="MiSans"/>
                  </a:rPr>
                  <a:t>\(S_L\)</a:t>
                </a:r>
                <a:endParaRPr lang="en-US" sz="14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-legend"/>
              <p:cNvSpPr txBox="1"/>
              <p:nvPr/>
            </p:nvSpPr>
            <p:spPr>
              <a:xfrm>
                <a:off x="1905000" y="3276600"/>
                <a:ext cx="40640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/>
              <a:lstStyle/>
              <a:p>
                <a:pPr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8A8A8A"/>
                    </a:solidFill>
                    <a:latin typeface="MiSans"/>
                    <a:ea typeface="MiSans"/>
                  </a:rPr>
                  <a:t>每位置记录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900" i="0" noProof="1">
                        <a:solidFill>
                          <a:srgbClr val="8A8A8A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900" i="0" noProof="1">
                        <a:solidFill>
                          <a:srgbClr val="8A8A8A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900" i="0" noProof="1">
                        <a:solidFill>
                          <a:srgbClr val="8A8A8A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900" i="1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900" i="0" noProof="1">
                            <a:solidFill>
                              <a:srgbClr val="8A8A8A"/>
                            </a:solidFill>
                            <a:latin typeface="Cambria Math" panose="02040503050406030204" pitchFamily="18" charset="0"/>
                          </a:rPr>
                          <m:t>𝑟𝑎𝑤</m:t>
                        </m:r>
                      </m:sup>
                    </m:sSubSup>
                    <m:r>
                      <a:rPr lang="en-US" sz="900" i="0" noProof="1">
                        <a:solidFill>
                          <a:srgbClr val="8A8A8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900" noProof="1">
                    <a:solidFill>
                      <a:srgbClr val="8A8A8A"/>
                    </a:solidFill>
                    <a:latin typeface="MiSans"/>
                    <a:ea typeface="MiSans"/>
                  </a:rPr>
                  <a:t>，开销 </a:t>
                </a:r>
                <a14:m>
                  <m:oMath xmlns:m="http://schemas.openxmlformats.org/officeDocument/2006/math">
                    <m:r>
                      <a:rPr lang="en-US" sz="900" i="1" noProof="1">
                        <a:solidFill>
                          <a:srgbClr val="8A8A8A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900" i="0" noProof="1">
                        <a:solidFill>
                          <a:srgbClr val="8A8A8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noProof="1">
                        <a:solidFill>
                          <a:srgbClr val="8A8A8A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900" i="0" noProof="1">
                        <a:solidFill>
                          <a:srgbClr val="8A8A8A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900" i="1" noProof="1">
                        <a:solidFill>
                          <a:srgbClr val="8A8A8A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0" noProof="1">
                        <a:solidFill>
                          <a:srgbClr val="8A8A8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9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37" name="rec-legend"/>
              <p:cNvSpPr txBox="1"/>
              <p:nvPr/>
            </p:nvSpPr>
            <p:spPr>
              <a:xfrm>
                <a:off x="1905000" y="3276600"/>
                <a:ext cx="40640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900" noProof="1">
                    <a:solidFill>
                      <a:srgbClr val="8A8A8A"/>
                    </a:solidFill>
                    <a:latin typeface="MiSans"/>
                    <a:ea typeface="MiSans"/>
                  </a:rPr>
                  <a:t>每位置记录 \(R_t=(u_t,\,k_t,\,g^{\mathrm{raw}}_t)\)，开销 \(O(V+2K)\)</a:t>
                </a:r>
                <a:endParaRPr lang="en-US" sz="900" noProof="1"/>
              </a:p>
            </p:txBody>
          </p:sp>
        </mc:Fallback>
      </mc:AlternateContent>
      <p:sp>
        <p:nvSpPr>
          <p:cNvPr id="38" name="reject-note"/>
          <p:cNvSpPr txBox="1"/>
          <p:nvPr/>
        </p:nvSpPr>
        <p:spPr>
          <a:xfrm>
            <a:off x="6553200" y="3022600"/>
            <a:ext cx="22352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suffix 记录本轮结束后释放</a:t>
            </a:r>
            <a:endParaRPr lang="en-US" sz="900" noProof="1"/>
          </a:p>
        </p:txBody>
      </p:sp>
      <p:sp>
        <p:nvSpPr>
          <p:cNvPr id="39" name="commit-arrow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eyJ2aWV3Qm94IjpbNCwzNl0sInBvaW50cyI6IjIsMCAyLDM2In0</pptd:line>
              </p:ext>
            </p:extLst>
          </p:nvPr>
        </p:nvSpPr>
        <p:spPr>
          <a:xfrm>
            <a:off x="6045200" y="3810000"/>
            <a:ext cx="50800" cy="457200"/>
          </a:xfrm>
          <a:custGeom>
            <a:avLst/>
            <a:gdLst/>
            <a:ahLst/>
            <a:cxnLst/>
            <a:rect l="l" t="t" r="r" b="b"/>
            <a:pathLst>
              <a:path w="4" h="36">
                <a:moveTo>
                  <a:pt x="2" y="0"/>
                </a:moveTo>
                <a:lnTo>
                  <a:pt x="2" y="36"/>
                </a:lnTo>
              </a:path>
            </a:pathLst>
          </a:custGeom>
          <a:noFill/>
          <a:ln w="19050" cap="rnd">
            <a:solidFill>
              <a:srgbClr val="C2410C"/>
            </a:solidFill>
            <a:round/>
            <a:tailEnd type="arrow"/>
          </a:ln>
        </p:spPr>
      </p:sp>
      <p:sp>
        <p:nvSpPr>
          <p:cNvPr id="40" name="commit-arrow-label"/>
          <p:cNvSpPr txBox="1"/>
          <p:nvPr/>
        </p:nvSpPr>
        <p:spPr>
          <a:xfrm>
            <a:off x="6223000" y="3911600"/>
            <a:ext cx="2286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C2410C"/>
                </a:solidFill>
                <a:latin typeface="MiSans"/>
                <a:ea typeface="MiSans"/>
              </a:rPr>
              <a:t>commit 只读前 n 条记录</a:t>
            </a:r>
            <a:endParaRPr lang="en-US" sz="900" noProof="1"/>
          </a:p>
        </p:txBody>
      </p:sp>
      <p:sp>
        <p:nvSpPr>
          <p:cNvPr id="41" name="step2-rule"/>
          <p:cNvSpPr/>
          <p:nvPr/>
        </p:nvSpPr>
        <p:spPr>
          <a:xfrm>
            <a:off x="609600" y="4267200"/>
            <a:ext cx="31750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42" name="step2-head"/>
          <p:cNvSpPr txBox="1"/>
          <p:nvPr/>
        </p:nvSpPr>
        <p:spPr>
          <a:xfrm>
            <a:off x="609600" y="44196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C2410C"/>
                </a:solidFill>
                <a:latin typeface="MiSans"/>
                <a:ea typeface="MiSans"/>
              </a:rPr>
              <a:t>②　</a:t>
            </a:r>
            <a:r>
              <a:rPr lang="en-US" sz="1300" b="1" noProof="1">
                <a:solidFill>
                  <a:srgbClr val="191919"/>
                </a:solidFill>
                <a:latin typeface="MiSans"/>
                <a:ea typeface="MiSans"/>
              </a:rPr>
              <a:t>Rejection sampling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step2-body"/>
              <p:cNvSpPr txBox="1"/>
              <p:nvPr/>
            </p:nvSpPr>
            <p:spPr>
              <a:xfrm>
                <a:off x="609600" y="4724400"/>
                <a:ext cx="31750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MRV1 采样器返回 num_accepted_tokens </a:t>
                </a:r>
                <a14:m>
                  <m:oMath xmlns:m="http://schemas.openxmlformats.org/officeDocument/2006/math">
                    <m:r>
                      <a:rPr lang="en-US" sz="1000" i="1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∈[0,</m:t>
                    </m:r>
                    <m:r>
                      <a:rPr lang="en-US" sz="1000" i="1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（含 leading target token）；packed KDA 行经 speculative request mask 映射到 sampler 行，填充 ID </a:t>
                </a:r>
                <a14:m>
                  <m:oMath xmlns:m="http://schemas.openxmlformats.org/officeDocument/2006/math"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 被排除。</a:t>
                </a:r>
                <a:endParaRPr lang="en-US" sz="10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43" name="step2-body"/>
              <p:cNvSpPr txBox="1"/>
              <p:nvPr/>
            </p:nvSpPr>
            <p:spPr>
              <a:xfrm>
                <a:off x="609600" y="4724400"/>
                <a:ext cx="31750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MRV1 采样器返回 num_accepted_tokens \(n\in[0,L]\)（含 leading target token）；packed KDA 行经 speculative request mask 映射到 sampler 行，填充 ID \(-1\) 被排除。</a:t>
                </a:r>
                <a:endParaRPr lang="en-US" sz="1000" noProof="1"/>
              </a:p>
            </p:txBody>
          </p:sp>
        </mc:Fallback>
      </mc:AlternateContent>
      <p:sp>
        <p:nvSpPr>
          <p:cNvPr id="44" name="step3-rule"/>
          <p:cNvSpPr/>
          <p:nvPr/>
        </p:nvSpPr>
        <p:spPr>
          <a:xfrm>
            <a:off x="4191000" y="4267200"/>
            <a:ext cx="40640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45" name="step3-head"/>
          <p:cNvSpPr txBox="1"/>
          <p:nvPr/>
        </p:nvSpPr>
        <p:spPr>
          <a:xfrm>
            <a:off x="4191000" y="44196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C2410C"/>
                </a:solidFill>
                <a:latin typeface="MiSans"/>
                <a:ea typeface="MiSans"/>
              </a:rPr>
              <a:t>③　</a:t>
            </a:r>
            <a:r>
              <a:rPr lang="en-US" sz="1300" b="1" noProof="1">
                <a:solidFill>
                  <a:srgbClr val="191919"/>
                </a:solidFill>
                <a:latin typeface="MiSans"/>
                <a:ea typeface="MiSans"/>
              </a:rPr>
              <a:t>Commit —— 反向累积，写回原 slot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step3-formula"/>
              <p:cNvSpPr txBox="1"/>
              <p:nvPr/>
            </p:nvSpPr>
            <p:spPr>
              <a:xfrm>
                <a:off x="4191000" y="4724400"/>
                <a:ext cx="40640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3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𝑟𝑒𝑏𝑢𝑖𝑙𝑡</m:t>
                        </m:r>
                      </m:sub>
                    </m:sSub>
                    <m:r>
                      <a:rPr lang="en-US" sz="13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3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300" i="0" noProof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3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3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300" i="0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300" i="1" noProof="1">
                        <a:solidFill>
                          <a:srgbClr val="191919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1300" noProof="1"/>
                  <a:t> </a:t>
                </a:r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46" name="step3-formula"/>
              <p:cNvSpPr txBox="1"/>
              <p:nvPr/>
            </p:nvSpPr>
            <p:spPr>
              <a:xfrm>
                <a:off x="4191000" y="4724400"/>
                <a:ext cx="40640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300" noProof="1">
                    <a:solidFill>
                      <a:srgbClr val="191919"/>
                    </a:solidFill>
                    <a:latin typeface="MiSans"/>
                    <a:ea typeface="MiSans"/>
                  </a:rPr>
                  <a:t>\(S_{\mathrm{rebuilt}} = S_0\,P + U\)</a:t>
                </a:r>
                <a:endParaRPr lang="en-US" sz="1300" noProof="1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step3-body"/>
              <p:cNvSpPr txBox="1"/>
              <p:nvPr/>
            </p:nvSpPr>
            <p:spPr>
              <a:xfrm>
                <a:off x="4191000" y="5080000"/>
                <a:ext cx="40640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从 </a:t>
                </a:r>
                <a14:m>
                  <m:oMath xmlns:m="http://schemas.openxmlformats.org/officeDocument/2006/math">
                    <m:r>
                      <a:rPr lang="en-US" sz="1000" i="1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1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 反向遍历到 </a:t>
                </a:r>
                <a14:m>
                  <m:oMath xmlns:m="http://schemas.openxmlformats.org/officeDocument/2006/math"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1000" i="1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000" i="1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Sup>
                      <m:sSubSupPr>
                        <m:ctrlP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000" i="1" noProof="1">
                                <a:solidFill>
                                  <a:srgbClr val="5B5B5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i="1" noProof="1">
                                <a:solidFill>
                                  <a:srgbClr val="5B5B5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000" i="0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𝘛</m:t>
                        </m:r>
                      </m:sup>
                    </m:sSubSup>
                    <m:r>
                      <a:rPr lang="en-US" sz="1000" i="1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1000" i="1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000" i="0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000" i="1" noProof="1">
                            <a:solidFill>
                              <a:srgbClr val="5B5B5B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1" noProof="1">
                        <a:solidFill>
                          <a:srgbClr val="5B5B5B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，与闭式表达等价；结果写回该 request 的原生 checkpoint slot，随后释放本轮 pending records。</a:t>
                </a:r>
                <a:endParaRPr lang="en-US" sz="1000" noProof="1"/>
              </a:p>
            </p:txBody>
          </p:sp>
        </mc:Choice>
        <mc:Fallback xmlns="" xmlns:pptd="https://kimi-design.msh.team/pptd/2026" xmlns:m="http://schemas.openxmlformats.org/officeDocument/2006/math" xmlns:cx="http://schemas.microsoft.com/office/drawing/2014/chartex" xmlns:c="http://schemas.openxmlformats.org/drawingml/2006/chart">
          <p:sp>
            <p:nvSpPr>
              <p:cNvPr id="47" name="step3-body"/>
              <p:cNvSpPr txBox="1"/>
              <p:nvPr/>
            </p:nvSpPr>
            <p:spPr>
              <a:xfrm>
                <a:off x="4191000" y="5080000"/>
                <a:ext cx="40640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000" noProof="1">
                    <a:solidFill>
                      <a:srgbClr val="5B5B5B"/>
                    </a:solidFill>
                    <a:latin typeface="MiSans"/>
                    <a:ea typeface="MiSans"/>
                  </a:rPr>
                  <a:t>从 \(t=n\) 反向遍历到 \(1\)：\(U\gets U+u_t\hat{k}_t^{\mathsf{T}}P\)，\(P\gets D_tP\)，与闭式表达等价；结果写回该 request 的原生 checkpoint slot，随后释放本轮 pending records。</a:t>
                </a:r>
                <a:endParaRPr lang="en-US" sz="1000" noProof="1"/>
              </a:p>
            </p:txBody>
          </p:sp>
        </mc:Fallback>
      </mc:AlternateContent>
      <p:sp>
        <p:nvSpPr>
          <p:cNvPr id="48" name="step4-rule"/>
          <p:cNvSpPr/>
          <p:nvPr/>
        </p:nvSpPr>
        <p:spPr>
          <a:xfrm>
            <a:off x="8661400" y="4267200"/>
            <a:ext cx="2921000" cy="12700"/>
          </a:xfrm>
          <a:prstGeom prst="rect">
            <a:avLst/>
          </a:prstGeom>
          <a:solidFill>
            <a:srgbClr val="E3E1DC"/>
          </a:solidFill>
          <a:ln>
            <a:noFill/>
          </a:ln>
        </p:spPr>
      </p:sp>
      <p:sp>
        <p:nvSpPr>
          <p:cNvPr id="49" name="step4-head"/>
          <p:cNvSpPr txBox="1"/>
          <p:nvPr/>
        </p:nvSpPr>
        <p:spPr>
          <a:xfrm>
            <a:off x="8661400" y="4419600"/>
            <a:ext cx="292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C2410C"/>
                </a:solidFill>
                <a:latin typeface="MiSans"/>
                <a:ea typeface="MiSans"/>
              </a:rPr>
              <a:t>④　</a:t>
            </a:r>
            <a:r>
              <a:rPr lang="en-US" sz="1300" b="1" noProof="1">
                <a:solidFill>
                  <a:srgbClr val="191919"/>
                </a:solidFill>
                <a:latin typeface="MiSans"/>
                <a:ea typeface="MiSans"/>
              </a:rPr>
              <a:t>下一轮</a:t>
            </a:r>
            <a:endParaRPr lang="en-US" sz="1600" noProof="1"/>
          </a:p>
        </p:txBody>
      </p:sp>
      <p:sp>
        <p:nvSpPr>
          <p:cNvPr id="50" name="step4-body"/>
          <p:cNvSpPr txBox="1"/>
          <p:nvPr/>
        </p:nvSpPr>
        <p:spPr>
          <a:xfrm>
            <a:off x="8661400" y="4724400"/>
            <a:ext cx="2921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000" noProof="1">
                <a:solidFill>
                  <a:srgbClr val="5B5B5B"/>
                </a:solidFill>
                <a:latin typeface="MiSans"/>
                <a:ea typeface="MiSans"/>
              </a:rPr>
              <a:t>state copy 从已写回的 slot 开始，KDA 递推链在数学上保持连续；卷积历史沿原有 accepted-length 逻辑处理。</a:t>
            </a:r>
            <a:endParaRPr lang="en-US" sz="1000" noProof="1"/>
          </a:p>
        </p:txBody>
      </p:sp>
      <p:sp>
        <p:nvSpPr>
          <p:cNvPr id="51" name="footer"/>
          <p:cNvSpPr txBox="1"/>
          <p:nvPr/>
        </p:nvSpPr>
        <p:spPr>
          <a:xfrm>
            <a:off x="609600" y="6654800"/>
            <a:ext cx="10972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依据 </a:t>
            </a:r>
            <a:r>
              <a:rPr lang="en-US" sz="900" u="sng" noProof="1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vllm-ascend PR #19087</a:t>
            </a:r>
            <a:r>
              <a:rPr lang="en-US" sz="900" noProof="1">
                <a:solidFill>
                  <a:srgbClr val="8A8A8A"/>
                </a:solidFill>
                <a:latin typeface="MiSans"/>
                <a:ea typeface="MiSans"/>
              </a:rPr>
              <a:t>（kda_recoverssm_verify / kda_recoverssm_commit）实现整理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宽屏</PresentationFormat>
  <Paragraphs>53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MiSans</vt:lpstr>
      <vt:lpstr>思源宋体</vt:lpstr>
      <vt:lpstr>Cambria Math</vt:lpstr>
      <vt:lpstr>PPTD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kda_state_rebuild</dc:title>
  <cp:lastModifiedBy>雨周 童</cp:lastModifiedBy>
  <cp:revision>2</cp:revision>
  <dcterms:modified xsi:type="dcterms:W3CDTF">2026-10-21T15:03:26Z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